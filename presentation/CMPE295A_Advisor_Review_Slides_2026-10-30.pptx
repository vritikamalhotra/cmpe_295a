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lk" id="{6a39d714-9f2c-04f4-4cc6-009529e29959}">
          <p14:sldIdLst>
            <p14:sldId id="256"/>
            <p14:sldId id="257"/>
            <p14:sldId id="258"/>
            <p14:sldId id="259"/>
            <p14:sldId id="260"/>
            <p14:sldId id="261"/>
            <p14:sldId id="262"/>
            <p14:sldId id="263"/>
            <p14:sldId id="264"/>
            <p14:sldId id="265"/>
            <p14:sldId id="266"/>
            <p14:sldId id="267"/>
            <p14:sldId id="268"/>
            <p14:sldId id="269"/>
            <p14:sldId id="270"/>
            <p14:sldId id="271"/>
          </p14:sldIdLst>
        </p14:section>
        <p14:section name="Backup" id="{a487d271-3fce-bb49-49fa-ed8b2e2a0544}">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Thirty-minute review. First where we stand after M1, then how Workbook 2 answers each of the six points you raised on October 16, then the first results on the CoE HPC, the schedule split between 295A and 295B, and six decisions we need from you. Workbook 2 was submitted on October 29; every change made for your points is in bold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M1 ran on Colab under the fallback rule because cluster jobs were blocked until October 26. Since then the cluster works: llama.cpp is built for all three GPU types and the rebuilt model files are byte-identical to the pilot. On October 27 we ran the clean-clone check on the cluster twice; the second time an independent agent rebuilt everything from source in a private folder. Both passed. Those checks ran under one team account, so the M1 rule still needs a second member to repeat it under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per point. The next six slides take them one at a time. Everything here is in Workbook 2 in bold so you can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Greedy decoding gives the same answer every time, so its standard deviation is zero; a zero-width error bar would not show the uncertainty. For greedy bars we show the uncertainty over tasks instead, a 95% Wilson interval. Sampled runs show mean plus or minus one SD over the four trials. The rule is enforced in code: the plotting function has no default for error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mixed-effects analysis is now part of the registered plan. The bootstrap stays the primary test because it makes fewest assumptions; the mixed models are registered next to it, and the rule says what happens if they disagree. Model B is the one that answers RQ1 most directly: where in an episode the damage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software view is unchanged from Workbook 1. The new infrastructure view shows what we measured on October 26: four node types, one shared scratch folder, and no internet on compute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295A closes with the damage map and the first two repairs evaluated, plus the QAD pipeline proven on the smallest model. The long training runs happen over the break, so 295B starts with R3 evaluation and costs, then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change concerns the simulator. Workbook 1 put it on a GCP VM, but jobs on the cluster cannot reach outside machines, so we will run it as an A100 job inside the cluster and keep the VM only as a fallback. That also drops the expected cloud cost toward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took your suggestion as an optional layer rather than a new study. The question for you is whether a vision-language agent counts as the different domain you had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accuracy is 0% at 0.6B for every configuration, so the comparison uses step counts: missing calls rise from 6 to 29 and malformed calls from 0 to 6, and the R1 grammar removes every invalid-argument step. CPU and CUDA agree on only a third of aligned steps, so the backend has to be a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 M1 was missing. With all 200 BFCL multi-turn tasks instead of 20, the step-level differences are clear and their intervals do not overlap: Q4_0 skips the tool call five times as often as BF16. The R1 grammar removes malformed and schema-invalid calls but cannot make the model call a tool, which is H2. Q8_0 brings the rate back to the BF16 level. Episode accuracy stays low at 0.6B, which is why the step outcome is the primary outcome; the next slide shows what happens at 1.7B and 4B.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Larger models complete more episodes, and the missing-call damage shrinks with size. The ranking of the two 4-bit formats is not fixed: at 4B, Q4_K_M answers in text more often than pure Q4_0. That is one reason the study measures each format and model rather than assuming more bits per weight means less damage. Episode accuracy is still at most 12% on this category, so the step outcome stays primary.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κ of 1.00 shows the written rules are unambiguous when the rater sees the logged facts; it is not a measure of human agreement, which still needs a team member’s labels and the 300-step check before the main runs. The gap it found is a design question for codebook v0.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Durations are the planned calendar days; float comes from forward and backward passes. A slip in the QAD pipeline or training moves everything after it, which is why the H100 training starts before the winter break. The damage runs and R1/R2 have weeks of float.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five component pull requests were merged to main on October 28. The pending τ² episode is retried with the C4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smaller items in the Workbook list need no discussion unless you want it: keep only τ² tasks whose gold actions write to the database, and record the backend as a factor with greedy parity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10698480" cy="1828800"/>
          </a:xfrm>
          <a:prstGeom prst="rect">
            <a:avLst/>
          </a:prstGeom>
          <a:noFill/>
          <a:ln/>
        </p:spPr>
        <p:txBody>
          <a:bodyPr wrap="square" rtlCol="0"/>
          <a:lstStyle>
            <a:lvl1pPr algn="l" indent="0" marL="0">
              <a:buNone/>
              <a:defRPr lang="en-US" sz="3800" b="1" dirty="0">
                <a:solidFill>
                  <a:srgbClr val="FFFFFF"/>
                </a:solidFill>
              </a:defRPr>
            </a:lvl1pPr>
          </a:lstStyle>
          <a:p>
            <a:pPr algn="l" indent="0" marL="0">
              <a:buNone/>
            </a:pPr>
            <a:endParaRPr lang="en-US" sz="3800" dirty="0"/>
          </a:p>
        </p:txBody>
      </p:sp>
      <p:sp>
        <p:nvSpPr>
          <p:cNvPr id="3" name="Text 0"/>
          <p:cNvSpPr/>
          <p:nvPr>
            <p:ph idx="101" type="body" hasCustomPrompt="1"/>
          </p:nvPr>
        </p:nvSpPr>
        <p:spPr>
          <a:xfrm>
            <a:off x="731520" y="3246120"/>
            <a:ext cx="10698480" cy="457200"/>
          </a:xfrm>
          <a:prstGeom prst="rect">
            <a:avLst/>
          </a:prstGeom>
          <a:noFill/>
          <a:ln/>
        </p:spPr>
        <p:txBody>
          <a:bodyPr wrap="square" rtlCol="0"/>
          <a:lstStyle>
            <a:lvl1pPr algn="l" indent="0" marL="0">
              <a:buNone/>
              <a:defRPr lang="en-US" sz="2000" dirty="0">
                <a:solidFill>
                  <a:srgbClr val="C9D3DE"/>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200" dirty="0">
                <a:solidFill>
                  <a:srgbClr val="5B6B7B"/>
                </a:solidFill>
              </a:rPr>
              <a:t>CMPE 295A · Advisor review · Oct 30, 2026</a:t>
            </a:r>
            <a:endParaRPr lang="en-US" sz="1200" dirty="0"/>
          </a:p>
        </p:txBody>
      </p:sp>
      <p:sp>
        <p:nvSpPr>
          <p:cNvPr id="3" name="Text 1"/>
          <p:cNvSpPr/>
          <p:nvPr>
            <p:ph idx="101" type="title" hasCustomPrompt="1"/>
          </p:nvPr>
        </p:nvSpPr>
        <p:spPr>
          <a:xfrm>
            <a:off x="548640" y="320040"/>
            <a:ext cx="9418320" cy="731520"/>
          </a:xfrm>
          <a:prstGeom prst="rect">
            <a:avLst/>
          </a:prstGeom>
          <a:noFill/>
          <a:ln/>
        </p:spPr>
        <p:txBody>
          <a:bodyPr wrap="square" rtlCol="0"/>
          <a:lstStyle>
            <a:lvl1pPr algn="l" indent="0" marL="0">
              <a:buNone/>
              <a:defRPr lang="en-US" sz="3200" b="1" dirty="0">
                <a:solidFill>
                  <a:srgbClr val="1B2A3A"/>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CKUP">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200" dirty="0">
                <a:solidFill>
                  <a:srgbClr val="5B6B7B"/>
                </a:solidFill>
              </a:rPr>
              <a:t>CMPE 295A · Advisor review · Oct 30, 2026</a:t>
            </a:r>
            <a:endParaRPr lang="en-US" sz="1200" dirty="0"/>
          </a:p>
        </p:txBody>
      </p:sp>
      <p:sp>
        <p:nvSpPr>
          <p:cNvPr id="3" name="Shape 1"/>
          <p:cNvSpPr/>
          <p:nvPr/>
        </p:nvSpPr>
        <p:spPr>
          <a:xfrm>
            <a:off x="10561320" y="457200"/>
            <a:ext cx="1097280" cy="365760"/>
          </a:xfrm>
          <a:prstGeom prst="rect">
            <a:avLst/>
          </a:prstGeom>
          <a:solidFill>
            <a:srgbClr val="F2F4F7"/>
          </a:solidFill>
          <a:ln w="9525">
            <a:solidFill>
              <a:srgbClr val="D5DAE1"/>
            </a:solidFill>
            <a:prstDash val="solid"/>
          </a:ln>
        </p:spPr>
      </p:sp>
      <p:sp>
        <p:nvSpPr>
          <p:cNvPr id="4" name="Text 2"/>
          <p:cNvSpPr/>
          <p:nvPr/>
        </p:nvSpPr>
        <p:spPr>
          <a:xfrm>
            <a:off x="10561320" y="457200"/>
            <a:ext cx="1097280" cy="365760"/>
          </a:xfrm>
          <a:prstGeom prst="rect">
            <a:avLst/>
          </a:prstGeom>
          <a:noFill/>
          <a:ln/>
        </p:spPr>
        <p:txBody>
          <a:bodyPr wrap="square" lIns="0" tIns="0" rIns="0" bIns="0" rtlCol="0" anchor="ctr"/>
          <a:lstStyle/>
          <a:p>
            <a:pPr algn="ctr" indent="0" marL="0">
              <a:buNone/>
            </a:pPr>
            <a:r>
              <a:rPr lang="en-US" sz="1400" b="1" dirty="0">
                <a:solidFill>
                  <a:srgbClr val="5B6B7B"/>
                </a:solidFill>
              </a:rPr>
              <a:t>Backup</a:t>
            </a:r>
            <a:endParaRPr lang="en-US" sz="1400" dirty="0"/>
          </a:p>
        </p:txBody>
      </p:sp>
      <p:sp>
        <p:nvSpPr>
          <p:cNvPr id="5" name="Text 3"/>
          <p:cNvSpPr/>
          <p:nvPr>
            <p:ph idx="103" type="title" hasCustomPrompt="1"/>
          </p:nvPr>
        </p:nvSpPr>
        <p:spPr>
          <a:xfrm>
            <a:off x="548640" y="320040"/>
            <a:ext cx="9418320" cy="731520"/>
          </a:xfrm>
          <a:prstGeom prst="rect">
            <a:avLst/>
          </a:prstGeom>
          <a:noFill/>
          <a:ln/>
        </p:spPr>
        <p:txBody>
          <a:bodyPr wrap="square" rtlCol="0"/>
          <a:lstStyle>
            <a:lvl1pPr algn="l" indent="0" marL="0">
              <a:buNone/>
              <a:defRPr lang="en-US" sz="3200" b="1" dirty="0">
                <a:solidFill>
                  <a:srgbClr val="1B2A3A"/>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rgbClr val="1B2A3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188720"/>
            <a:ext cx="10698480" cy="1828800"/>
          </a:xfrm>
          <a:prstGeom prst="rect">
            <a:avLst/>
          </a:prstGeom>
          <a:noFill/>
          <a:ln/>
        </p:spPr>
        <p:txBody>
          <a:bodyPr wrap="square" lIns="0" tIns="0" rIns="0" bIns="0" rtlCol="0" anchor="b"/>
          <a:lstStyle/>
          <a:p>
            <a:pPr algn="l" indent="0" marL="0">
              <a:buNone/>
            </a:pPr>
            <a:r>
              <a:rPr lang="en-US" sz="3800" b="1" dirty="0">
                <a:solidFill>
                  <a:srgbClr val="FFFFFF"/>
                </a:solidFill>
              </a:rPr>
              <a:t>Where 4-Bit Quantization Breaks</a:t>
            </a:r>
            <a:endParaRPr lang="en-US" sz="3800" dirty="0"/>
          </a:p>
          <a:p>
            <a:pPr algn="l" indent="0" marL="0">
              <a:buNone/>
            </a:pPr>
            <a:r>
              <a:rPr lang="en-US" sz="3800" b="1" dirty="0">
                <a:solidFill>
                  <a:srgbClr val="FFFFFF"/>
                </a:solidFill>
              </a:rPr>
              <a:t>Small Tool-Calling Agents, and Which Repairs Fix It</a:t>
            </a:r>
            <a:endParaRPr lang="en-US" sz="3800" dirty="0"/>
          </a:p>
        </p:txBody>
      </p:sp>
      <p:sp>
        <p:nvSpPr>
          <p:cNvPr id="3" name="Text 0"/>
          <p:cNvSpPr/>
          <p:nvPr>
            <p:ph idx="101" type="body" hasCustomPrompt="1"/>
          </p:nvPr>
        </p:nvSpPr>
        <p:spPr>
          <a:xfrm>
            <a:off x="731520" y="3246120"/>
            <a:ext cx="10698480" cy="457200"/>
          </a:xfrm>
          <a:prstGeom prst="rect">
            <a:avLst/>
          </a:prstGeom>
          <a:noFill/>
          <a:ln/>
        </p:spPr>
        <p:txBody>
          <a:bodyPr wrap="square" lIns="0" tIns="0" rIns="0" bIns="0" rtlCol="0" anchor="t"/>
          <a:lstStyle/>
          <a:p>
            <a:pPr algn="l" indent="0" marL="0">
              <a:buNone/>
            </a:pPr>
            <a:r>
              <a:rPr lang="en-US" sz="2000" dirty="0">
                <a:solidFill>
                  <a:srgbClr val="C9D3DE"/>
                </a:solidFill>
              </a:rPr>
              <a:t>CMPE 295A · Advisor review · October 30, 2026</a:t>
            </a:r>
            <a:endParaRPr lang="en-US" sz="2000" dirty="0"/>
          </a:p>
        </p:txBody>
      </p:sp>
      <p:sp>
        <p:nvSpPr>
          <p:cNvPr id="4" name="Shape 2"/>
          <p:cNvSpPr/>
          <p:nvPr/>
        </p:nvSpPr>
        <p:spPr>
          <a:xfrm>
            <a:off x="731520" y="4069080"/>
            <a:ext cx="2286000" cy="502920"/>
          </a:xfrm>
          <a:prstGeom prst="roundRect">
            <a:avLst>
              <a:gd name="adj" fmla="val 49091"/>
            </a:avLst>
          </a:prstGeom>
          <a:solidFill>
            <a:srgbClr val="1F77B4"/>
          </a:solidFill>
          <a:ln w="12700">
            <a:solidFill>
              <a:srgbClr val="1F77B4"/>
            </a:solidFill>
            <a:prstDash val="solid"/>
          </a:ln>
        </p:spPr>
      </p:sp>
      <p:sp>
        <p:nvSpPr>
          <p:cNvPr id="5" name="Text 3"/>
          <p:cNvSpPr txBox="1"/>
          <p:nvPr/>
        </p:nvSpPr>
        <p:spPr>
          <a:xfrm>
            <a:off x="731520" y="4069080"/>
            <a:ext cx="2286000" cy="502920"/>
          </a:xfrm>
          <a:prstGeom prst="rect">
            <a:avLst/>
          </a:prstGeom>
          <a:noFill/>
          <a:ln/>
        </p:spPr>
        <p:txBody>
          <a:bodyPr wrap="square" lIns="0" tIns="0" rIns="0" bIns="0" rtlCol="0" anchor="ctr"/>
          <a:lstStyle/>
          <a:p>
            <a:pPr algn="ctr" indent="0" marL="0">
              <a:buNone/>
            </a:pPr>
            <a:r>
              <a:rPr lang="en-US" sz="2000" b="1" dirty="0">
                <a:solidFill>
                  <a:srgbClr val="FFFFFF"/>
                </a:solidFill>
              </a:rPr>
              <a:t>Ekant Kapgate</a:t>
            </a:r>
            <a:endParaRPr lang="en-US" sz="2000" dirty="0"/>
          </a:p>
        </p:txBody>
      </p:sp>
      <p:sp>
        <p:nvSpPr>
          <p:cNvPr id="6" name="Shape 4"/>
          <p:cNvSpPr/>
          <p:nvPr/>
        </p:nvSpPr>
        <p:spPr>
          <a:xfrm>
            <a:off x="3246120" y="4069080"/>
            <a:ext cx="2560320" cy="502920"/>
          </a:xfrm>
          <a:prstGeom prst="roundRect">
            <a:avLst>
              <a:gd name="adj" fmla="val 49091"/>
            </a:avLst>
          </a:prstGeom>
          <a:solidFill>
            <a:srgbClr val="E8622C"/>
          </a:solidFill>
          <a:ln w="12700">
            <a:solidFill>
              <a:srgbClr val="E8622C"/>
            </a:solidFill>
            <a:prstDash val="solid"/>
          </a:ln>
        </p:spPr>
      </p:sp>
      <p:sp>
        <p:nvSpPr>
          <p:cNvPr id="7" name="Text 5"/>
          <p:cNvSpPr txBox="1"/>
          <p:nvPr/>
        </p:nvSpPr>
        <p:spPr>
          <a:xfrm>
            <a:off x="3246120" y="4069080"/>
            <a:ext cx="2560320" cy="502920"/>
          </a:xfrm>
          <a:prstGeom prst="rect">
            <a:avLst/>
          </a:prstGeom>
          <a:noFill/>
          <a:ln/>
        </p:spPr>
        <p:txBody>
          <a:bodyPr wrap="square" lIns="0" tIns="0" rIns="0" bIns="0" rtlCol="0" anchor="ctr"/>
          <a:lstStyle/>
          <a:p>
            <a:pPr algn="ctr" indent="0" marL="0">
              <a:buNone/>
            </a:pPr>
            <a:r>
              <a:rPr lang="en-US" sz="2000" b="1" dirty="0">
                <a:solidFill>
                  <a:srgbClr val="FFFFFF"/>
                </a:solidFill>
              </a:rPr>
              <a:t>Vritika Malhotra</a:t>
            </a:r>
            <a:endParaRPr lang="en-US" sz="2000" dirty="0"/>
          </a:p>
        </p:txBody>
      </p:sp>
      <p:sp>
        <p:nvSpPr>
          <p:cNvPr id="8" name="Shape 6"/>
          <p:cNvSpPr/>
          <p:nvPr/>
        </p:nvSpPr>
        <p:spPr>
          <a:xfrm>
            <a:off x="6035040" y="4069080"/>
            <a:ext cx="4023360" cy="502920"/>
          </a:xfrm>
          <a:prstGeom prst="roundRect">
            <a:avLst>
              <a:gd name="adj" fmla="val 49091"/>
            </a:avLst>
          </a:prstGeom>
          <a:solidFill>
            <a:srgbClr val="1A9E6A"/>
          </a:solidFill>
          <a:ln w="12700">
            <a:solidFill>
              <a:srgbClr val="1A9E6A"/>
            </a:solidFill>
            <a:prstDash val="solid"/>
          </a:ln>
        </p:spPr>
      </p:sp>
      <p:sp>
        <p:nvSpPr>
          <p:cNvPr id="9" name="Text 7"/>
          <p:cNvSpPr txBox="1"/>
          <p:nvPr/>
        </p:nvSpPr>
        <p:spPr>
          <a:xfrm>
            <a:off x="6035040" y="4069080"/>
            <a:ext cx="4023360" cy="502920"/>
          </a:xfrm>
          <a:prstGeom prst="rect">
            <a:avLst/>
          </a:prstGeom>
          <a:noFill/>
          <a:ln/>
        </p:spPr>
        <p:txBody>
          <a:bodyPr wrap="square" lIns="0" tIns="0" rIns="0" bIns="0" rtlCol="0" anchor="ctr"/>
          <a:lstStyle/>
          <a:p>
            <a:pPr algn="ctr" indent="0" marL="0">
              <a:buNone/>
            </a:pPr>
            <a:r>
              <a:rPr lang="en-US" sz="2000" b="1" dirty="0">
                <a:solidFill>
                  <a:srgbClr val="FFFFFF"/>
                </a:solidFill>
              </a:rPr>
              <a:t>Yashashav Devalapalli Kamalraj</a:t>
            </a:r>
            <a:endParaRPr lang="en-US" sz="2000" dirty="0"/>
          </a:p>
        </p:txBody>
      </p:sp>
      <p:sp>
        <p:nvSpPr>
          <p:cNvPr id="10" name="Text 8"/>
          <p:cNvSpPr txBox="1"/>
          <p:nvPr/>
        </p:nvSpPr>
        <p:spPr>
          <a:xfrm>
            <a:off x="731520" y="4892040"/>
            <a:ext cx="10698480" cy="411480"/>
          </a:xfrm>
          <a:prstGeom prst="rect">
            <a:avLst/>
          </a:prstGeom>
          <a:noFill/>
          <a:ln/>
        </p:spPr>
        <p:txBody>
          <a:bodyPr wrap="square" lIns="0" tIns="0" rIns="0" bIns="0" rtlCol="0" anchor="t"/>
          <a:lstStyle/>
          <a:p>
            <a:pPr indent="0" marL="0">
              <a:buNone/>
            </a:pPr>
            <a:r>
              <a:rPr lang="en-US" sz="2000" b="1" dirty="0">
                <a:solidFill>
                  <a:srgbClr val="FFFFFF"/>
                </a:solidFill>
              </a:rPr>
              <a:t>Advisor: </a:t>
            </a:r>
            <a:pPr indent="0" marL="0">
              <a:buNone/>
            </a:pPr>
            <a:r>
              <a:rPr lang="en-US" sz="2000" dirty="0">
                <a:solidFill>
                  <a:srgbClr val="FFFFFF"/>
                </a:solidFill>
              </a:rPr>
              <a:t>Dr. Bertin Cordova-Diba</a:t>
            </a:r>
            <a:endParaRPr lang="en-US" sz="2000" dirty="0"/>
          </a:p>
        </p:txBody>
      </p:sp>
      <p:sp>
        <p:nvSpPr>
          <p:cNvPr id="11" name="Text 9"/>
          <p:cNvSpPr txBox="1"/>
          <p:nvPr/>
        </p:nvSpPr>
        <p:spPr>
          <a:xfrm>
            <a:off x="731520" y="5394960"/>
            <a:ext cx="10698480" cy="411480"/>
          </a:xfrm>
          <a:prstGeom prst="rect">
            <a:avLst/>
          </a:prstGeom>
          <a:noFill/>
          <a:ln/>
        </p:spPr>
        <p:txBody>
          <a:bodyPr wrap="square" lIns="0" tIns="0" rIns="0" bIns="0" rtlCol="0" anchor="t"/>
          <a:lstStyle/>
          <a:p>
            <a:pPr indent="0" marL="0">
              <a:buNone/>
            </a:pPr>
            <a:r>
              <a:rPr lang="en-US" sz="1800" dirty="0">
                <a:solidFill>
                  <a:srgbClr val="C9D3DE"/>
                </a:solidFill>
              </a:rPr>
              <a:t>M1 status · responses to the six points from October 16 · first cluster results · plan to M2</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Progress since October 16</a:t>
            </a:r>
            <a:endParaRPr lang="en-US" sz="3200" dirty="0"/>
          </a:p>
        </p:txBody>
      </p:sp>
      <p:sp>
        <p:nvSpPr>
          <p:cNvPr id="3" name="Shape 1"/>
          <p:cNvSpPr/>
          <p:nvPr/>
        </p:nvSpPr>
        <p:spPr>
          <a:xfrm>
            <a:off x="548640" y="1280160"/>
            <a:ext cx="2670048" cy="1965960"/>
          </a:xfrm>
          <a:prstGeom prst="roundRect">
            <a:avLst>
              <a:gd name="adj" fmla="val 3721"/>
            </a:avLst>
          </a:prstGeom>
          <a:solidFill>
            <a:srgbClr val="F2F4F7"/>
          </a:solidFill>
          <a:ln w="15875">
            <a:solidFill>
              <a:srgbClr val="F2F4F7"/>
            </a:solidFill>
            <a:prstDash val="solid"/>
          </a:ln>
        </p:spPr>
      </p:sp>
      <p:sp>
        <p:nvSpPr>
          <p:cNvPr id="4" name="Text 2"/>
          <p:cNvSpPr txBox="1"/>
          <p:nvPr/>
        </p:nvSpPr>
        <p:spPr>
          <a:xfrm>
            <a:off x="731520" y="1463040"/>
            <a:ext cx="2304288" cy="685800"/>
          </a:xfrm>
          <a:prstGeom prst="rect">
            <a:avLst/>
          </a:prstGeom>
          <a:noFill/>
          <a:ln/>
        </p:spPr>
        <p:txBody>
          <a:bodyPr wrap="square" lIns="0" tIns="0" rIns="0" bIns="0" rtlCol="0" anchor="ctr"/>
          <a:lstStyle/>
          <a:p>
            <a:pPr indent="0" marL="0">
              <a:buNone/>
            </a:pPr>
            <a:r>
              <a:rPr lang="en-US" sz="3400" b="1" dirty="0">
                <a:solidFill>
                  <a:srgbClr val="1F77B4"/>
                </a:solidFill>
              </a:rPr>
              <a:t>252 / 253</a:t>
            </a:r>
            <a:endParaRPr lang="en-US" sz="3400" dirty="0"/>
          </a:p>
        </p:txBody>
      </p:sp>
      <p:sp>
        <p:nvSpPr>
          <p:cNvPr id="5" name="Text 3"/>
          <p:cNvSpPr txBox="1"/>
          <p:nvPr/>
        </p:nvSpPr>
        <p:spPr>
          <a:xfrm>
            <a:off x="731520" y="2194560"/>
            <a:ext cx="2304288" cy="914400"/>
          </a:xfrm>
          <a:prstGeom prst="rect">
            <a:avLst/>
          </a:prstGeom>
          <a:noFill/>
          <a:ln/>
        </p:spPr>
        <p:txBody>
          <a:bodyPr wrap="square" lIns="0" tIns="0" rIns="0" bIns="0" rtlCol="0" anchor="t"/>
          <a:lstStyle/>
          <a:p>
            <a:pPr indent="0" marL="0">
              <a:buNone/>
            </a:pPr>
            <a:r>
              <a:rPr lang="en-US" sz="1400" dirty="0">
                <a:solidFill>
                  <a:srgbClr val="3A4A5C"/>
                </a:solidFill>
              </a:rPr>
              <a:t>M1 skeleton episodes from one command (BFCL on CUDA and CPU, τ² airline, R1–R3); every step logged and classified</a:t>
            </a:r>
            <a:endParaRPr lang="en-US" sz="1400" dirty="0"/>
          </a:p>
        </p:txBody>
      </p:sp>
      <p:sp>
        <p:nvSpPr>
          <p:cNvPr id="6" name="Shape 4"/>
          <p:cNvSpPr/>
          <p:nvPr/>
        </p:nvSpPr>
        <p:spPr>
          <a:xfrm>
            <a:off x="3355848" y="1280160"/>
            <a:ext cx="2670048" cy="1965960"/>
          </a:xfrm>
          <a:prstGeom prst="roundRect">
            <a:avLst>
              <a:gd name="adj" fmla="val 3721"/>
            </a:avLst>
          </a:prstGeom>
          <a:solidFill>
            <a:srgbClr val="F2F4F7"/>
          </a:solidFill>
          <a:ln w="15875">
            <a:solidFill>
              <a:srgbClr val="F2F4F7"/>
            </a:solidFill>
            <a:prstDash val="solid"/>
          </a:ln>
        </p:spPr>
      </p:sp>
      <p:sp>
        <p:nvSpPr>
          <p:cNvPr id="7" name="Text 5"/>
          <p:cNvSpPr txBox="1"/>
          <p:nvPr/>
        </p:nvSpPr>
        <p:spPr>
          <a:xfrm>
            <a:off x="3538728" y="1463040"/>
            <a:ext cx="2304288" cy="685800"/>
          </a:xfrm>
          <a:prstGeom prst="rect">
            <a:avLst/>
          </a:prstGeom>
          <a:noFill/>
          <a:ln/>
        </p:spPr>
        <p:txBody>
          <a:bodyPr wrap="square" lIns="0" tIns="0" rIns="0" bIns="0" rtlCol="0" anchor="ctr"/>
          <a:lstStyle/>
          <a:p>
            <a:pPr indent="0" marL="0">
              <a:buNone/>
            </a:pPr>
            <a:r>
              <a:rPr lang="en-US" sz="3400" b="1" dirty="0">
                <a:solidFill>
                  <a:srgbClr val="1A9E6A"/>
                </a:solidFill>
              </a:rPr>
              <a:t>3 GPU types</a:t>
            </a:r>
            <a:endParaRPr lang="en-US" sz="3400" dirty="0"/>
          </a:p>
        </p:txBody>
      </p:sp>
      <p:sp>
        <p:nvSpPr>
          <p:cNvPr id="8" name="Text 6"/>
          <p:cNvSpPr txBox="1"/>
          <p:nvPr/>
        </p:nvSpPr>
        <p:spPr>
          <a:xfrm>
            <a:off x="3538728" y="2194560"/>
            <a:ext cx="2304288" cy="914400"/>
          </a:xfrm>
          <a:prstGeom prst="rect">
            <a:avLst/>
          </a:prstGeom>
          <a:noFill/>
          <a:ln/>
        </p:spPr>
        <p:txBody>
          <a:bodyPr wrap="square" lIns="0" tIns="0" rIns="0" bIns="0" rtlCol="0" anchor="t"/>
          <a:lstStyle/>
          <a:p>
            <a:pPr indent="0" marL="0">
              <a:buNone/>
            </a:pPr>
            <a:r>
              <a:rPr lang="en-US" sz="1400" dirty="0">
                <a:solidFill>
                  <a:srgbClr val="3A4A5C"/>
                </a:solidFill>
              </a:rPr>
              <a:t>Cluster live since Oct 26: llama.cpp built for P100, A100, H100; tool-call smoke test passes on all three</a:t>
            </a:r>
            <a:endParaRPr lang="en-US" sz="1400" dirty="0"/>
          </a:p>
        </p:txBody>
      </p:sp>
      <p:sp>
        <p:nvSpPr>
          <p:cNvPr id="9" name="Shape 7"/>
          <p:cNvSpPr/>
          <p:nvPr/>
        </p:nvSpPr>
        <p:spPr>
          <a:xfrm>
            <a:off x="6163056" y="1280160"/>
            <a:ext cx="2670048" cy="1965960"/>
          </a:xfrm>
          <a:prstGeom prst="roundRect">
            <a:avLst>
              <a:gd name="adj" fmla="val 3721"/>
            </a:avLst>
          </a:prstGeom>
          <a:solidFill>
            <a:srgbClr val="F2F4F7"/>
          </a:solidFill>
          <a:ln w="15875">
            <a:solidFill>
              <a:srgbClr val="F2F4F7"/>
            </a:solidFill>
            <a:prstDash val="solid"/>
          </a:ln>
        </p:spPr>
      </p:sp>
      <p:sp>
        <p:nvSpPr>
          <p:cNvPr id="10" name="Text 8"/>
          <p:cNvSpPr txBox="1"/>
          <p:nvPr/>
        </p:nvSpPr>
        <p:spPr>
          <a:xfrm>
            <a:off x="6345936" y="1463040"/>
            <a:ext cx="2304288" cy="685800"/>
          </a:xfrm>
          <a:prstGeom prst="rect">
            <a:avLst/>
          </a:prstGeom>
          <a:noFill/>
          <a:ln/>
        </p:spPr>
        <p:txBody>
          <a:bodyPr wrap="square" lIns="0" tIns="0" rIns="0" bIns="0" rtlCol="0" anchor="ctr"/>
          <a:lstStyle/>
          <a:p>
            <a:pPr indent="0" marL="0">
              <a:buNone/>
            </a:pPr>
            <a:r>
              <a:rPr lang="en-US" sz="3400" b="1" dirty="0">
                <a:solidFill>
                  <a:srgbClr val="C8102E"/>
                </a:solidFill>
              </a:rPr>
              <a:t>31 vs 5.9</a:t>
            </a:r>
            <a:endParaRPr lang="en-US" sz="3400" dirty="0"/>
          </a:p>
        </p:txBody>
      </p:sp>
      <p:sp>
        <p:nvSpPr>
          <p:cNvPr id="11" name="Text 9"/>
          <p:cNvSpPr txBox="1"/>
          <p:nvPr/>
        </p:nvSpPr>
        <p:spPr>
          <a:xfrm>
            <a:off x="6345936" y="2194560"/>
            <a:ext cx="2304288" cy="914400"/>
          </a:xfrm>
          <a:prstGeom prst="rect">
            <a:avLst/>
          </a:prstGeom>
          <a:noFill/>
          <a:ln/>
        </p:spPr>
        <p:txBody>
          <a:bodyPr wrap="square" lIns="0" tIns="0" rIns="0" bIns="0" rtlCol="0" anchor="t"/>
          <a:lstStyle/>
          <a:p>
            <a:pPr indent="0" marL="0">
              <a:buNone/>
            </a:pPr>
            <a:r>
              <a:rPr lang="en-US" sz="1400" dirty="0">
                <a:solidFill>
                  <a:srgbClr val="3A4A5C"/>
                </a:solidFill>
              </a:rPr>
              <a:t>Missing calls per 100 steps, Q4_0 vs BF16: Qwen3-0.6B on all 200 BFCL multi-turn tasks (1,600 episodes on the cluster, Oct 28)</a:t>
            </a:r>
            <a:endParaRPr lang="en-US" sz="1400" dirty="0"/>
          </a:p>
        </p:txBody>
      </p:sp>
      <p:sp>
        <p:nvSpPr>
          <p:cNvPr id="12" name="Shape 10"/>
          <p:cNvSpPr/>
          <p:nvPr/>
        </p:nvSpPr>
        <p:spPr>
          <a:xfrm>
            <a:off x="8970264" y="1280160"/>
            <a:ext cx="2670048" cy="1965960"/>
          </a:xfrm>
          <a:prstGeom prst="roundRect">
            <a:avLst>
              <a:gd name="adj" fmla="val 3721"/>
            </a:avLst>
          </a:prstGeom>
          <a:solidFill>
            <a:srgbClr val="F2F4F7"/>
          </a:solidFill>
          <a:ln w="15875">
            <a:solidFill>
              <a:srgbClr val="F2F4F7"/>
            </a:solidFill>
            <a:prstDash val="solid"/>
          </a:ln>
        </p:spPr>
      </p:sp>
      <p:sp>
        <p:nvSpPr>
          <p:cNvPr id="13" name="Text 11"/>
          <p:cNvSpPr txBox="1"/>
          <p:nvPr/>
        </p:nvSpPr>
        <p:spPr>
          <a:xfrm>
            <a:off x="9153144" y="1463040"/>
            <a:ext cx="2304288" cy="685800"/>
          </a:xfrm>
          <a:prstGeom prst="rect">
            <a:avLst/>
          </a:prstGeom>
          <a:noFill/>
          <a:ln/>
        </p:spPr>
        <p:txBody>
          <a:bodyPr wrap="square" lIns="0" tIns="0" rIns="0" bIns="0" rtlCol="0" anchor="ctr"/>
          <a:lstStyle/>
          <a:p>
            <a:pPr indent="0" marL="0">
              <a:buNone/>
            </a:pPr>
            <a:r>
              <a:rPr lang="en-US" sz="3400" b="1" dirty="0">
                <a:solidFill>
                  <a:srgbClr val="1B2A3A"/>
                </a:solidFill>
              </a:rPr>
              <a:t>6 / 6</a:t>
            </a:r>
            <a:endParaRPr lang="en-US" sz="3400" dirty="0"/>
          </a:p>
        </p:txBody>
      </p:sp>
      <p:sp>
        <p:nvSpPr>
          <p:cNvPr id="14" name="Text 12"/>
          <p:cNvSpPr txBox="1"/>
          <p:nvPr/>
        </p:nvSpPr>
        <p:spPr>
          <a:xfrm>
            <a:off x="9153144" y="2194560"/>
            <a:ext cx="2304288" cy="914400"/>
          </a:xfrm>
          <a:prstGeom prst="rect">
            <a:avLst/>
          </a:prstGeom>
          <a:noFill/>
          <a:ln/>
        </p:spPr>
        <p:txBody>
          <a:bodyPr wrap="square" lIns="0" tIns="0" rIns="0" bIns="0" rtlCol="0" anchor="t"/>
          <a:lstStyle/>
          <a:p>
            <a:pPr indent="0" marL="0">
              <a:buNone/>
            </a:pPr>
            <a:r>
              <a:rPr lang="en-US" sz="1400" dirty="0">
                <a:solidFill>
                  <a:srgbClr val="3A4A5C"/>
                </a:solidFill>
              </a:rPr>
              <a:t>Advisor points from Oct 16 answered in Workbook 2, each in bold where it lands</a:t>
            </a:r>
            <a:endParaRPr lang="en-US" sz="1400" dirty="0"/>
          </a:p>
        </p:txBody>
      </p:sp>
      <p:sp>
        <p:nvSpPr>
          <p:cNvPr id="15" name="Shape 13"/>
          <p:cNvSpPr/>
          <p:nvPr/>
        </p:nvSpPr>
        <p:spPr>
          <a:xfrm>
            <a:off x="548640" y="3383280"/>
            <a:ext cx="5454396" cy="2377440"/>
          </a:xfrm>
          <a:prstGeom prst="roundRect">
            <a:avLst>
              <a:gd name="adj" fmla="val 3077"/>
            </a:avLst>
          </a:prstGeom>
          <a:solidFill>
            <a:srgbClr val="FFFFFF"/>
          </a:solidFill>
          <a:ln w="15875">
            <a:solidFill>
              <a:srgbClr val="D5DAE1"/>
            </a:solidFill>
            <a:prstDash val="solid"/>
          </a:ln>
        </p:spPr>
      </p:sp>
      <p:sp>
        <p:nvSpPr>
          <p:cNvPr id="16" name="Text 14"/>
          <p:cNvSpPr txBox="1"/>
          <p:nvPr/>
        </p:nvSpPr>
        <p:spPr>
          <a:xfrm>
            <a:off x="731520" y="3520440"/>
            <a:ext cx="5088636" cy="365760"/>
          </a:xfrm>
          <a:prstGeom prst="rect">
            <a:avLst/>
          </a:prstGeom>
          <a:noFill/>
          <a:ln/>
        </p:spPr>
        <p:txBody>
          <a:bodyPr wrap="square" lIns="0" tIns="0" rIns="0" bIns="0" rtlCol="0" anchor="ctr"/>
          <a:lstStyle/>
          <a:p>
            <a:pPr indent="0" marL="0">
              <a:buNone/>
            </a:pPr>
            <a:r>
              <a:rPr lang="en-US" sz="1700" b="1" dirty="0">
                <a:solidFill>
                  <a:srgbClr val="1A9E6A"/>
                </a:solidFill>
              </a:rPr>
              <a:t>Done, Oct 16–29</a:t>
            </a:r>
            <a:endParaRPr lang="en-US" sz="1700" dirty="0"/>
          </a:p>
        </p:txBody>
      </p:sp>
      <p:sp>
        <p:nvSpPr>
          <p:cNvPr id="17" name="Text 15"/>
          <p:cNvSpPr txBox="1"/>
          <p:nvPr/>
        </p:nvSpPr>
        <p:spPr>
          <a:xfrm>
            <a:off x="731520" y="3931920"/>
            <a:ext cx="5088636" cy="1737360"/>
          </a:xfrm>
          <a:prstGeom prst="rect">
            <a:avLst/>
          </a:prstGeom>
          <a:noFill/>
          <a:ln/>
        </p:spPr>
        <p:txBody>
          <a:bodyPr wrap="square" lIns="0" tIns="0" rIns="0" bIns="0" rtlCol="0" anchor="t"/>
          <a:lstStyle/>
          <a:p>
            <a:pPr indent="0" marL="0">
              <a:buNone/>
            </a:pPr>
            <a:r>
              <a:rPr lang="en-US" sz="1400" dirty="0">
                <a:solidFill>
                  <a:srgbClr val="3A4A5C"/>
                </a:solidFill>
              </a:rPr>
              <a:t>M1 walking skeleton on Colab (local=true fallback) · Slurm association fixed, cluster measured · clean-clone check passed on the cluster · first damage runs on 200 tasks · Workbook 2 with PERT chart and the six responses · all component PRs (#3–#9) merged to main (Oct 26 and 28)</a:t>
            </a:r>
            <a:endParaRPr lang="en-US" sz="1400" dirty="0"/>
          </a:p>
        </p:txBody>
      </p:sp>
      <p:sp>
        <p:nvSpPr>
          <p:cNvPr id="18" name="Shape 16"/>
          <p:cNvSpPr/>
          <p:nvPr/>
        </p:nvSpPr>
        <p:spPr>
          <a:xfrm>
            <a:off x="6185916" y="3383280"/>
            <a:ext cx="5454396" cy="2377440"/>
          </a:xfrm>
          <a:prstGeom prst="roundRect">
            <a:avLst>
              <a:gd name="adj" fmla="val 3077"/>
            </a:avLst>
          </a:prstGeom>
          <a:solidFill>
            <a:srgbClr val="FFFFFF"/>
          </a:solidFill>
          <a:ln w="15875">
            <a:solidFill>
              <a:srgbClr val="D5DAE1"/>
            </a:solidFill>
            <a:prstDash val="solid"/>
          </a:ln>
        </p:spPr>
      </p:sp>
      <p:sp>
        <p:nvSpPr>
          <p:cNvPr id="19" name="Text 17"/>
          <p:cNvSpPr txBox="1"/>
          <p:nvPr/>
        </p:nvSpPr>
        <p:spPr>
          <a:xfrm>
            <a:off x="6368796" y="3520440"/>
            <a:ext cx="5088636" cy="365760"/>
          </a:xfrm>
          <a:prstGeom prst="rect">
            <a:avLst/>
          </a:prstGeom>
          <a:noFill/>
          <a:ln/>
        </p:spPr>
        <p:txBody>
          <a:bodyPr wrap="square" lIns="0" tIns="0" rIns="0" bIns="0" rtlCol="0" anchor="ctr"/>
          <a:lstStyle/>
          <a:p>
            <a:pPr indent="0" marL="0">
              <a:buNone/>
            </a:pPr>
            <a:r>
              <a:rPr lang="en-US" sz="1700" b="1" dirty="0">
                <a:solidFill>
                  <a:srgbClr val="E8622C"/>
                </a:solidFill>
              </a:rPr>
              <a:t>Open</a:t>
            </a:r>
            <a:endParaRPr lang="en-US" sz="1700" dirty="0"/>
          </a:p>
        </p:txBody>
      </p:sp>
      <p:sp>
        <p:nvSpPr>
          <p:cNvPr id="20" name="Text 18"/>
          <p:cNvSpPr txBox="1"/>
          <p:nvPr/>
        </p:nvSpPr>
        <p:spPr>
          <a:xfrm>
            <a:off x="6368796" y="3931920"/>
            <a:ext cx="5088636" cy="1737360"/>
          </a:xfrm>
          <a:prstGeom prst="rect">
            <a:avLst/>
          </a:prstGeom>
          <a:noFill/>
          <a:ln/>
        </p:spPr>
        <p:txBody>
          <a:bodyPr wrap="square" lIns="0" tIns="0" rIns="0" bIns="0" rtlCol="0" anchor="t"/>
          <a:lstStyle/>
          <a:p>
            <a:pPr indent="0" marL="0">
              <a:buNone/>
            </a:pPr>
            <a:r>
              <a:rPr lang="en-US" sz="1400" dirty="0">
                <a:solidFill>
                  <a:srgbClr val="3A4A5C"/>
                </a:solidFill>
              </a:rPr>
              <a:t>Clean-clone rerun under a second member’s own account · human labels for the 30-step rater sample · one τ² episode pending · simulator as an A100 job (M2)</a:t>
            </a:r>
            <a:endParaRPr lang="en-US" sz="1400" dirty="0"/>
          </a:p>
        </p:txBody>
      </p:sp>
      <p:sp>
        <p:nvSpPr>
          <p:cNvPr id="21" name="Text 19"/>
          <p:cNvSpPr txBox="1"/>
          <p:nvPr/>
        </p:nvSpPr>
        <p:spPr>
          <a:xfrm>
            <a:off x="548640" y="5989320"/>
            <a:ext cx="11091672" cy="274320"/>
          </a:xfrm>
          <a:prstGeom prst="rect">
            <a:avLst/>
          </a:prstGeom>
          <a:noFill/>
          <a:ln/>
        </p:spPr>
        <p:txBody>
          <a:bodyPr wrap="square" lIns="0" tIns="0" rIns="0" bIns="0" rtlCol="0" anchor="t"/>
          <a:lstStyle/>
          <a:p>
            <a:pPr indent="0" marL="0">
              <a:buNone/>
            </a:pPr>
            <a:r>
              <a:rPr lang="en-US" sz="1100" dirty="0">
                <a:solidFill>
                  <a:srgbClr val="5B6B7B"/>
                </a:solidFill>
              </a:rPr>
              <a:t>All M1 numbers are development data, not study results · Workbook 2, Chapter 8 and Table 37</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Advisor points from October 16</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411480"/>
                <a:gridCol w="2560320"/>
                <a:gridCol w="5833872"/>
                <a:gridCol w="2286000"/>
              </a:tblGrid>
              <a:tr h="384048">
                <a:tc>
                  <a:txBody>
                    <a:bodyPr/>
                    <a:lstStyle/>
                    <a:p>
                      <a:pPr indent="0" marL="0">
                        <a:buNone/>
                      </a:pPr>
                      <a:r>
                        <a:rPr lang="en-US" sz="1400" b="1" dirty="0">
                          <a:solidFill>
                            <a:srgbClr val="FFFFFF"/>
                          </a:solidFill>
                        </a:rPr>
                        <a:t>#</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400" b="1" dirty="0">
                          <a:solidFill>
                            <a:srgbClr val="FFFFFF"/>
                          </a:solidFill>
                        </a:rPr>
                        <a:t>Your point (Oct 16)</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400" b="1" dirty="0">
                          <a:solidFill>
                            <a:srgbClr val="FFFFFF"/>
                          </a:solidFill>
                        </a:rPr>
                        <a:t>What we changed</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400" b="1" dirty="0">
                          <a:solidFill>
                            <a:srgbClr val="FFFFFF"/>
                          </a:solidFill>
                        </a:rPr>
                        <a:t>Where</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r>
              <a:tr h="713232">
                <a:tc>
                  <a:txBody>
                    <a:bodyPr/>
                    <a:lstStyle/>
                    <a:p>
                      <a:pPr indent="0" marL="0">
                        <a:buNone/>
                      </a:pPr>
                      <a:r>
                        <a:rPr lang="en-US" sz="1400" dirty="0">
                          <a:solidFill>
                            <a:srgbClr val="1B2A3A"/>
                          </a:solidFill>
                        </a:rPr>
                        <a:t>1</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400" dirty="0">
                          <a:solidFill>
                            <a:srgbClr val="1B2A3A"/>
                          </a:solidFill>
                        </a:rPr>
                        <a:t>SD on every bar graph</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400" dirty="0">
                          <a:solidFill>
                            <a:srgbClr val="1B2A3A"/>
                          </a:solidFill>
                        </a:rPr>
                        <a:t>± 1 SD over 4 sampled trials; greedy bars a 95% Wilson interval (SD = 0); rule in the analysis plan</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400" dirty="0">
                          <a:solidFill>
                            <a:srgbClr val="1B2A3A"/>
                          </a:solidFill>
                        </a:rPr>
                        <a:t>Fig. 5a; notes under Tables 35a, 36a; Ch. 7</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B2A3A"/>
                          </a:solidFill>
                        </a:rPr>
                        <a:t>2</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400" dirty="0">
                          <a:solidFill>
                            <a:srgbClr val="1B2A3A"/>
                          </a:solidFill>
                        </a:rPr>
                        <a:t>Mixed effects: in or out</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400" dirty="0">
                          <a:solidFill>
                            <a:srgbClr val="1B2A3A"/>
                          </a:solidFill>
                        </a:rPr>
                        <a:t>In, as a registered analysis next to the bootstrap: three models (lme4 in R) and a rule for when they disagree</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400" dirty="0">
                          <a:solidFill>
                            <a:srgbClr val="1B2A3A"/>
                          </a:solidFill>
                        </a:rPr>
                        <a:t>Ch. 3; Ch. 7 analysis plan</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640080">
                <a:tc>
                  <a:txBody>
                    <a:bodyPr/>
                    <a:lstStyle/>
                    <a:p>
                      <a:pPr indent="0" marL="0">
                        <a:buNone/>
                      </a:pPr>
                      <a:r>
                        <a:rPr lang="en-US" sz="1400" dirty="0">
                          <a:solidFill>
                            <a:srgbClr val="1B2A3A"/>
                          </a:solidFill>
                        </a:rPr>
                        <a:t>3</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400" dirty="0">
                          <a:solidFill>
                            <a:srgbClr val="1B2A3A"/>
                          </a:solidFill>
                        </a:rPr>
                        <a:t>Rename “Project Architecture”</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400" dirty="0">
                          <a:solidFill>
                            <a:srgbClr val="1B2A3A"/>
                          </a:solidFill>
                        </a:rPr>
                        <a:t>Ch. 5 is now “System and Infrastructure Architecture” with two views: software (Fig. 1) and deployment (Fig. 1a)</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400" dirty="0">
                          <a:solidFill>
                            <a:srgbClr val="1B2A3A"/>
                          </a:solidFill>
                        </a:rPr>
                        <a:t>Ch. 5</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B2A3A"/>
                          </a:solidFill>
                        </a:rPr>
                        <a:t>4</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400" dirty="0">
                          <a:solidFill>
                            <a:srgbClr val="1B2A3A"/>
                          </a:solidFill>
                        </a:rPr>
                        <a:t>Divide the plan by course</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400" dirty="0">
                          <a:solidFill>
                            <a:srgbClr val="1B2A3A"/>
                          </a:solidFill>
                        </a:rPr>
                        <a:t>Scope by course: 295A ends with M4 and a launched QAD run (L1); training continues over the break (L2)</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400" dirty="0">
                          <a:solidFill>
                            <a:srgbClr val="1B2A3A"/>
                          </a:solidFill>
                        </a:rPr>
                        <a:t>Table 38a; Fig. 6a</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640080">
                <a:tc>
                  <a:txBody>
                    <a:bodyPr/>
                    <a:lstStyle/>
                    <a:p>
                      <a:pPr indent="0" marL="0">
                        <a:buNone/>
                      </a:pPr>
                      <a:r>
                        <a:rPr lang="en-US" sz="1400" dirty="0">
                          <a:solidFill>
                            <a:srgbClr val="1B2A3A"/>
                          </a:solidFill>
                        </a:rPr>
                        <a:t>5</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400" dirty="0">
                          <a:solidFill>
                            <a:srgbClr val="1B2A3A"/>
                          </a:solidFill>
                        </a:rPr>
                        <a:t>Architecture changes from the HPC</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400" dirty="0">
                          <a:solidFill>
                            <a:srgbClr val="1B2A3A"/>
                          </a:solidFill>
                        </a:rPr>
                        <a:t>Eight measured cluster facts and the change each forced, e.g. the τ² simulator moves inside the cluster</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400" dirty="0">
                          <a:solidFill>
                            <a:srgbClr val="1B2A3A"/>
                          </a:solidFill>
                        </a:rPr>
                        <a:t>Table 19a</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640080">
                <a:tc>
                  <a:txBody>
                    <a:bodyPr/>
                    <a:lstStyle/>
                    <a:p>
                      <a:pPr indent="0" marL="0">
                        <a:buNone/>
                      </a:pPr>
                      <a:r>
                        <a:rPr lang="en-US" sz="1400" dirty="0">
                          <a:solidFill>
                            <a:srgbClr val="1B2A3A"/>
                          </a:solidFill>
                        </a:rPr>
                        <a:t>6</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400" dirty="0">
                          <a:solidFill>
                            <a:srgbClr val="1B2A3A"/>
                          </a:solidFill>
                        </a:rPr>
                        <a:t>Repair on another domain (CV)</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400" dirty="0">
                          <a:solidFill>
                            <a:srgbClr val="1B2A3A"/>
                          </a:solidFill>
                        </a:rPr>
                        <a:t>Optional 295B layer: a vision-language agent with R1 and R2, go/no-go at M6</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400" dirty="0">
                          <a:solidFill>
                            <a:srgbClr val="1B2A3A"/>
                          </a:solidFill>
                        </a:rPr>
                        <a:t>FR-O6 (Table 8)</a:t>
                      </a:r>
                      <a:endParaRPr lang="en-US" sz="14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bl>
          </a:graphicData>
        </a:graphic>
      </p:graphicFrame>
      <p:sp>
        <p:nvSpPr>
          <p:cNvPr id="4" name="Text 1"/>
          <p:cNvSpPr txBox="1"/>
          <p:nvPr/>
        </p:nvSpPr>
        <p:spPr>
          <a:xfrm>
            <a:off x="548640" y="5989320"/>
            <a:ext cx="11091672" cy="274320"/>
          </a:xfrm>
          <a:prstGeom prst="rect">
            <a:avLst/>
          </a:prstGeom>
          <a:noFill/>
          <a:ln/>
        </p:spPr>
        <p:txBody>
          <a:bodyPr wrap="square" lIns="0" tIns="0" rIns="0" bIns="0" rtlCol="0" anchor="t"/>
          <a:lstStyle/>
          <a:p>
            <a:pPr indent="0" marL="0">
              <a:buNone/>
            </a:pPr>
            <a:r>
              <a:rPr lang="en-US" sz="1100" dirty="0">
                <a:solidFill>
                  <a:srgbClr val="5B6B7B"/>
                </a:solidFill>
              </a:rPr>
              <a:t>Workbook 2 (submitted Oct 29): every change made for these points is in bold, as Canvas asks</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Point 1 · Dispersion on every bar graph</a:t>
            </a:r>
            <a:endParaRPr lang="en-US" sz="3200" dirty="0"/>
          </a:p>
        </p:txBody>
      </p:sp>
      <p:sp>
        <p:nvSpPr>
          <p:cNvPr id="3" name="Shape 1"/>
          <p:cNvSpPr/>
          <p:nvPr/>
        </p:nvSpPr>
        <p:spPr>
          <a:xfrm>
            <a:off x="548640" y="1280160"/>
            <a:ext cx="6949440" cy="4023360"/>
          </a:xfrm>
          <a:prstGeom prst="rect">
            <a:avLst/>
          </a:prstGeom>
          <a:solidFill>
            <a:srgbClr val="FFFFFF"/>
          </a:solidFill>
          <a:ln w="9525">
            <a:solidFill>
              <a:srgbClr val="D5DAE1"/>
            </a:solidFill>
            <a:prstDash val="solid"/>
          </a:ln>
        </p:spPr>
      </p:sp>
      <p:pic>
        <p:nvPicPr>
          <p:cNvPr id="4" name="Image 0" descr="Figure 5a: accuracy for BF16, Q4_K_M and Q4_0 with 95% Wilson whiskers and sampled mean ± 1 SD dots">    </p:cNvPr>
          <p:cNvPicPr>
            <a:picLocks noChangeAspect="1"/>
          </p:cNvPicPr>
          <p:nvPr/>
        </p:nvPicPr>
        <p:blipFill>
          <a:blip r:embed="rId1"/>
          <a:stretch>
            <a:fillRect/>
          </a:stretch>
        </p:blipFill>
        <p:spPr>
          <a:xfrm>
            <a:off x="629739" y="1325880"/>
            <a:ext cx="6787243" cy="3931920"/>
          </a:xfrm>
          <a:prstGeom prst="rect">
            <a:avLst/>
          </a:prstGeom>
        </p:spPr>
      </p:pic>
      <p:sp>
        <p:nvSpPr>
          <p:cNvPr id="5" name="Shape 2"/>
          <p:cNvSpPr/>
          <p:nvPr/>
        </p:nvSpPr>
        <p:spPr>
          <a:xfrm>
            <a:off x="7680960" y="1280160"/>
            <a:ext cx="3959352" cy="1234440"/>
          </a:xfrm>
          <a:prstGeom prst="roundRect">
            <a:avLst>
              <a:gd name="adj" fmla="val 5926"/>
            </a:avLst>
          </a:prstGeom>
          <a:solidFill>
            <a:srgbClr val="EAF2FA"/>
          </a:solidFill>
          <a:ln w="15875">
            <a:solidFill>
              <a:srgbClr val="1F77B4"/>
            </a:solidFill>
            <a:prstDash val="solid"/>
          </a:ln>
        </p:spPr>
      </p:sp>
      <p:sp>
        <p:nvSpPr>
          <p:cNvPr id="6" name="Text 3"/>
          <p:cNvSpPr txBox="1"/>
          <p:nvPr/>
        </p:nvSpPr>
        <p:spPr>
          <a:xfrm>
            <a:off x="7863840" y="1417320"/>
            <a:ext cx="3593592" cy="365760"/>
          </a:xfrm>
          <a:prstGeom prst="rect">
            <a:avLst/>
          </a:prstGeom>
          <a:noFill/>
          <a:ln/>
        </p:spPr>
        <p:txBody>
          <a:bodyPr wrap="square" lIns="0" tIns="0" rIns="0" bIns="0" rtlCol="0" anchor="ctr"/>
          <a:lstStyle/>
          <a:p>
            <a:pPr indent="0" marL="0">
              <a:buNone/>
            </a:pPr>
            <a:r>
              <a:rPr lang="en-US" sz="1700" b="1" dirty="0">
                <a:solidFill>
                  <a:srgbClr val="1F77B4"/>
                </a:solidFill>
              </a:rPr>
              <a:t>Sampled runs</a:t>
            </a:r>
            <a:endParaRPr lang="en-US" sz="1700" dirty="0"/>
          </a:p>
        </p:txBody>
      </p:sp>
      <p:sp>
        <p:nvSpPr>
          <p:cNvPr id="7" name="Text 4"/>
          <p:cNvSpPr txBox="1"/>
          <p:nvPr/>
        </p:nvSpPr>
        <p:spPr>
          <a:xfrm>
            <a:off x="7863840" y="1828800"/>
            <a:ext cx="3593592" cy="594360"/>
          </a:xfrm>
          <a:prstGeom prst="rect">
            <a:avLst/>
          </a:prstGeom>
          <a:noFill/>
          <a:ln/>
        </p:spPr>
        <p:txBody>
          <a:bodyPr wrap="square" lIns="0" tIns="0" rIns="0" bIns="0" rtlCol="0" anchor="t"/>
          <a:lstStyle/>
          <a:p>
            <a:pPr indent="0" marL="0">
              <a:buNone/>
            </a:pPr>
            <a:r>
              <a:rPr lang="en-US" sz="1400" dirty="0">
                <a:solidFill>
                  <a:srgbClr val="3A4A5C"/>
                </a:solidFill>
              </a:rPr>
              <a:t>Mean ± 1 SD over the 4 trials, e.g. simple_python Q4_0 68.75 ± 1.57</a:t>
            </a:r>
            <a:endParaRPr lang="en-US" sz="1400" dirty="0"/>
          </a:p>
        </p:txBody>
      </p:sp>
      <p:sp>
        <p:nvSpPr>
          <p:cNvPr id="8" name="Shape 5"/>
          <p:cNvSpPr/>
          <p:nvPr/>
        </p:nvSpPr>
        <p:spPr>
          <a:xfrm>
            <a:off x="7680960" y="2651760"/>
            <a:ext cx="3959352" cy="1234440"/>
          </a:xfrm>
          <a:prstGeom prst="roundRect">
            <a:avLst>
              <a:gd name="adj" fmla="val 5926"/>
            </a:avLst>
          </a:prstGeom>
          <a:solidFill>
            <a:srgbClr val="FFFFFF"/>
          </a:solidFill>
          <a:ln w="15875">
            <a:solidFill>
              <a:srgbClr val="D5DAE1"/>
            </a:solidFill>
            <a:prstDash val="solid"/>
          </a:ln>
        </p:spPr>
      </p:sp>
      <p:sp>
        <p:nvSpPr>
          <p:cNvPr id="9" name="Text 6"/>
          <p:cNvSpPr txBox="1"/>
          <p:nvPr/>
        </p:nvSpPr>
        <p:spPr>
          <a:xfrm>
            <a:off x="7863840" y="2788920"/>
            <a:ext cx="3593592" cy="365760"/>
          </a:xfrm>
          <a:prstGeom prst="rect">
            <a:avLst/>
          </a:prstGeom>
          <a:noFill/>
          <a:ln/>
        </p:spPr>
        <p:txBody>
          <a:bodyPr wrap="square" lIns="0" tIns="0" rIns="0" bIns="0" rtlCol="0" anchor="ctr"/>
          <a:lstStyle/>
          <a:p>
            <a:pPr indent="0" marL="0">
              <a:buNone/>
            </a:pPr>
            <a:r>
              <a:rPr lang="en-US" sz="1700" b="1" dirty="0">
                <a:solidFill>
                  <a:srgbClr val="1B2A3A"/>
                </a:solidFill>
              </a:rPr>
              <a:t>Greedy runs</a:t>
            </a:r>
            <a:endParaRPr lang="en-US" sz="1700" dirty="0"/>
          </a:p>
        </p:txBody>
      </p:sp>
      <p:sp>
        <p:nvSpPr>
          <p:cNvPr id="10" name="Text 7"/>
          <p:cNvSpPr txBox="1"/>
          <p:nvPr/>
        </p:nvSpPr>
        <p:spPr>
          <a:xfrm>
            <a:off x="7863840" y="3200400"/>
            <a:ext cx="3593592" cy="594360"/>
          </a:xfrm>
          <a:prstGeom prst="rect">
            <a:avLst/>
          </a:prstGeom>
          <a:noFill/>
          <a:ln/>
        </p:spPr>
        <p:txBody>
          <a:bodyPr wrap="square" lIns="0" tIns="0" rIns="0" bIns="0" rtlCol="0" anchor="t"/>
          <a:lstStyle/>
          <a:p>
            <a:pPr indent="0" marL="0">
              <a:buNone/>
            </a:pPr>
            <a:r>
              <a:rPr lang="en-US" sz="1400" dirty="0">
                <a:solidFill>
                  <a:srgbClr val="3A4A5C"/>
                </a:solidFill>
              </a:rPr>
              <a:t>Deterministic (SD = 0), so a 95% Wilson interval over tasks: Q4_0 68.5% [63.8–72.9]</a:t>
            </a:r>
            <a:endParaRPr lang="en-US" sz="1400" dirty="0"/>
          </a:p>
        </p:txBody>
      </p:sp>
      <p:sp>
        <p:nvSpPr>
          <p:cNvPr id="11" name="Shape 8"/>
          <p:cNvSpPr/>
          <p:nvPr/>
        </p:nvSpPr>
        <p:spPr>
          <a:xfrm>
            <a:off x="7680960" y="4023360"/>
            <a:ext cx="3959352" cy="1280160"/>
          </a:xfrm>
          <a:prstGeom prst="roundRect">
            <a:avLst>
              <a:gd name="adj" fmla="val 5714"/>
            </a:avLst>
          </a:prstGeom>
          <a:solidFill>
            <a:srgbClr val="EAF6F0"/>
          </a:solidFill>
          <a:ln w="15875">
            <a:solidFill>
              <a:srgbClr val="1A9E6A"/>
            </a:solidFill>
            <a:prstDash val="solid"/>
          </a:ln>
        </p:spPr>
      </p:sp>
      <p:sp>
        <p:nvSpPr>
          <p:cNvPr id="12" name="Text 9"/>
          <p:cNvSpPr txBox="1"/>
          <p:nvPr/>
        </p:nvSpPr>
        <p:spPr>
          <a:xfrm>
            <a:off x="7863840" y="4160520"/>
            <a:ext cx="3593592" cy="365760"/>
          </a:xfrm>
          <a:prstGeom prst="rect">
            <a:avLst/>
          </a:prstGeom>
          <a:noFill/>
          <a:ln/>
        </p:spPr>
        <p:txBody>
          <a:bodyPr wrap="square" lIns="0" tIns="0" rIns="0" bIns="0" rtlCol="0" anchor="ctr"/>
          <a:lstStyle/>
          <a:p>
            <a:pPr indent="0" marL="0">
              <a:buNone/>
            </a:pPr>
            <a:r>
              <a:rPr lang="en-US" sz="1700" b="1" dirty="0">
                <a:solidFill>
                  <a:srgbClr val="1A9E6A"/>
                </a:solidFill>
              </a:rPr>
              <a:t>Reporting rule (Ch. 7)</a:t>
            </a:r>
            <a:endParaRPr lang="en-US" sz="1700" dirty="0"/>
          </a:p>
        </p:txBody>
      </p:sp>
      <p:sp>
        <p:nvSpPr>
          <p:cNvPr id="13" name="Text 10"/>
          <p:cNvSpPr txBox="1"/>
          <p:nvPr/>
        </p:nvSpPr>
        <p:spPr>
          <a:xfrm>
            <a:off x="7863840" y="4572000"/>
            <a:ext cx="3593592" cy="640080"/>
          </a:xfrm>
          <a:prstGeom prst="rect">
            <a:avLst/>
          </a:prstGeom>
          <a:noFill/>
          <a:ln/>
        </p:spPr>
        <p:txBody>
          <a:bodyPr wrap="square" lIns="0" tIns="0" rIns="0" bIns="0" rtlCol="0" anchor="t"/>
          <a:lstStyle/>
          <a:p>
            <a:pPr indent="0" marL="0">
              <a:buNone/>
            </a:pPr>
            <a:r>
              <a:rPr lang="en-US" sz="1400" dirty="0">
                <a:solidFill>
                  <a:srgbClr val="3A4A5C"/>
                </a:solidFill>
              </a:rPr>
              <a:t>Every effect gets its 95% paired-bootstrap interval; the report job fails if a figure has no error bars</a:t>
            </a:r>
            <a:endParaRPr lang="en-US" sz="1400" dirty="0"/>
          </a:p>
        </p:txBody>
      </p:sp>
      <p:sp>
        <p:nvSpPr>
          <p:cNvPr id="14" name="Text 11"/>
          <p:cNvSpPr txBox="1"/>
          <p:nvPr/>
        </p:nvSpPr>
        <p:spPr>
          <a:xfrm>
            <a:off x="548640" y="5394960"/>
            <a:ext cx="11091672" cy="274320"/>
          </a:xfrm>
          <a:prstGeom prst="rect">
            <a:avLst/>
          </a:prstGeom>
          <a:noFill/>
          <a:ln/>
        </p:spPr>
        <p:txBody>
          <a:bodyPr wrap="square" lIns="0" tIns="0" rIns="0" bIns="0" rtlCol="0" anchor="t"/>
          <a:lstStyle/>
          <a:p>
            <a:pPr indent="0" marL="0">
              <a:buNone/>
            </a:pPr>
            <a:r>
              <a:rPr lang="en-US" sz="1100" dirty="0">
                <a:solidFill>
                  <a:srgbClr val="5B6B7B"/>
                </a:solidFill>
              </a:rPr>
              <a:t>What the figure shows: BFCL accuracy of each format without a grammar (grey), with the R1 grammar (purple) and with a forced-call grammar (pink, a test only). Bars: greedy run; whiskers: 95% Wilson interval over tasks; white dots: mean ± 1 SD over 4 sampled trials. Pilot data, Colab A100, Oct 8.</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Point 2 · Mixed-effects analysis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1554480"/>
                <a:gridCol w="6035040"/>
                <a:gridCol w="3502152"/>
              </a:tblGrid>
              <a:tr h="411480">
                <a:tc>
                  <a:txBody>
                    <a:bodyPr/>
                    <a:lstStyle/>
                    <a:p>
                      <a:pPr indent="0" marL="0">
                        <a:buNone/>
                      </a:pPr>
                      <a:r>
                        <a:rPr lang="en-US" sz="1500" b="1" dirty="0">
                          <a:solidFill>
                            <a:srgbClr val="FFFFFF"/>
                          </a:solidFill>
                        </a:rPr>
                        <a:t>Model</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500" b="1" dirty="0">
                          <a:solidFill>
                            <a:srgbClr val="FFFFFF"/>
                          </a:solidFill>
                        </a:rPr>
                        <a:t>Formula (lme4::glmer in R)</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500" b="1" dirty="0">
                          <a:solidFill>
                            <a:srgbClr val="FFFFFF"/>
                          </a:solidFill>
                        </a:rPr>
                        <a:t>Answers</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r>
              <a:tr h="685800">
                <a:tc>
                  <a:txBody>
                    <a:bodyPr/>
                    <a:lstStyle/>
                    <a:p>
                      <a:pPr indent="0" marL="0">
                        <a:buNone/>
                      </a:pPr>
                      <a:r>
                        <a:rPr lang="en-US" sz="1500" dirty="0">
                          <a:solidFill>
                            <a:srgbClr val="1B2A3A"/>
                          </a:solidFill>
                        </a:rPr>
                        <a:t>A · Poisson</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rPr>
                        <a:t>failures ~ configuration + (1 | task), offset log(steps); negative binomial if overdispersed</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rPr>
                        <a:t>Failure rate ratio per configuration</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685800">
                <a:tc>
                  <a:txBody>
                    <a:bodyPr/>
                    <a:lstStyle/>
                    <a:p>
                      <a:pPr indent="0" marL="0">
                        <a:buNone/>
                      </a:pPr>
                      <a:r>
                        <a:rPr lang="en-US" sz="1500" dirty="0">
                          <a:solidFill>
                            <a:srgbClr val="1B2A3A"/>
                          </a:solidFill>
                        </a:rPr>
                        <a:t>B · Binomial</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500" dirty="0">
                          <a:solidFill>
                            <a:srgbClr val="1B2A3A"/>
                          </a:solidFill>
                        </a:rPr>
                        <a:t>failure ~ precision × step type + precision × turn depth + (1 | task/episode)</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500" dirty="0">
                          <a:solidFill>
                            <a:srgbClr val="1B2A3A"/>
                          </a:solidFill>
                        </a:rPr>
                        <a:t>Where in an episode 4-bit damage appears</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548640">
                <a:tc>
                  <a:txBody>
                    <a:bodyPr/>
                    <a:lstStyle/>
                    <a:p>
                      <a:pPr indent="0" marL="0">
                        <a:buNone/>
                      </a:pPr>
                      <a:r>
                        <a:rPr lang="en-US" sz="1500" dirty="0">
                          <a:solidFill>
                            <a:srgbClr val="1B2A3A"/>
                          </a:solidFill>
                        </a:rPr>
                        <a:t>C · Binomial</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rPr>
                        <a:t>success ~ configuration + (1 | task)</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rPr>
                        <a:t>Episode success</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886200"/>
            <a:ext cx="11091672" cy="1143000"/>
          </a:xfrm>
          <a:prstGeom prst="roundRect">
            <a:avLst>
              <a:gd name="adj" fmla="val 6400"/>
            </a:avLst>
          </a:prstGeom>
          <a:solidFill>
            <a:srgbClr val="1B2A3A"/>
          </a:solidFill>
          <a:ln w="12700">
            <a:solidFill>
              <a:srgbClr val="1B2A3A"/>
            </a:solidFill>
            <a:prstDash val="solid"/>
          </a:ln>
        </p:spPr>
      </p:sp>
      <p:sp>
        <p:nvSpPr>
          <p:cNvPr id="5" name="Text 2"/>
          <p:cNvSpPr txBox="1"/>
          <p:nvPr/>
        </p:nvSpPr>
        <p:spPr>
          <a:xfrm>
            <a:off x="822960" y="3886200"/>
            <a:ext cx="10543032" cy="1143000"/>
          </a:xfrm>
          <a:prstGeom prst="rect">
            <a:avLst/>
          </a:prstGeom>
          <a:noFill/>
          <a:ln/>
        </p:spPr>
        <p:txBody>
          <a:bodyPr wrap="square" lIns="0" tIns="0" rIns="0" bIns="0" rtlCol="0" anchor="ctr"/>
          <a:lstStyle/>
          <a:p>
            <a:pPr indent="0" marL="0">
              <a:buNone/>
            </a:pPr>
            <a:r>
              <a:rPr lang="en-US" sz="1800" b="1" dirty="0">
                <a:solidFill>
                  <a:srgbClr val="FFFFFF"/>
                </a:solidFill>
              </a:rPr>
              <a:t>Decision rule: </a:t>
            </a:r>
            <a:pPr indent="0" marL="0">
              <a:buNone/>
            </a:pPr>
            <a:r>
              <a:rPr lang="en-US" sz="1800" dirty="0">
                <a:solidFill>
                  <a:srgbClr val="FFFFFF"/>
                </a:solidFill>
              </a:rPr>
              <a:t>a conclusion is robust only when the mixed model agrees with the primary bootstrap in direction and in Holm-corrected significance; otherwise we report it as not robust, with both estimates.</a:t>
            </a:r>
            <a:endParaRPr lang="en-US" sz="1800" dirty="0"/>
          </a:p>
        </p:txBody>
      </p:sp>
      <p:sp>
        <p:nvSpPr>
          <p:cNvPr id="6" name="Text 3"/>
          <p:cNvSpPr txBox="1"/>
          <p:nvPr/>
        </p:nvSpPr>
        <p:spPr>
          <a:xfrm>
            <a:off x="548640" y="5212080"/>
            <a:ext cx="11091672" cy="640080"/>
          </a:xfrm>
          <a:prstGeom prst="rect">
            <a:avLst/>
          </a:prstGeom>
          <a:noFill/>
          <a:ln/>
        </p:spPr>
        <p:txBody>
          <a:bodyPr wrap="square" lIns="0" tIns="0" rIns="0" bIns="0" rtlCol="0" anchor="t"/>
          <a:lstStyle/>
          <a:p>
            <a:pPr indent="0" marL="0">
              <a:buNone/>
            </a:pPr>
            <a:r>
              <a:rPr lang="en-US" sz="1400" dirty="0">
                <a:solidFill>
                  <a:srgbClr val="3A4A5C"/>
                </a:solidFill>
              </a:rPr>
              <a:t>Why R: statsmodels has no frequentist binomial or Poisson mixed model · convergence fallbacks: bobyqa optimizer, then drop the episode intercept, then report the failure · R script and planted-effect check due at M2, frozen in the OSF registration</a:t>
            </a:r>
            <a:endParaRPr lang="en-US" sz="1400" dirty="0"/>
          </a:p>
        </p:txBody>
      </p:sp>
      <p:sp>
        <p:nvSpPr>
          <p:cNvPr id="7" name="Text 4"/>
          <p:cNvSpPr txBox="1"/>
          <p:nvPr/>
        </p:nvSpPr>
        <p:spPr>
          <a:xfrm>
            <a:off x="548640" y="5989320"/>
            <a:ext cx="11091672" cy="274320"/>
          </a:xfrm>
          <a:prstGeom prst="rect">
            <a:avLst/>
          </a:prstGeom>
          <a:noFill/>
          <a:ln/>
        </p:spPr>
        <p:txBody>
          <a:bodyPr wrap="square" lIns="0" tIns="0" rIns="0" bIns="0" rtlCol="0" anchor="t"/>
          <a:lstStyle/>
          <a:p>
            <a:pPr indent="0" marL="0">
              <a:buNone/>
            </a:pPr>
            <a:r>
              <a:rPr lang="en-US" sz="1100" dirty="0">
                <a:solidFill>
                  <a:srgbClr val="5B6B7B"/>
                </a:solidFill>
              </a:rPr>
              <a:t>Workbook 2, Ch. 3 (bullet no longer “optional”) and Ch. 7 Statistical Analysis Plan</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Point 3 · System and infrastructure architecture</a:t>
            </a:r>
            <a:endParaRPr lang="en-US" sz="3200" dirty="0"/>
          </a:p>
        </p:txBody>
      </p:sp>
      <p:sp>
        <p:nvSpPr>
          <p:cNvPr id="3" name="Shape 1"/>
          <p:cNvSpPr/>
          <p:nvPr/>
        </p:nvSpPr>
        <p:spPr>
          <a:xfrm>
            <a:off x="548640" y="1280160"/>
            <a:ext cx="4572000" cy="4709160"/>
          </a:xfrm>
          <a:prstGeom prst="rect">
            <a:avLst/>
          </a:prstGeom>
          <a:solidFill>
            <a:srgbClr val="FFFFFF"/>
          </a:solidFill>
          <a:ln w="9525">
            <a:solidFill>
              <a:srgbClr val="D5DAE1"/>
            </a:solidFill>
            <a:prstDash val="solid"/>
          </a:ln>
        </p:spPr>
      </p:sp>
      <p:pic>
        <p:nvPicPr>
          <p:cNvPr id="4" name="Image 0" descr="Figure 1a: laptops reach the CoE HPC login node over the VPN; Slurm sends jobs to P100, A100, H100 and CPU nodes that read and write the shared scratch folder">    </p:cNvPr>
          <p:cNvPicPr>
            <a:picLocks noChangeAspect="1"/>
          </p:cNvPicPr>
          <p:nvPr/>
        </p:nvPicPr>
        <p:blipFill>
          <a:blip r:embed="rId1"/>
          <a:stretch>
            <a:fillRect/>
          </a:stretch>
        </p:blipFill>
        <p:spPr>
          <a:xfrm>
            <a:off x="607852" y="1325880"/>
            <a:ext cx="4453576" cy="4617720"/>
          </a:xfrm>
          <a:prstGeom prst="rect">
            <a:avLst/>
          </a:prstGeom>
        </p:spPr>
      </p:pic>
      <p:sp>
        <p:nvSpPr>
          <p:cNvPr id="5" name="Shape 2"/>
          <p:cNvSpPr/>
          <p:nvPr/>
        </p:nvSpPr>
        <p:spPr>
          <a:xfrm>
            <a:off x="5349240" y="1280160"/>
            <a:ext cx="6291072" cy="1051560"/>
          </a:xfrm>
          <a:prstGeom prst="roundRect">
            <a:avLst>
              <a:gd name="adj" fmla="val 6957"/>
            </a:avLst>
          </a:prstGeom>
          <a:solidFill>
            <a:srgbClr val="FFFFFF"/>
          </a:solidFill>
          <a:ln w="15875">
            <a:solidFill>
              <a:srgbClr val="D5DAE1"/>
            </a:solidFill>
            <a:prstDash val="solid"/>
          </a:ln>
        </p:spPr>
      </p:sp>
      <p:sp>
        <p:nvSpPr>
          <p:cNvPr id="6" name="Text 3"/>
          <p:cNvSpPr txBox="1"/>
          <p:nvPr/>
        </p:nvSpPr>
        <p:spPr>
          <a:xfrm>
            <a:off x="5532120" y="1417320"/>
            <a:ext cx="5925312" cy="365760"/>
          </a:xfrm>
          <a:prstGeom prst="rect">
            <a:avLst/>
          </a:prstGeom>
          <a:noFill/>
          <a:ln/>
        </p:spPr>
        <p:txBody>
          <a:bodyPr wrap="square" lIns="0" tIns="0" rIns="0" bIns="0" rtlCol="0" anchor="ctr"/>
          <a:lstStyle/>
          <a:p>
            <a:pPr indent="0" marL="0">
              <a:buNone/>
            </a:pPr>
            <a:r>
              <a:rPr lang="en-US" sz="1700" b="1" dirty="0">
                <a:solidFill>
                  <a:srgbClr val="1B2A3A"/>
                </a:solidFill>
              </a:rPr>
              <a:t>Chapter 5 retitled</a:t>
            </a:r>
            <a:endParaRPr lang="en-US" sz="1700" dirty="0"/>
          </a:p>
        </p:txBody>
      </p:sp>
      <p:sp>
        <p:nvSpPr>
          <p:cNvPr id="7" name="Text 4"/>
          <p:cNvSpPr txBox="1"/>
          <p:nvPr/>
        </p:nvSpPr>
        <p:spPr>
          <a:xfrm>
            <a:off x="5532120" y="1828800"/>
            <a:ext cx="5925312" cy="411480"/>
          </a:xfrm>
          <a:prstGeom prst="rect">
            <a:avLst/>
          </a:prstGeom>
          <a:noFill/>
          <a:ln/>
        </p:spPr>
        <p:txBody>
          <a:bodyPr wrap="square" lIns="0" tIns="0" rIns="0" bIns="0" rtlCol="0" anchor="t"/>
          <a:lstStyle/>
          <a:p>
            <a:pPr indent="0" marL="0">
              <a:buNone/>
            </a:pPr>
            <a:r>
              <a:rPr lang="en-US" sz="1400" dirty="0">
                <a:solidFill>
                  <a:srgbClr val="3A4A5C"/>
                </a:solidFill>
              </a:rPr>
              <a:t>Two views: software (Fig. 1, components C1–C11 and data flow) and infrastructure (Fig. 1a, where each part runs)</a:t>
            </a:r>
            <a:endParaRPr lang="en-US" sz="1400" dirty="0"/>
          </a:p>
        </p:txBody>
      </p:sp>
      <p:sp>
        <p:nvSpPr>
          <p:cNvPr id="8" name="Shape 5"/>
          <p:cNvSpPr/>
          <p:nvPr/>
        </p:nvSpPr>
        <p:spPr>
          <a:xfrm>
            <a:off x="5349240" y="2606040"/>
            <a:ext cx="2103120" cy="384048"/>
          </a:xfrm>
          <a:prstGeom prst="roundRect">
            <a:avLst>
              <a:gd name="adj" fmla="val 50000"/>
            </a:avLst>
          </a:prstGeom>
          <a:solidFill>
            <a:srgbClr val="1F77B4"/>
          </a:solidFill>
          <a:ln w="12700">
            <a:solidFill>
              <a:srgbClr val="1F77B4"/>
            </a:solidFill>
            <a:prstDash val="solid"/>
          </a:ln>
        </p:spPr>
      </p:sp>
      <p:sp>
        <p:nvSpPr>
          <p:cNvPr id="9" name="Text 6"/>
          <p:cNvSpPr txBox="1"/>
          <p:nvPr/>
        </p:nvSpPr>
        <p:spPr>
          <a:xfrm>
            <a:off x="5349240" y="2606040"/>
            <a:ext cx="2103120" cy="384048"/>
          </a:xfrm>
          <a:prstGeom prst="rect">
            <a:avLst/>
          </a:prstGeom>
          <a:noFill/>
          <a:ln/>
        </p:spPr>
        <p:txBody>
          <a:bodyPr wrap="square" lIns="0" tIns="0" rIns="0" bIns="0" rtlCol="0" anchor="ctr"/>
          <a:lstStyle/>
          <a:p>
            <a:pPr algn="ctr" indent="0" marL="0">
              <a:buNone/>
            </a:pPr>
            <a:r>
              <a:rPr lang="en-US" sz="1400" b="1" dirty="0">
                <a:solidFill>
                  <a:srgbClr val="FFFFFF"/>
                </a:solidFill>
              </a:rPr>
              <a:t>15 × P100 12 GB</a:t>
            </a:r>
            <a:endParaRPr lang="en-US" sz="1400" dirty="0"/>
          </a:p>
        </p:txBody>
      </p:sp>
      <p:sp>
        <p:nvSpPr>
          <p:cNvPr id="10" name="Text 7"/>
          <p:cNvSpPr txBox="1"/>
          <p:nvPr/>
        </p:nvSpPr>
        <p:spPr>
          <a:xfrm>
            <a:off x="7635240" y="2514600"/>
            <a:ext cx="4005072" cy="566928"/>
          </a:xfrm>
          <a:prstGeom prst="rect">
            <a:avLst/>
          </a:prstGeom>
          <a:noFill/>
          <a:ln/>
        </p:spPr>
        <p:txBody>
          <a:bodyPr wrap="square" lIns="0" tIns="0" rIns="0" bIns="0" rtlCol="0" anchor="ctr"/>
          <a:lstStyle/>
          <a:p>
            <a:pPr indent="0" marL="0">
              <a:buNone/>
            </a:pPr>
            <a:r>
              <a:rPr lang="en-US" sz="1500" dirty="0">
                <a:solidFill>
                  <a:srgbClr val="1B2A3A"/>
                </a:solidFill>
              </a:rPr>
              <a:t>Agent array tasks: llama-server + runner</a:t>
            </a:r>
            <a:endParaRPr lang="en-US" sz="1500" dirty="0"/>
          </a:p>
        </p:txBody>
      </p:sp>
      <p:sp>
        <p:nvSpPr>
          <p:cNvPr id="11" name="Shape 8"/>
          <p:cNvSpPr/>
          <p:nvPr/>
        </p:nvSpPr>
        <p:spPr>
          <a:xfrm>
            <a:off x="5349240" y="3264408"/>
            <a:ext cx="2103120" cy="384048"/>
          </a:xfrm>
          <a:prstGeom prst="roundRect">
            <a:avLst>
              <a:gd name="adj" fmla="val 50000"/>
            </a:avLst>
          </a:prstGeom>
          <a:solidFill>
            <a:srgbClr val="E8622C"/>
          </a:solidFill>
          <a:ln w="12700">
            <a:solidFill>
              <a:srgbClr val="E8622C"/>
            </a:solidFill>
            <a:prstDash val="solid"/>
          </a:ln>
        </p:spPr>
      </p:sp>
      <p:sp>
        <p:nvSpPr>
          <p:cNvPr id="12" name="Text 9"/>
          <p:cNvSpPr txBox="1"/>
          <p:nvPr/>
        </p:nvSpPr>
        <p:spPr>
          <a:xfrm>
            <a:off x="5349240" y="3264408"/>
            <a:ext cx="2103120" cy="384048"/>
          </a:xfrm>
          <a:prstGeom prst="rect">
            <a:avLst/>
          </a:prstGeom>
          <a:noFill/>
          <a:ln/>
        </p:spPr>
        <p:txBody>
          <a:bodyPr wrap="square" lIns="0" tIns="0" rIns="0" bIns="0" rtlCol="0" anchor="ctr"/>
          <a:lstStyle/>
          <a:p>
            <a:pPr algn="ctr" indent="0" marL="0">
              <a:buNone/>
            </a:pPr>
            <a:r>
              <a:rPr lang="en-US" sz="1400" b="1" dirty="0">
                <a:solidFill>
                  <a:srgbClr val="FFFFFF"/>
                </a:solidFill>
              </a:rPr>
              <a:t>4 × 4 A100 40 GB</a:t>
            </a:r>
            <a:endParaRPr lang="en-US" sz="1400" dirty="0"/>
          </a:p>
        </p:txBody>
      </p:sp>
      <p:sp>
        <p:nvSpPr>
          <p:cNvPr id="13" name="Text 10"/>
          <p:cNvSpPr txBox="1"/>
          <p:nvPr/>
        </p:nvSpPr>
        <p:spPr>
          <a:xfrm>
            <a:off x="7635240" y="3172968"/>
            <a:ext cx="4005072" cy="566928"/>
          </a:xfrm>
          <a:prstGeom prst="rect">
            <a:avLst/>
          </a:prstGeom>
          <a:noFill/>
          <a:ln/>
        </p:spPr>
        <p:txBody>
          <a:bodyPr wrap="square" lIns="0" tIns="0" rIns="0" bIns="0" rtlCol="0" anchor="ctr"/>
          <a:lstStyle/>
          <a:p>
            <a:pPr indent="0" marL="0">
              <a:buNone/>
            </a:pPr>
            <a:r>
              <a:rPr lang="en-US" sz="1500" dirty="0">
                <a:solidFill>
                  <a:srgbClr val="1B2A3A"/>
                </a:solidFill>
              </a:rPr>
              <a:t>τ² simulated user and judge (cs002 excluded)</a:t>
            </a:r>
            <a:endParaRPr lang="en-US" sz="1500" dirty="0"/>
          </a:p>
        </p:txBody>
      </p:sp>
      <p:sp>
        <p:nvSpPr>
          <p:cNvPr id="14" name="Shape 11"/>
          <p:cNvSpPr/>
          <p:nvPr/>
        </p:nvSpPr>
        <p:spPr>
          <a:xfrm>
            <a:off x="5349240" y="3922776"/>
            <a:ext cx="2103120" cy="384048"/>
          </a:xfrm>
          <a:prstGeom prst="roundRect">
            <a:avLst>
              <a:gd name="adj" fmla="val 50000"/>
            </a:avLst>
          </a:prstGeom>
          <a:solidFill>
            <a:srgbClr val="1A9E6A"/>
          </a:solidFill>
          <a:ln w="12700">
            <a:solidFill>
              <a:srgbClr val="1A9E6A"/>
            </a:solidFill>
            <a:prstDash val="solid"/>
          </a:ln>
        </p:spPr>
      </p:sp>
      <p:sp>
        <p:nvSpPr>
          <p:cNvPr id="15" name="Text 12"/>
          <p:cNvSpPr txBox="1"/>
          <p:nvPr/>
        </p:nvSpPr>
        <p:spPr>
          <a:xfrm>
            <a:off x="5349240" y="3922776"/>
            <a:ext cx="2103120" cy="384048"/>
          </a:xfrm>
          <a:prstGeom prst="rect">
            <a:avLst/>
          </a:prstGeom>
          <a:noFill/>
          <a:ln/>
        </p:spPr>
        <p:txBody>
          <a:bodyPr wrap="square" lIns="0" tIns="0" rIns="0" bIns="0" rtlCol="0" anchor="ctr"/>
          <a:lstStyle/>
          <a:p>
            <a:pPr algn="ctr" indent="0" marL="0">
              <a:buNone/>
            </a:pPr>
            <a:r>
              <a:rPr lang="en-US" sz="1400" b="1" dirty="0">
                <a:solidFill>
                  <a:srgbClr val="FFFFFF"/>
                </a:solidFill>
              </a:rPr>
              <a:t>3 × H100 80 GB</a:t>
            </a:r>
            <a:endParaRPr lang="en-US" sz="1400" dirty="0"/>
          </a:p>
        </p:txBody>
      </p:sp>
      <p:sp>
        <p:nvSpPr>
          <p:cNvPr id="16" name="Text 13"/>
          <p:cNvSpPr txBox="1"/>
          <p:nvPr/>
        </p:nvSpPr>
        <p:spPr>
          <a:xfrm>
            <a:off x="7635240" y="3831336"/>
            <a:ext cx="4005072" cy="566928"/>
          </a:xfrm>
          <a:prstGeom prst="rect">
            <a:avLst/>
          </a:prstGeom>
          <a:noFill/>
          <a:ln/>
        </p:spPr>
        <p:txBody>
          <a:bodyPr wrap="square" lIns="0" tIns="0" rIns="0" bIns="0" rtlCol="0" anchor="ctr"/>
          <a:lstStyle/>
          <a:p>
            <a:pPr indent="0" marL="0">
              <a:buNone/>
            </a:pPr>
            <a:r>
              <a:rPr lang="en-US" sz="1500" dirty="0">
                <a:solidFill>
                  <a:srgbClr val="1B2A3A"/>
                </a:solidFill>
              </a:rPr>
              <a:t>QAD and control training (R3)</a:t>
            </a:r>
            <a:endParaRPr lang="en-US" sz="1500" dirty="0"/>
          </a:p>
        </p:txBody>
      </p:sp>
      <p:sp>
        <p:nvSpPr>
          <p:cNvPr id="17" name="Shape 14"/>
          <p:cNvSpPr/>
          <p:nvPr/>
        </p:nvSpPr>
        <p:spPr>
          <a:xfrm>
            <a:off x="5349240" y="4581144"/>
            <a:ext cx="2103120" cy="384048"/>
          </a:xfrm>
          <a:prstGeom prst="roundRect">
            <a:avLst>
              <a:gd name="adj" fmla="val 50000"/>
            </a:avLst>
          </a:prstGeom>
          <a:solidFill>
            <a:srgbClr val="8C8C8C"/>
          </a:solidFill>
          <a:ln w="12700">
            <a:solidFill>
              <a:srgbClr val="8C8C8C"/>
            </a:solidFill>
            <a:prstDash val="solid"/>
          </a:ln>
        </p:spPr>
      </p:sp>
      <p:sp>
        <p:nvSpPr>
          <p:cNvPr id="18" name="Text 15"/>
          <p:cNvSpPr txBox="1"/>
          <p:nvPr/>
        </p:nvSpPr>
        <p:spPr>
          <a:xfrm>
            <a:off x="5349240" y="4581144"/>
            <a:ext cx="2103120" cy="384048"/>
          </a:xfrm>
          <a:prstGeom prst="rect">
            <a:avLst/>
          </a:prstGeom>
          <a:noFill/>
          <a:ln/>
        </p:spPr>
        <p:txBody>
          <a:bodyPr wrap="square" lIns="0" tIns="0" rIns="0" bIns="0" rtlCol="0" anchor="ctr"/>
          <a:lstStyle/>
          <a:p>
            <a:pPr algn="ctr" indent="0" marL="0">
              <a:buNone/>
            </a:pPr>
            <a:r>
              <a:rPr lang="en-US" sz="1400" b="1" dirty="0">
                <a:solidFill>
                  <a:srgbClr val="FFFFFF"/>
                </a:solidFill>
              </a:rPr>
              <a:t>24 CPU nodes</a:t>
            </a:r>
            <a:endParaRPr lang="en-US" sz="1400" dirty="0"/>
          </a:p>
        </p:txBody>
      </p:sp>
      <p:sp>
        <p:nvSpPr>
          <p:cNvPr id="19" name="Text 16"/>
          <p:cNvSpPr txBox="1"/>
          <p:nvPr/>
        </p:nvSpPr>
        <p:spPr>
          <a:xfrm>
            <a:off x="7635240" y="4489704"/>
            <a:ext cx="4005072" cy="566928"/>
          </a:xfrm>
          <a:prstGeom prst="rect">
            <a:avLst/>
          </a:prstGeom>
          <a:noFill/>
          <a:ln/>
        </p:spPr>
        <p:txBody>
          <a:bodyPr wrap="square" lIns="0" tIns="0" rIns="0" bIns="0" rtlCol="0" anchor="ctr"/>
          <a:lstStyle/>
          <a:p>
            <a:pPr indent="0" marL="0">
              <a:buNone/>
            </a:pPr>
            <a:r>
              <a:rPr lang="en-US" sz="1500" dirty="0">
                <a:solidFill>
                  <a:srgbClr val="1B2A3A"/>
                </a:solidFill>
              </a:rPr>
              <a:t>CPU backend, labels, statistics, reports</a:t>
            </a:r>
            <a:endParaRPr lang="en-US" sz="1500" dirty="0"/>
          </a:p>
        </p:txBody>
      </p:sp>
      <p:sp>
        <p:nvSpPr>
          <p:cNvPr id="20" name="Text 17"/>
          <p:cNvSpPr txBox="1"/>
          <p:nvPr/>
        </p:nvSpPr>
        <p:spPr>
          <a:xfrm>
            <a:off x="548640" y="6035040"/>
            <a:ext cx="11091672" cy="274320"/>
          </a:xfrm>
          <a:prstGeom prst="rect">
            <a:avLst/>
          </a:prstGeom>
          <a:noFill/>
          <a:ln/>
        </p:spPr>
        <p:txBody>
          <a:bodyPr wrap="square" lIns="0" tIns="0" rIns="0" bIns="0" rtlCol="0" anchor="t"/>
          <a:lstStyle/>
          <a:p>
            <a:pPr indent="0" marL="0">
              <a:buNone/>
            </a:pPr>
            <a:r>
              <a:rPr lang="en-US" sz="1100" dirty="0">
                <a:solidFill>
                  <a:srgbClr val="5B6B7B"/>
                </a:solidFill>
              </a:rPr>
              <a:t>Figure 1a: how members reach the cluster (VPN → login node → Slurm), the four node types and what runs on each, and the shared storage. Dashed boxes are off-cluster.</a:t>
            </a:r>
            <a:endParaRPr lang="en-US" sz="1100" dirty="0"/>
          </a:p>
        </p:txBody>
      </p:sp>
      <p:sp>
        <p:nvSpPr>
          <p:cNvPr id="21" name="Shape 18"/>
          <p:cNvSpPr/>
          <p:nvPr/>
        </p:nvSpPr>
        <p:spPr>
          <a:xfrm>
            <a:off x="5349240" y="5074920"/>
            <a:ext cx="6291072" cy="914400"/>
          </a:xfrm>
          <a:prstGeom prst="roundRect">
            <a:avLst>
              <a:gd name="adj" fmla="val 8000"/>
            </a:avLst>
          </a:prstGeom>
          <a:solidFill>
            <a:srgbClr val="FDF1EA"/>
          </a:solidFill>
          <a:ln w="15875">
            <a:solidFill>
              <a:srgbClr val="E8622C"/>
            </a:solidFill>
            <a:prstDash val="solid"/>
          </a:ln>
        </p:spPr>
      </p:sp>
      <p:sp>
        <p:nvSpPr>
          <p:cNvPr id="22" name="Text 19"/>
          <p:cNvSpPr txBox="1"/>
          <p:nvPr/>
        </p:nvSpPr>
        <p:spPr>
          <a:xfrm>
            <a:off x="5532120" y="5212080"/>
            <a:ext cx="5925312" cy="365760"/>
          </a:xfrm>
          <a:prstGeom prst="rect">
            <a:avLst/>
          </a:prstGeom>
          <a:noFill/>
          <a:ln/>
        </p:spPr>
        <p:txBody>
          <a:bodyPr wrap="square" lIns="0" tIns="0" rIns="0" bIns="0" rtlCol="0" anchor="ctr"/>
          <a:lstStyle/>
          <a:p>
            <a:pPr indent="0" marL="0">
              <a:buNone/>
            </a:pPr>
            <a:r>
              <a:rPr lang="en-US" sz="1700" b="1" dirty="0">
                <a:solidFill>
                  <a:srgbClr val="E8622C"/>
                </a:solidFill>
              </a:rPr>
              <a:t>Login node only has internet</a:t>
            </a:r>
            <a:endParaRPr lang="en-US" sz="1700" dirty="0"/>
          </a:p>
        </p:txBody>
      </p:sp>
      <p:sp>
        <p:nvSpPr>
          <p:cNvPr id="23" name="Text 20"/>
          <p:cNvSpPr txBox="1"/>
          <p:nvPr/>
        </p:nvSpPr>
        <p:spPr>
          <a:xfrm>
            <a:off x="5532120" y="5623560"/>
            <a:ext cx="5925312" cy="274320"/>
          </a:xfrm>
          <a:prstGeom prst="rect">
            <a:avLst/>
          </a:prstGeom>
          <a:noFill/>
          <a:ln/>
        </p:spPr>
        <p:txBody>
          <a:bodyPr wrap="square" lIns="0" tIns="0" rIns="0" bIns="0" rtlCol="0" anchor="t"/>
          <a:lstStyle/>
          <a:p>
            <a:pPr indent="0" marL="0">
              <a:buNone/>
            </a:pPr>
            <a:r>
              <a:rPr lang="en-US" sz="1400" dirty="0">
                <a:solidFill>
                  <a:srgbClr val="3A4A5C"/>
                </a:solidFill>
              </a:rPr>
              <a:t>Downloads there; jobs read only from /scratch/cmpe295-bertin</a:t>
            </a:r>
            <a:endParaRPr lang="en-US" sz="14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Point 4 · Scope by course: 295A and 295B</a:t>
            </a:r>
            <a:endParaRPr lang="en-US" sz="3200" dirty="0"/>
          </a:p>
        </p:txBody>
      </p:sp>
      <p:sp>
        <p:nvSpPr>
          <p:cNvPr id="3" name="Shape 1"/>
          <p:cNvSpPr/>
          <p:nvPr/>
        </p:nvSpPr>
        <p:spPr>
          <a:xfrm>
            <a:off x="548640" y="1280160"/>
            <a:ext cx="3575304" cy="4206240"/>
          </a:xfrm>
          <a:prstGeom prst="roundRect">
            <a:avLst>
              <a:gd name="adj" fmla="val 2046"/>
            </a:avLst>
          </a:prstGeom>
          <a:solidFill>
            <a:srgbClr val="F2F4F7"/>
          </a:solidFill>
          <a:ln w="15875">
            <a:solidFill>
              <a:srgbClr val="F2F4F7"/>
            </a:solidFill>
            <a:prstDash val="solid"/>
          </a:ln>
        </p:spPr>
      </p:sp>
      <p:sp>
        <p:nvSpPr>
          <p:cNvPr id="4" name="Shape 2"/>
          <p:cNvSpPr/>
          <p:nvPr/>
        </p:nvSpPr>
        <p:spPr>
          <a:xfrm>
            <a:off x="685800" y="1417320"/>
            <a:ext cx="3300984" cy="384048"/>
          </a:xfrm>
          <a:prstGeom prst="roundRect">
            <a:avLst>
              <a:gd name="adj" fmla="val 50000"/>
            </a:avLst>
          </a:prstGeom>
          <a:solidFill>
            <a:srgbClr val="1F77B4"/>
          </a:solidFill>
          <a:ln w="12700">
            <a:solidFill>
              <a:srgbClr val="1F77B4"/>
            </a:solidFill>
            <a:prstDash val="solid"/>
          </a:ln>
        </p:spPr>
      </p:sp>
      <p:sp>
        <p:nvSpPr>
          <p:cNvPr id="5" name="Text 3"/>
          <p:cNvSpPr txBox="1"/>
          <p:nvPr/>
        </p:nvSpPr>
        <p:spPr>
          <a:xfrm>
            <a:off x="685800" y="1417320"/>
            <a:ext cx="3300984" cy="384048"/>
          </a:xfrm>
          <a:prstGeom prst="rect">
            <a:avLst/>
          </a:prstGeom>
          <a:noFill/>
          <a:ln/>
        </p:spPr>
        <p:txBody>
          <a:bodyPr wrap="square" lIns="0" tIns="0" rIns="0" bIns="0" rtlCol="0" anchor="ctr"/>
          <a:lstStyle/>
          <a:p>
            <a:pPr algn="ctr" indent="0" marL="0">
              <a:buNone/>
            </a:pPr>
            <a:r>
              <a:rPr lang="en-US" sz="1400" b="1" dirty="0">
                <a:solidFill>
                  <a:srgbClr val="FFFFFF"/>
                </a:solidFill>
              </a:rPr>
              <a:t>CMPE 295A · Aug 31 – Dec 20</a:t>
            </a:r>
            <a:endParaRPr lang="en-US" sz="1400" dirty="0"/>
          </a:p>
        </p:txBody>
      </p:sp>
      <p:sp>
        <p:nvSpPr>
          <p:cNvPr id="6" name="Text 4"/>
          <p:cNvSpPr txBox="1"/>
          <p:nvPr/>
        </p:nvSpPr>
        <p:spPr>
          <a:xfrm>
            <a:off x="777240" y="1965960"/>
            <a:ext cx="3118104" cy="2514600"/>
          </a:xfrm>
          <a:prstGeom prst="rect">
            <a:avLst/>
          </a:prstGeom>
          <a:noFill/>
          <a:ln/>
        </p:spPr>
        <p:txBody>
          <a:bodyPr wrap="square" lIns="0" tIns="0" rIns="0" bIns="0" rtlCol="0" anchor="t"/>
          <a:lstStyle/>
          <a:p>
            <a:pPr indent="0" marL="0">
              <a:spcAft>
                <a:spcPts val="400"/>
              </a:spcAft>
              <a:buNone/>
            </a:pPr>
            <a:r>
              <a:rPr lang="en-US" sz="1500" dirty="0">
                <a:solidFill>
                  <a:srgbClr val="1B2A3A"/>
                </a:solidFill>
              </a:rPr>
              <a:t>M1 walking skeleton (reached)</a:t>
            </a:r>
            <a:endParaRPr lang="en-US" sz="1500" dirty="0"/>
          </a:p>
          <a:p>
            <a:pPr indent="0" marL="0">
              <a:spcAft>
                <a:spcPts val="400"/>
              </a:spcAft>
              <a:buNone/>
            </a:pPr>
            <a:r>
              <a:rPr lang="en-US" sz="1500" dirty="0">
                <a:solidFill>
                  <a:srgbClr val="1B2A3A"/>
                </a:solidFill>
              </a:rPr>
              <a:t>M2 BF16 references (Nov 6)</a:t>
            </a:r>
            <a:endParaRPr lang="en-US" sz="1500" dirty="0"/>
          </a:p>
          <a:p>
            <a:pPr indent="0" marL="0">
              <a:spcAft>
                <a:spcPts val="400"/>
              </a:spcAft>
              <a:buNone/>
            </a:pPr>
            <a:r>
              <a:rPr lang="en-US" sz="1500" dirty="0">
                <a:solidFill>
                  <a:srgbClr val="1B2A3A"/>
                </a:solidFill>
              </a:rPr>
              <a:t>M3 damage map v1 (Dec 4)</a:t>
            </a:r>
            <a:endParaRPr lang="en-US" sz="1500" dirty="0"/>
          </a:p>
          <a:p>
            <a:pPr indent="0" marL="0">
              <a:spcAft>
                <a:spcPts val="400"/>
              </a:spcAft>
              <a:buNone/>
            </a:pPr>
            <a:r>
              <a:rPr lang="en-US" sz="1500" dirty="0">
                <a:solidFill>
                  <a:srgbClr val="1B2A3A"/>
                </a:solidFill>
              </a:rPr>
              <a:t>M4 R1 and R2 evaluated (Dec 18)</a:t>
            </a:r>
            <a:endParaRPr lang="en-US" sz="1500" dirty="0"/>
          </a:p>
          <a:p>
            <a:pPr indent="0" marL="0">
              <a:spcAft>
                <a:spcPts val="400"/>
              </a:spcAft>
              <a:buNone/>
            </a:pPr>
            <a:r>
              <a:rPr lang="en-US" sz="1500" dirty="0">
                <a:solidFill>
                  <a:srgbClr val="1B2A3A"/>
                </a:solidFill>
              </a:rPr>
              <a:t>L1: QAD pipeline on the H100, 0.6B run launched, first checkpoint verified</a:t>
            </a:r>
            <a:endParaRPr lang="en-US" sz="1500" dirty="0"/>
          </a:p>
        </p:txBody>
      </p:sp>
      <p:sp>
        <p:nvSpPr>
          <p:cNvPr id="7" name="Text 5"/>
          <p:cNvSpPr txBox="1"/>
          <p:nvPr/>
        </p:nvSpPr>
        <p:spPr>
          <a:xfrm>
            <a:off x="777240" y="4572000"/>
            <a:ext cx="3118104" cy="777240"/>
          </a:xfrm>
          <a:prstGeom prst="rect">
            <a:avLst/>
          </a:prstGeom>
          <a:noFill/>
          <a:ln/>
        </p:spPr>
        <p:txBody>
          <a:bodyPr wrap="square" lIns="0" tIns="0" rIns="0" bIns="0" rtlCol="0" anchor="t"/>
          <a:lstStyle/>
          <a:p>
            <a:pPr indent="0" marL="0">
              <a:buNone/>
            </a:pPr>
            <a:r>
              <a:rPr lang="en-US" sz="1300" dirty="0">
                <a:solidFill>
                  <a:srgbClr val="5B6B7B"/>
                </a:solidFill>
              </a:rPr>
              <a:t>Course: Workbook 1, Workbook 2, demo and report Ch. 1–2 (Dec 4)</a:t>
            </a:r>
            <a:endParaRPr lang="en-US" sz="1300" dirty="0"/>
          </a:p>
        </p:txBody>
      </p:sp>
      <p:sp>
        <p:nvSpPr>
          <p:cNvPr id="8" name="Shape 6"/>
          <p:cNvSpPr/>
          <p:nvPr/>
        </p:nvSpPr>
        <p:spPr>
          <a:xfrm>
            <a:off x="4306824" y="1280160"/>
            <a:ext cx="3575304" cy="4206240"/>
          </a:xfrm>
          <a:prstGeom prst="roundRect">
            <a:avLst>
              <a:gd name="adj" fmla="val 2046"/>
            </a:avLst>
          </a:prstGeom>
          <a:solidFill>
            <a:srgbClr val="F2F4F7"/>
          </a:solidFill>
          <a:ln w="15875">
            <a:solidFill>
              <a:srgbClr val="F2F4F7"/>
            </a:solidFill>
            <a:prstDash val="solid"/>
          </a:ln>
        </p:spPr>
      </p:sp>
      <p:sp>
        <p:nvSpPr>
          <p:cNvPr id="9" name="Shape 7"/>
          <p:cNvSpPr/>
          <p:nvPr/>
        </p:nvSpPr>
        <p:spPr>
          <a:xfrm>
            <a:off x="4443984" y="1417320"/>
            <a:ext cx="3300984" cy="384048"/>
          </a:xfrm>
          <a:prstGeom prst="roundRect">
            <a:avLst>
              <a:gd name="adj" fmla="val 50000"/>
            </a:avLst>
          </a:prstGeom>
          <a:solidFill>
            <a:srgbClr val="8C8C8C"/>
          </a:solidFill>
          <a:ln w="12700">
            <a:solidFill>
              <a:srgbClr val="8C8C8C"/>
            </a:solidFill>
            <a:prstDash val="solid"/>
          </a:ln>
        </p:spPr>
      </p:sp>
      <p:sp>
        <p:nvSpPr>
          <p:cNvPr id="10" name="Text 8"/>
          <p:cNvSpPr txBox="1"/>
          <p:nvPr/>
        </p:nvSpPr>
        <p:spPr>
          <a:xfrm>
            <a:off x="4443984" y="1417320"/>
            <a:ext cx="3300984" cy="384048"/>
          </a:xfrm>
          <a:prstGeom prst="rect">
            <a:avLst/>
          </a:prstGeom>
          <a:noFill/>
          <a:ln/>
        </p:spPr>
        <p:txBody>
          <a:bodyPr wrap="square" lIns="0" tIns="0" rIns="0" bIns="0" rtlCol="0" anchor="ctr"/>
          <a:lstStyle/>
          <a:p>
            <a:pPr algn="ctr" indent="0" marL="0">
              <a:buNone/>
            </a:pPr>
            <a:r>
              <a:rPr lang="en-US" sz="1400" b="1" dirty="0">
                <a:solidFill>
                  <a:srgbClr val="FFFFFF"/>
                </a:solidFill>
              </a:rPr>
              <a:t>Winter break · Dec 21 – Jan 24</a:t>
            </a:r>
            <a:endParaRPr lang="en-US" sz="1400" dirty="0"/>
          </a:p>
        </p:txBody>
      </p:sp>
      <p:sp>
        <p:nvSpPr>
          <p:cNvPr id="11" name="Text 9"/>
          <p:cNvSpPr txBox="1"/>
          <p:nvPr/>
        </p:nvSpPr>
        <p:spPr>
          <a:xfrm>
            <a:off x="4535424" y="1965960"/>
            <a:ext cx="3118104" cy="2514600"/>
          </a:xfrm>
          <a:prstGeom prst="rect">
            <a:avLst/>
          </a:prstGeom>
          <a:noFill/>
          <a:ln/>
        </p:spPr>
        <p:txBody>
          <a:bodyPr wrap="square" lIns="0" tIns="0" rIns="0" bIns="0" rtlCol="0" anchor="t"/>
          <a:lstStyle/>
          <a:p>
            <a:pPr indent="0" marL="0">
              <a:spcAft>
                <a:spcPts val="400"/>
              </a:spcAft>
              <a:buNone/>
            </a:pPr>
            <a:r>
              <a:rPr lang="en-US" sz="1500" dirty="0">
                <a:solidFill>
                  <a:srgbClr val="1B2A3A"/>
                </a:solidFill>
              </a:rPr>
              <a:t>L2: QAD and control training for the remaining models, unattended on the H100 with requeue</a:t>
            </a:r>
            <a:endParaRPr lang="en-US" sz="1500" dirty="0"/>
          </a:p>
        </p:txBody>
      </p:sp>
      <p:sp>
        <p:nvSpPr>
          <p:cNvPr id="12" name="Text 10"/>
          <p:cNvSpPr txBox="1"/>
          <p:nvPr/>
        </p:nvSpPr>
        <p:spPr>
          <a:xfrm>
            <a:off x="4535424" y="4572000"/>
            <a:ext cx="3118104" cy="777240"/>
          </a:xfrm>
          <a:prstGeom prst="rect">
            <a:avLst/>
          </a:prstGeom>
          <a:noFill/>
          <a:ln/>
        </p:spPr>
        <p:txBody>
          <a:bodyPr wrap="square" lIns="0" tIns="0" rIns="0" bIns="0" rtlCol="0" anchor="t"/>
          <a:lstStyle/>
          <a:p>
            <a:pPr indent="0" marL="0">
              <a:buNone/>
            </a:pPr>
            <a:r>
              <a:rPr lang="en-US" sz="1300" dirty="0">
                <a:solidFill>
                  <a:srgbClr val="5B6B7B"/>
                </a:solidFill>
              </a:rPr>
              <a:t>No course deliverables</a:t>
            </a:r>
            <a:endParaRPr lang="en-US" sz="1300" dirty="0"/>
          </a:p>
        </p:txBody>
      </p:sp>
      <p:sp>
        <p:nvSpPr>
          <p:cNvPr id="13" name="Shape 11"/>
          <p:cNvSpPr/>
          <p:nvPr/>
        </p:nvSpPr>
        <p:spPr>
          <a:xfrm>
            <a:off x="8065008" y="1280160"/>
            <a:ext cx="3575304" cy="4206240"/>
          </a:xfrm>
          <a:prstGeom prst="roundRect">
            <a:avLst>
              <a:gd name="adj" fmla="val 2046"/>
            </a:avLst>
          </a:prstGeom>
          <a:solidFill>
            <a:srgbClr val="F2F4F7"/>
          </a:solidFill>
          <a:ln w="15875">
            <a:solidFill>
              <a:srgbClr val="F2F4F7"/>
            </a:solidFill>
            <a:prstDash val="solid"/>
          </a:ln>
        </p:spPr>
      </p:sp>
      <p:sp>
        <p:nvSpPr>
          <p:cNvPr id="14" name="Shape 12"/>
          <p:cNvSpPr/>
          <p:nvPr/>
        </p:nvSpPr>
        <p:spPr>
          <a:xfrm>
            <a:off x="8202168" y="1417320"/>
            <a:ext cx="3300984" cy="384048"/>
          </a:xfrm>
          <a:prstGeom prst="roundRect">
            <a:avLst>
              <a:gd name="adj" fmla="val 50000"/>
            </a:avLst>
          </a:prstGeom>
          <a:solidFill>
            <a:srgbClr val="1A9E6A"/>
          </a:solidFill>
          <a:ln w="12700">
            <a:solidFill>
              <a:srgbClr val="1A9E6A"/>
            </a:solidFill>
            <a:prstDash val="solid"/>
          </a:ln>
        </p:spPr>
      </p:sp>
      <p:sp>
        <p:nvSpPr>
          <p:cNvPr id="15" name="Text 13"/>
          <p:cNvSpPr txBox="1"/>
          <p:nvPr/>
        </p:nvSpPr>
        <p:spPr>
          <a:xfrm>
            <a:off x="8202168" y="1417320"/>
            <a:ext cx="3300984" cy="384048"/>
          </a:xfrm>
          <a:prstGeom prst="rect">
            <a:avLst/>
          </a:prstGeom>
          <a:noFill/>
          <a:ln/>
        </p:spPr>
        <p:txBody>
          <a:bodyPr wrap="square" lIns="0" tIns="0" rIns="0" bIns="0" rtlCol="0" anchor="ctr"/>
          <a:lstStyle/>
          <a:p>
            <a:pPr algn="ctr" indent="0" marL="0">
              <a:buNone/>
            </a:pPr>
            <a:r>
              <a:rPr lang="en-US" sz="1400" b="1" dirty="0">
                <a:solidFill>
                  <a:srgbClr val="FFFFFF"/>
                </a:solidFill>
              </a:rPr>
              <a:t>CMPE 295B · Jan 25 – May 14</a:t>
            </a:r>
            <a:endParaRPr lang="en-US" sz="1400" dirty="0"/>
          </a:p>
        </p:txBody>
      </p:sp>
      <p:sp>
        <p:nvSpPr>
          <p:cNvPr id="16" name="Text 14"/>
          <p:cNvSpPr txBox="1"/>
          <p:nvPr/>
        </p:nvSpPr>
        <p:spPr>
          <a:xfrm>
            <a:off x="8293608" y="1965960"/>
            <a:ext cx="3118104" cy="2514600"/>
          </a:xfrm>
          <a:prstGeom prst="rect">
            <a:avLst/>
          </a:prstGeom>
          <a:noFill/>
          <a:ln/>
        </p:spPr>
        <p:txBody>
          <a:bodyPr wrap="square" lIns="0" tIns="0" rIns="0" bIns="0" rtlCol="0" anchor="t"/>
          <a:lstStyle/>
          <a:p>
            <a:pPr indent="0" marL="0">
              <a:spcAft>
                <a:spcPts val="400"/>
              </a:spcAft>
              <a:buNone/>
            </a:pPr>
            <a:r>
              <a:rPr lang="en-US" sz="1500" dirty="0">
                <a:solidFill>
                  <a:srgbClr val="1B2A3A"/>
                </a:solidFill>
              </a:rPr>
              <a:t>M5 R3 evaluated (Jan 29)</a:t>
            </a:r>
            <a:endParaRPr lang="en-US" sz="1500" dirty="0"/>
          </a:p>
          <a:p>
            <a:pPr indent="0" marL="0">
              <a:spcAft>
                <a:spcPts val="400"/>
              </a:spcAft>
              <a:buNone/>
            </a:pPr>
            <a:r>
              <a:rPr lang="en-US" sz="1500" dirty="0">
                <a:solidFill>
                  <a:srgbClr val="1B2A3A"/>
                </a:solidFill>
              </a:rPr>
              <a:t>M6 costs complete (Feb 5)</a:t>
            </a:r>
            <a:endParaRPr lang="en-US" sz="1500" dirty="0"/>
          </a:p>
          <a:p>
            <a:pPr indent="0" marL="0">
              <a:spcAft>
                <a:spcPts val="400"/>
              </a:spcAft>
              <a:buNone/>
            </a:pPr>
            <a:r>
              <a:rPr lang="en-US" sz="1500" dirty="0">
                <a:solidFill>
                  <a:srgbClr val="1B2A3A"/>
                </a:solidFill>
              </a:rPr>
              <a:t>M7 workshop paper (Feb 19)</a:t>
            </a:r>
            <a:endParaRPr lang="en-US" sz="1500" dirty="0"/>
          </a:p>
          <a:p>
            <a:pPr indent="0" marL="0">
              <a:spcAft>
                <a:spcPts val="400"/>
              </a:spcAft>
              <a:buNone/>
            </a:pPr>
            <a:r>
              <a:rPr lang="en-US" sz="1500" dirty="0">
                <a:solidFill>
                  <a:srgbClr val="1B2A3A"/>
                </a:solidFill>
              </a:rPr>
              <a:t>M8 release v1.0 (May 14)</a:t>
            </a:r>
            <a:endParaRPr lang="en-US" sz="1500" dirty="0"/>
          </a:p>
          <a:p>
            <a:pPr indent="0" marL="0">
              <a:spcAft>
                <a:spcPts val="400"/>
              </a:spcAft>
              <a:buNone/>
            </a:pPr>
            <a:r>
              <a:rPr lang="en-US" sz="1500" dirty="0">
                <a:solidFill>
                  <a:srgbClr val="1B2A3A"/>
                </a:solidFill>
              </a:rPr>
              <a:t>Optional: vision-language layer (FR-O6)</a:t>
            </a:r>
            <a:endParaRPr lang="en-US" sz="1500" dirty="0"/>
          </a:p>
        </p:txBody>
      </p:sp>
      <p:sp>
        <p:nvSpPr>
          <p:cNvPr id="17" name="Text 15"/>
          <p:cNvSpPr txBox="1"/>
          <p:nvPr/>
        </p:nvSpPr>
        <p:spPr>
          <a:xfrm>
            <a:off x="8293608" y="4572000"/>
            <a:ext cx="3118104" cy="777240"/>
          </a:xfrm>
          <a:prstGeom prst="rect">
            <a:avLst/>
          </a:prstGeom>
          <a:noFill/>
          <a:ln/>
        </p:spPr>
        <p:txBody>
          <a:bodyPr wrap="square" lIns="0" tIns="0" rIns="0" bIns="0" rtlCol="0" anchor="t"/>
          <a:lstStyle/>
          <a:p>
            <a:pPr indent="0" marL="0">
              <a:buNone/>
            </a:pPr>
            <a:r>
              <a:rPr lang="en-US" sz="1300" dirty="0">
                <a:solidFill>
                  <a:srgbClr val="5B6B7B"/>
                </a:solidFill>
              </a:rPr>
              <a:t>Course: 295B workbooks, final report, Expo demo</a:t>
            </a:r>
            <a:endParaRPr lang="en-US" sz="1300" dirty="0"/>
          </a:p>
        </p:txBody>
      </p:sp>
      <p:sp>
        <p:nvSpPr>
          <p:cNvPr id="18" name="Text 16"/>
          <p:cNvSpPr txBox="1"/>
          <p:nvPr/>
        </p:nvSpPr>
        <p:spPr>
          <a:xfrm>
            <a:off x="548640" y="5669280"/>
            <a:ext cx="11091672" cy="274320"/>
          </a:xfrm>
          <a:prstGeom prst="rect">
            <a:avLst/>
          </a:prstGeom>
          <a:noFill/>
          <a:ln/>
        </p:spPr>
        <p:txBody>
          <a:bodyPr wrap="square" lIns="0" tIns="0" rIns="0" bIns="0" rtlCol="0" anchor="t"/>
          <a:lstStyle/>
          <a:p>
            <a:pPr indent="0" marL="0">
              <a:buNone/>
            </a:pPr>
            <a:r>
              <a:rPr lang="en-US" sz="1100" dirty="0">
                <a:solidFill>
                  <a:srgbClr val="5B6B7B"/>
                </a:solidFill>
              </a:rPr>
              <a:t>Workbook 2, Table 38a and Figure 6a · splitting the training into L1 and L2 keeps the critical path; the buffer before M8 is 19 days</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Point 5 · Architecture changes from the HPC</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291840"/>
                <a:gridCol w="5971032"/>
                <a:gridCol w="1828800"/>
              </a:tblGrid>
              <a:tr h="365760">
                <a:tc>
                  <a:txBody>
                    <a:bodyPr/>
                    <a:lstStyle/>
                    <a:p>
                      <a:pPr indent="0" marL="0">
                        <a:buNone/>
                      </a:pPr>
                      <a:r>
                        <a:rPr lang="en-US" sz="1200" b="1" dirty="0">
                          <a:solidFill>
                            <a:srgbClr val="FFFFFF"/>
                          </a:solidFill>
                        </a:rPr>
                        <a:t>Measured on the cluster (Oct 26)</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rPr>
                        <a:t>Change to the architecture</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rPr>
                        <a:t>Where</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r>
              <a:tr h="502920">
                <a:tc>
                  <a:txBody>
                    <a:bodyPr/>
                    <a:lstStyle/>
                    <a:p>
                      <a:pPr indent="0" marL="0">
                        <a:buNone/>
                      </a:pPr>
                      <a:r>
                        <a:rPr lang="en-US" sz="1200" dirty="0">
                          <a:solidFill>
                            <a:srgbClr val="1B2A3A"/>
                          </a:solidFill>
                        </a:rPr>
                        <a:t>Compute nodes have no outbound network</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rPr>
                        <a:t>Every setup step split: fetch on the login node, build or run in a job, offline flags</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rPr>
                        <a:t>scripts/, slurm/</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B2A3A"/>
                          </a:solidFill>
                        </a:rPr>
                        <a:t>Jobs cannot reach an outside VM</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200" dirty="0">
                          <a:solidFill>
                            <a:srgbClr val="1B2A3A"/>
                          </a:solidFill>
                        </a:rPr>
                        <a:t>τ² simulated user moves to an A100 job inside the cluster; the GCP VM becomes the fallback (planned for M2)</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200" dirty="0">
                          <a:solidFill>
                            <a:srgbClr val="1B2A3A"/>
                          </a:solidFill>
                        </a:rPr>
                        <a:t>C4, DEP-3</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502920">
                <a:tc>
                  <a:txBody>
                    <a:bodyPr/>
                    <a:lstStyle/>
                    <a:p>
                      <a:pPr indent="0" marL="0">
                        <a:buNone/>
                      </a:pPr>
                      <a:r>
                        <a:rPr lang="en-US" sz="1200" dirty="0">
                          <a:solidFill>
                            <a:srgbClr val="1B2A3A"/>
                          </a:solidFill>
                        </a:rPr>
                        <a:t>No default walltime; gpuqs 2 d 1 h, gpuqm 7 d 1 h</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rPr>
                        <a:t>Every job sets -t; array tasks requeue themselves 180 s before the limit and resume; QAD checkpoints every 30 min</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rPr>
                        <a:t>C2, C9</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B2A3A"/>
                          </a:solidFill>
                        </a:rPr>
                        <a:t>GPUs and CPUs are not fenced</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200" dirty="0">
                          <a:solidFill>
                            <a:srgbClr val="1B2A3A"/>
                          </a:solidFill>
                        </a:rPr>
                        <a:t>Threads from SLURM_CPUS_PER_TASK; GPU, node and driver logged; exclusive nodes for cost runs</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200" dirty="0">
                          <a:solidFill>
                            <a:srgbClr val="1B2A3A"/>
                          </a:solidFill>
                        </a:rPr>
                        <a:t>hpc_env.sh, C5</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502920">
                <a:tc>
                  <a:txBody>
                    <a:bodyPr/>
                    <a:lstStyle/>
                    <a:p>
                      <a:pPr indent="0" marL="0">
                        <a:buNone/>
                      </a:pPr>
                      <a:r>
                        <a:rPr lang="en-US" sz="1200" dirty="0">
                          <a:solidFill>
                            <a:srgbClr val="1B2A3A"/>
                          </a:solidFill>
                        </a:rPr>
                        <a:t>Mixed GPUs and drivers (575.57, 590.44)</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rPr>
                        <a:t>One llama.cpp build for sm 60/80/90; GPU type a recorded factor; parity test per GPU type</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rPr>
                        <a:t>FR-E17</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B2A3A"/>
                          </a:solidFill>
                        </a:rPr>
                        <a:t>Home folder full; 12 TB group scratch</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200" dirty="0">
                          <a:solidFill>
                            <a:srgbClr val="1B2A3A"/>
                          </a:solidFill>
                        </a:rPr>
                        <a:t>Models, environments, caches and runs in /scratch/cmpe295-bertin, group-shared</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200" dirty="0">
                          <a:solidFill>
                            <a:srgbClr val="1B2A3A"/>
                          </a:solidFill>
                        </a:rPr>
                        <a:t>hpc_env.sh</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457200">
                <a:tc>
                  <a:txBody>
                    <a:bodyPr/>
                    <a:lstStyle/>
                    <a:p>
                      <a:pPr indent="0" marL="0">
                        <a:buNone/>
                      </a:pPr>
                      <a:r>
                        <a:rPr lang="en-US" sz="1200" dirty="0">
                          <a:solidFill>
                            <a:srgbClr val="1B2A3A"/>
                          </a:solidFill>
                        </a:rPr>
                        <a:t>At most 2 nodes per user (QOS)</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rPr>
                        <a:t>One configuration per GPU on 4-GPU A100 nodes: 4 at once, ~2 s per episode (P100 ~15 s)</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rPr>
                        <a:t>Slurm job (script not yet on main)</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B2A3A"/>
                          </a:solidFill>
                        </a:rPr>
                        <a:t>Node cs002 cannot start CUDA</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200" dirty="0">
                          <a:solidFill>
                            <a:srgbClr val="1B2A3A"/>
                          </a:solidFill>
                        </a:rPr>
                        <a:t>Excluded from A100 jobs; smoke test before each batch</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200" dirty="0">
                          <a:solidFill>
                            <a:srgbClr val="1B2A3A"/>
                          </a:solidFill>
                        </a:rPr>
                        <a:t>smoke_s1.sbatch</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bl>
          </a:graphicData>
        </a:graphic>
      </p:graphicFrame>
      <p:sp>
        <p:nvSpPr>
          <p:cNvPr id="4" name="Text 1"/>
          <p:cNvSpPr txBox="1"/>
          <p:nvPr/>
        </p:nvSpPr>
        <p:spPr>
          <a:xfrm>
            <a:off x="548640" y="5989320"/>
            <a:ext cx="11091672" cy="274320"/>
          </a:xfrm>
          <a:prstGeom prst="rect">
            <a:avLst/>
          </a:prstGeom>
          <a:noFill/>
          <a:ln/>
        </p:spPr>
        <p:txBody>
          <a:bodyPr wrap="square" lIns="0" tIns="0" rIns="0" bIns="0" rtlCol="0" anchor="t"/>
          <a:lstStyle/>
          <a:p>
            <a:pPr indent="0" marL="0">
              <a:buNone/>
            </a:pPr>
            <a:r>
              <a:rPr lang="en-US" sz="1100" dirty="0">
                <a:solidFill>
                  <a:srgbClr val="5B6B7B"/>
                </a:solidFill>
              </a:rPr>
              <a:t>Workbook 2, Table 19a · scripts on main</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Point 6 · A second domain: vision-language agents</a:t>
            </a:r>
            <a:endParaRPr lang="en-US" sz="3200" dirty="0"/>
          </a:p>
        </p:txBody>
      </p:sp>
      <p:sp>
        <p:nvSpPr>
          <p:cNvPr id="3" name="Shape 1"/>
          <p:cNvSpPr/>
          <p:nvPr/>
        </p:nvSpPr>
        <p:spPr>
          <a:xfrm>
            <a:off x="548640" y="1280160"/>
            <a:ext cx="5454396" cy="2103120"/>
          </a:xfrm>
          <a:prstGeom prst="roundRect">
            <a:avLst>
              <a:gd name="adj" fmla="val 3478"/>
            </a:avLst>
          </a:prstGeom>
          <a:solidFill>
            <a:srgbClr val="EAF2FA"/>
          </a:solidFill>
          <a:ln w="15875">
            <a:solidFill>
              <a:srgbClr val="1F77B4"/>
            </a:solidFill>
            <a:prstDash val="solid"/>
          </a:ln>
        </p:spPr>
      </p:sp>
      <p:sp>
        <p:nvSpPr>
          <p:cNvPr id="4" name="Text 2"/>
          <p:cNvSpPr txBox="1"/>
          <p:nvPr/>
        </p:nvSpPr>
        <p:spPr>
          <a:xfrm>
            <a:off x="731520" y="1417320"/>
            <a:ext cx="5088636" cy="365760"/>
          </a:xfrm>
          <a:prstGeom prst="rect">
            <a:avLst/>
          </a:prstGeom>
          <a:noFill/>
          <a:ln/>
        </p:spPr>
        <p:txBody>
          <a:bodyPr wrap="square" lIns="0" tIns="0" rIns="0" bIns="0" rtlCol="0" anchor="ctr"/>
          <a:lstStyle/>
          <a:p>
            <a:pPr indent="0" marL="0">
              <a:buNone/>
            </a:pPr>
            <a:r>
              <a:rPr lang="en-US" sz="1700" b="1" dirty="0">
                <a:solidFill>
                  <a:srgbClr val="1F77B4"/>
                </a:solidFill>
              </a:rPr>
              <a:t>What (FR-O6, RQ5)</a:t>
            </a:r>
            <a:endParaRPr lang="en-US" sz="1700" dirty="0"/>
          </a:p>
        </p:txBody>
      </p:sp>
      <p:sp>
        <p:nvSpPr>
          <p:cNvPr id="5" name="Text 3"/>
          <p:cNvSpPr txBox="1"/>
          <p:nvPr/>
        </p:nvSpPr>
        <p:spPr>
          <a:xfrm>
            <a:off x="731520" y="1828800"/>
            <a:ext cx="5088636" cy="1463040"/>
          </a:xfrm>
          <a:prstGeom prst="rect">
            <a:avLst/>
          </a:prstGeom>
          <a:noFill/>
          <a:ln/>
        </p:spPr>
        <p:txBody>
          <a:bodyPr wrap="square" lIns="0" tIns="0" rIns="0" bIns="0" rtlCol="0" anchor="t"/>
          <a:lstStyle/>
          <a:p>
            <a:pPr indent="0" marL="0">
              <a:buNone/>
            </a:pPr>
            <a:r>
              <a:rPr lang="en-US" sz="1400" dirty="0">
                <a:solidFill>
                  <a:srgbClr val="3A4A5C"/>
                </a:solidFill>
              </a:rPr>
              <a:t>One small open vision-language model as GGUF under the same 4-bit formats, on a visual tool-calling task set, with R1 and R2 applied unchanged and the same step classes and metrics.</a:t>
            </a:r>
            <a:endParaRPr lang="en-US" sz="1400" dirty="0"/>
          </a:p>
        </p:txBody>
      </p:sp>
      <p:sp>
        <p:nvSpPr>
          <p:cNvPr id="6" name="Shape 4"/>
          <p:cNvSpPr/>
          <p:nvPr/>
        </p:nvSpPr>
        <p:spPr>
          <a:xfrm>
            <a:off x="6185916" y="1280160"/>
            <a:ext cx="5454396" cy="2103120"/>
          </a:xfrm>
          <a:prstGeom prst="roundRect">
            <a:avLst>
              <a:gd name="adj" fmla="val 3478"/>
            </a:avLst>
          </a:prstGeom>
          <a:solidFill>
            <a:srgbClr val="FFFFFF"/>
          </a:solidFill>
          <a:ln w="15875">
            <a:solidFill>
              <a:srgbClr val="D5DAE1"/>
            </a:solidFill>
            <a:prstDash val="solid"/>
          </a:ln>
        </p:spPr>
      </p:sp>
      <p:sp>
        <p:nvSpPr>
          <p:cNvPr id="7" name="Text 5"/>
          <p:cNvSpPr txBox="1"/>
          <p:nvPr/>
        </p:nvSpPr>
        <p:spPr>
          <a:xfrm>
            <a:off x="6368796" y="1417320"/>
            <a:ext cx="5088636" cy="365760"/>
          </a:xfrm>
          <a:prstGeom prst="rect">
            <a:avLst/>
          </a:prstGeom>
          <a:noFill/>
          <a:ln/>
        </p:spPr>
        <p:txBody>
          <a:bodyPr wrap="square" lIns="0" tIns="0" rIns="0" bIns="0" rtlCol="0" anchor="ctr"/>
          <a:lstStyle/>
          <a:p>
            <a:pPr indent="0" marL="0">
              <a:buNone/>
            </a:pPr>
            <a:r>
              <a:rPr lang="en-US" sz="1700" b="1" dirty="0">
                <a:solidFill>
                  <a:srgbClr val="1B2A3A"/>
                </a:solidFill>
              </a:rPr>
              <a:t>Why not classic computer vision</a:t>
            </a:r>
            <a:endParaRPr lang="en-US" sz="1700" dirty="0"/>
          </a:p>
        </p:txBody>
      </p:sp>
      <p:sp>
        <p:nvSpPr>
          <p:cNvPr id="8" name="Text 6"/>
          <p:cNvSpPr txBox="1"/>
          <p:nvPr/>
        </p:nvSpPr>
        <p:spPr>
          <a:xfrm>
            <a:off x="6368796" y="1828800"/>
            <a:ext cx="5088636" cy="1463040"/>
          </a:xfrm>
          <a:prstGeom prst="rect">
            <a:avLst/>
          </a:prstGeom>
          <a:noFill/>
          <a:ln/>
        </p:spPr>
        <p:txBody>
          <a:bodyPr wrap="square" lIns="0" tIns="0" rIns="0" bIns="0" rtlCol="0" anchor="t"/>
          <a:lstStyle/>
          <a:p>
            <a:pPr indent="0" marL="0">
              <a:buNone/>
            </a:pPr>
            <a:r>
              <a:rPr lang="en-US" sz="1400" dirty="0">
                <a:solidFill>
                  <a:srgbClr val="3A4A5C"/>
                </a:solidFill>
              </a:rPr>
              <a:t>A CNN classifier has no tool calls for our repairs to fix. A tool-calling VLM reuses the testbed, the classifier and the repairs, so the comparison stays like for like.</a:t>
            </a:r>
            <a:endParaRPr lang="en-US" sz="1400" dirty="0"/>
          </a:p>
        </p:txBody>
      </p:sp>
      <p:sp>
        <p:nvSpPr>
          <p:cNvPr id="9" name="Shape 7"/>
          <p:cNvSpPr/>
          <p:nvPr/>
        </p:nvSpPr>
        <p:spPr>
          <a:xfrm>
            <a:off x="548640" y="3611880"/>
            <a:ext cx="11091672" cy="1280160"/>
          </a:xfrm>
          <a:prstGeom prst="roundRect">
            <a:avLst>
              <a:gd name="adj" fmla="val 5714"/>
            </a:avLst>
          </a:prstGeom>
          <a:solidFill>
            <a:srgbClr val="1B2A3A"/>
          </a:solidFill>
          <a:ln w="12700">
            <a:solidFill>
              <a:srgbClr val="1B2A3A"/>
            </a:solidFill>
            <a:prstDash val="solid"/>
          </a:ln>
        </p:spPr>
      </p:sp>
      <p:sp>
        <p:nvSpPr>
          <p:cNvPr id="10" name="Text 8"/>
          <p:cNvSpPr txBox="1"/>
          <p:nvPr/>
        </p:nvSpPr>
        <p:spPr>
          <a:xfrm>
            <a:off x="822960" y="3611880"/>
            <a:ext cx="10543032" cy="1280160"/>
          </a:xfrm>
          <a:prstGeom prst="rect">
            <a:avLst/>
          </a:prstGeom>
          <a:noFill/>
          <a:ln/>
        </p:spPr>
        <p:txBody>
          <a:bodyPr wrap="square" lIns="0" tIns="0" rIns="0" bIns="0" rtlCol="0" anchor="ctr"/>
          <a:lstStyle/>
          <a:p>
            <a:pPr indent="0" marL="0">
              <a:buNone/>
            </a:pPr>
            <a:r>
              <a:rPr lang="en-US" sz="1700" b="1" dirty="0">
                <a:solidFill>
                  <a:srgbClr val="FFFFFF"/>
                </a:solidFill>
              </a:rPr>
              <a:t>Guardrails: </a:t>
            </a:r>
            <a:pPr indent="0" marL="0">
              <a:buNone/>
            </a:pPr>
            <a:r>
              <a:rPr lang="en-US" sz="1700" dirty="0">
                <a:solidFill>
                  <a:srgbClr val="FFFFFF"/>
                </a:solidFill>
              </a:rPr>
              <a:t>no work before M5 · a one-day spike (S11) checks that llama.cpp serves the model on a P100 and that a scored task set exists · go/no-go at M6 (Feb 5) · if dropped, BFCL and τ² carry RQ1–RQ4 · the QAD work (K, L1, L2) is unaffected</a:t>
            </a:r>
            <a:endParaRPr lang="en-US" sz="1700" dirty="0"/>
          </a:p>
        </p:txBody>
      </p:sp>
      <p:sp>
        <p:nvSpPr>
          <p:cNvPr id="11" name="Text 9"/>
          <p:cNvSpPr txBox="1"/>
          <p:nvPr/>
        </p:nvSpPr>
        <p:spPr>
          <a:xfrm>
            <a:off x="548640" y="5989320"/>
            <a:ext cx="11091672" cy="274320"/>
          </a:xfrm>
          <a:prstGeom prst="rect">
            <a:avLst/>
          </a:prstGeom>
          <a:noFill/>
          <a:ln/>
        </p:spPr>
        <p:txBody>
          <a:bodyPr wrap="square" lIns="0" tIns="0" rIns="0" bIns="0" rtlCol="0" anchor="t"/>
          <a:lstStyle/>
          <a:p>
            <a:pPr indent="0" marL="0">
              <a:buNone/>
            </a:pPr>
            <a:r>
              <a:rPr lang="en-US" sz="1100" dirty="0">
                <a:solidFill>
                  <a:srgbClr val="5B6B7B"/>
                </a:solidFill>
              </a:rPr>
              <a:t>Workbook 2, Table 8 (FR-O6) and Schedule Risks</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M1 results (development data)</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035040" cy="914400"/>
        </p:xfrm>
        <a:graphic>
          <a:graphicData uri="http://schemas.openxmlformats.org/drawingml/2006/table">
            <a:tbl>
              <a:tblPr/>
              <a:tblGrid>
                <a:gridCol w="2560320"/>
                <a:gridCol w="1828800"/>
                <a:gridCol w="1645920"/>
              </a:tblGrid>
              <a:tr h="365760">
                <a:tc>
                  <a:txBody>
                    <a:bodyPr/>
                    <a:lstStyle/>
                    <a:p>
                      <a:pPr indent="0" marL="0">
                        <a:buNone/>
                      </a:pPr>
                      <a:r>
                        <a:rPr lang="en-US" sz="1300" b="1" dirty="0">
                          <a:solidFill>
                            <a:srgbClr val="FFFFFF"/>
                          </a:solidFill>
                        </a:rPr>
                        <a:t>Configuration (Qwen3-0.6B)</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300" b="1" dirty="0">
                          <a:solidFill>
                            <a:srgbClr val="FFFFFF"/>
                          </a:solidFill>
                        </a:rPr>
                        <a:t>BFCL multi-turn (20 tasks)</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300" b="1" dirty="0">
                          <a:solidFill>
                            <a:srgbClr val="FFFFFF"/>
                          </a:solidFill>
                        </a:rPr>
                        <a:t>τ² airline (3 tasks)</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r>
              <a:tr h="365760">
                <a:tc>
                  <a:txBody>
                    <a:bodyPr/>
                    <a:lstStyle/>
                    <a:p>
                      <a:pPr indent="0" marL="0">
                        <a:buNone/>
                      </a:pPr>
                      <a:r>
                        <a:rPr lang="en-US" sz="1300" dirty="0">
                          <a:solidFill>
                            <a:srgbClr val="1B2A3A"/>
                          </a:solidFill>
                        </a:rPr>
                        <a:t>BF16, CUDA</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rPr>
                        <a:t>0 of 40</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rPr>
                        <a:t>0 of 6</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A3A"/>
                          </a:solidFill>
                        </a:rPr>
                        <a:t>Q4_K_M, CUDA</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300" dirty="0">
                          <a:solidFill>
                            <a:srgbClr val="1B2A3A"/>
                          </a:solidFill>
                        </a:rPr>
                        <a:t>0 of 40</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300" dirty="0">
                          <a:solidFill>
                            <a:srgbClr val="1B2A3A"/>
                          </a:solidFill>
                        </a:rPr>
                        <a:t>0 of 6</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365760">
                <a:tc>
                  <a:txBody>
                    <a:bodyPr/>
                    <a:lstStyle/>
                    <a:p>
                      <a:pPr indent="0" marL="0">
                        <a:buNone/>
                      </a:pPr>
                      <a:r>
                        <a:rPr lang="en-US" sz="1300" dirty="0">
                          <a:solidFill>
                            <a:srgbClr val="1B2A3A"/>
                          </a:solidFill>
                        </a:rPr>
                        <a:t>Q4_0, CUDA</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rPr>
                        <a:t>0 of 40</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rPr>
                        <a:t>0 of 6</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A3A"/>
                          </a:solidFill>
                        </a:rPr>
                        <a:t>Q4_0, CPU</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300" dirty="0">
                          <a:solidFill>
                            <a:srgbClr val="1B2A3A"/>
                          </a:solidFill>
                        </a:rPr>
                        <a:t>0 of 40</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300" dirty="0">
                          <a:solidFill>
                            <a:srgbClr val="1B2A3A"/>
                          </a:solidFill>
                        </a:rPr>
                        <a:t>0 of 6</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365760">
                <a:tc>
                  <a:txBody>
                    <a:bodyPr/>
                    <a:lstStyle/>
                    <a:p>
                      <a:pPr indent="0" marL="0">
                        <a:buNone/>
                      </a:pPr>
                      <a:r>
                        <a:rPr lang="en-US" sz="1300" dirty="0">
                          <a:solidFill>
                            <a:srgbClr val="1B2A3A"/>
                          </a:solidFill>
                        </a:rPr>
                        <a:t>R1: Q4_0 + grammar</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rPr>
                        <a:t>0 of 20</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rPr>
                        <a:t>0 of 3</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B2A3A"/>
                          </a:solidFill>
                        </a:rPr>
                        <a:t>R2: Q8_0</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300" dirty="0">
                          <a:solidFill>
                            <a:srgbClr val="1B2A3A"/>
                          </a:solidFill>
                        </a:rPr>
                        <a:t>0 of 20</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300" dirty="0">
                          <a:solidFill>
                            <a:srgbClr val="1B2A3A"/>
                          </a:solidFill>
                        </a:rPr>
                        <a:t>0 of 3</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365760">
                <a:tc>
                  <a:txBody>
                    <a:bodyPr/>
                    <a:lstStyle/>
                    <a:p>
                      <a:pPr indent="0" marL="0">
                        <a:buNone/>
                      </a:pPr>
                      <a:r>
                        <a:rPr lang="en-US" sz="1300" dirty="0">
                          <a:solidFill>
                            <a:srgbClr val="1B2A3A"/>
                          </a:solidFill>
                        </a:rPr>
                        <a:t>R3: toy QAD Q4_0</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rPr>
                        <a:t>0 of 20</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300" dirty="0">
                          <a:solidFill>
                            <a:srgbClr val="1B2A3A"/>
                          </a:solidFill>
                        </a:rPr>
                        <a:t>0 of 2 (1 pending)</a:t>
                      </a:r>
                      <a:endParaRPr lang="en-US" sz="13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4" name="Shape 1"/>
          <p:cNvSpPr/>
          <p:nvPr/>
        </p:nvSpPr>
        <p:spPr>
          <a:xfrm>
            <a:off x="6812280" y="1280160"/>
            <a:ext cx="2345436" cy="1600200"/>
          </a:xfrm>
          <a:prstGeom prst="roundRect">
            <a:avLst>
              <a:gd name="adj" fmla="val 4571"/>
            </a:avLst>
          </a:prstGeom>
          <a:solidFill>
            <a:srgbClr val="F2F4F7"/>
          </a:solidFill>
          <a:ln w="15875">
            <a:solidFill>
              <a:srgbClr val="F2F4F7"/>
            </a:solidFill>
            <a:prstDash val="solid"/>
          </a:ln>
        </p:spPr>
      </p:sp>
      <p:sp>
        <p:nvSpPr>
          <p:cNvPr id="5" name="Text 2"/>
          <p:cNvSpPr txBox="1"/>
          <p:nvPr/>
        </p:nvSpPr>
        <p:spPr>
          <a:xfrm>
            <a:off x="6995160" y="1463040"/>
            <a:ext cx="1979676" cy="685800"/>
          </a:xfrm>
          <a:prstGeom prst="rect">
            <a:avLst/>
          </a:prstGeom>
          <a:noFill/>
          <a:ln/>
        </p:spPr>
        <p:txBody>
          <a:bodyPr wrap="square" lIns="0" tIns="0" rIns="0" bIns="0" rtlCol="0" anchor="ctr"/>
          <a:lstStyle/>
          <a:p>
            <a:pPr indent="0" marL="0">
              <a:buNone/>
            </a:pPr>
            <a:r>
              <a:rPr lang="en-US" sz="2600" b="1" dirty="0">
                <a:solidFill>
                  <a:srgbClr val="C8102E"/>
                </a:solidFill>
              </a:rPr>
              <a:t>6 → 12 → 29</a:t>
            </a:r>
            <a:endParaRPr lang="en-US" sz="2600" dirty="0"/>
          </a:p>
        </p:txBody>
      </p:sp>
      <p:sp>
        <p:nvSpPr>
          <p:cNvPr id="6" name="Text 3"/>
          <p:cNvSpPr txBox="1"/>
          <p:nvPr/>
        </p:nvSpPr>
        <p:spPr>
          <a:xfrm>
            <a:off x="6995160" y="2194560"/>
            <a:ext cx="1979676" cy="548640"/>
          </a:xfrm>
          <a:prstGeom prst="rect">
            <a:avLst/>
          </a:prstGeom>
          <a:noFill/>
          <a:ln/>
        </p:spPr>
        <p:txBody>
          <a:bodyPr wrap="square" lIns="0" tIns="0" rIns="0" bIns="0" rtlCol="0" anchor="t"/>
          <a:lstStyle/>
          <a:p>
            <a:pPr indent="0" marL="0">
              <a:buNone/>
            </a:pPr>
            <a:r>
              <a:rPr lang="en-US" sz="1400" dirty="0">
                <a:solidFill>
                  <a:srgbClr val="3A4A5C"/>
                </a:solidFill>
              </a:rPr>
              <a:t>Missing calls, BF16 → Q4_K_M → Q4_0</a:t>
            </a:r>
            <a:endParaRPr lang="en-US" sz="1400" dirty="0"/>
          </a:p>
        </p:txBody>
      </p:sp>
      <p:sp>
        <p:nvSpPr>
          <p:cNvPr id="7" name="Shape 4"/>
          <p:cNvSpPr/>
          <p:nvPr/>
        </p:nvSpPr>
        <p:spPr>
          <a:xfrm>
            <a:off x="9294876" y="1280160"/>
            <a:ext cx="2345436" cy="1600200"/>
          </a:xfrm>
          <a:prstGeom prst="roundRect">
            <a:avLst>
              <a:gd name="adj" fmla="val 4571"/>
            </a:avLst>
          </a:prstGeom>
          <a:solidFill>
            <a:srgbClr val="F2F4F7"/>
          </a:solidFill>
          <a:ln w="15875">
            <a:solidFill>
              <a:srgbClr val="F2F4F7"/>
            </a:solidFill>
            <a:prstDash val="solid"/>
          </a:ln>
        </p:spPr>
      </p:sp>
      <p:sp>
        <p:nvSpPr>
          <p:cNvPr id="8" name="Text 5"/>
          <p:cNvSpPr txBox="1"/>
          <p:nvPr/>
        </p:nvSpPr>
        <p:spPr>
          <a:xfrm>
            <a:off x="9477756" y="1463040"/>
            <a:ext cx="1979676" cy="685800"/>
          </a:xfrm>
          <a:prstGeom prst="rect">
            <a:avLst/>
          </a:prstGeom>
          <a:noFill/>
          <a:ln/>
        </p:spPr>
        <p:txBody>
          <a:bodyPr wrap="square" lIns="0" tIns="0" rIns="0" bIns="0" rtlCol="0" anchor="ctr"/>
          <a:lstStyle/>
          <a:p>
            <a:pPr indent="0" marL="0">
              <a:buNone/>
            </a:pPr>
            <a:r>
              <a:rPr lang="en-US" sz="3400" b="1" dirty="0">
                <a:solidFill>
                  <a:srgbClr val="1A9E6A"/>
                </a:solidFill>
              </a:rPr>
              <a:t>10 → 0</a:t>
            </a:r>
            <a:endParaRPr lang="en-US" sz="3400" dirty="0"/>
          </a:p>
        </p:txBody>
      </p:sp>
      <p:sp>
        <p:nvSpPr>
          <p:cNvPr id="9" name="Text 6"/>
          <p:cNvSpPr txBox="1"/>
          <p:nvPr/>
        </p:nvSpPr>
        <p:spPr>
          <a:xfrm>
            <a:off x="9477756" y="2194560"/>
            <a:ext cx="1979676" cy="548640"/>
          </a:xfrm>
          <a:prstGeom prst="rect">
            <a:avLst/>
          </a:prstGeom>
          <a:noFill/>
          <a:ln/>
        </p:spPr>
        <p:txBody>
          <a:bodyPr wrap="square" lIns="0" tIns="0" rIns="0" bIns="0" rtlCol="0" anchor="t"/>
          <a:lstStyle/>
          <a:p>
            <a:pPr indent="0" marL="0">
              <a:buNone/>
            </a:pPr>
            <a:r>
              <a:rPr lang="en-US" sz="1400" dirty="0">
                <a:solidFill>
                  <a:srgbClr val="3A4A5C"/>
                </a:solidFill>
              </a:rPr>
              <a:t>Invalid-argument steps with R1</a:t>
            </a:r>
            <a:endParaRPr lang="en-US" sz="1400" dirty="0"/>
          </a:p>
        </p:txBody>
      </p:sp>
      <p:sp>
        <p:nvSpPr>
          <p:cNvPr id="10" name="Shape 7"/>
          <p:cNvSpPr/>
          <p:nvPr/>
        </p:nvSpPr>
        <p:spPr>
          <a:xfrm>
            <a:off x="6812280" y="3017520"/>
            <a:ext cx="2345436" cy="1600200"/>
          </a:xfrm>
          <a:prstGeom prst="roundRect">
            <a:avLst>
              <a:gd name="adj" fmla="val 4571"/>
            </a:avLst>
          </a:prstGeom>
          <a:solidFill>
            <a:srgbClr val="F2F4F7"/>
          </a:solidFill>
          <a:ln w="15875">
            <a:solidFill>
              <a:srgbClr val="F2F4F7"/>
            </a:solidFill>
            <a:prstDash val="solid"/>
          </a:ln>
        </p:spPr>
      </p:sp>
      <p:sp>
        <p:nvSpPr>
          <p:cNvPr id="11" name="Text 8"/>
          <p:cNvSpPr txBox="1"/>
          <p:nvPr/>
        </p:nvSpPr>
        <p:spPr>
          <a:xfrm>
            <a:off x="6995160" y="3200400"/>
            <a:ext cx="1979676" cy="685800"/>
          </a:xfrm>
          <a:prstGeom prst="rect">
            <a:avLst/>
          </a:prstGeom>
          <a:noFill/>
          <a:ln/>
        </p:spPr>
        <p:txBody>
          <a:bodyPr wrap="square" lIns="0" tIns="0" rIns="0" bIns="0" rtlCol="0" anchor="ctr"/>
          <a:lstStyle/>
          <a:p>
            <a:pPr indent="0" marL="0">
              <a:buNone/>
            </a:pPr>
            <a:r>
              <a:rPr lang="en-US" sz="3400" b="1" dirty="0">
                <a:solidFill>
                  <a:srgbClr val="C8102E"/>
                </a:solidFill>
              </a:rPr>
              <a:t>0 → 6</a:t>
            </a:r>
            <a:endParaRPr lang="en-US" sz="3400" dirty="0"/>
          </a:p>
        </p:txBody>
      </p:sp>
      <p:sp>
        <p:nvSpPr>
          <p:cNvPr id="12" name="Text 9"/>
          <p:cNvSpPr txBox="1"/>
          <p:nvPr/>
        </p:nvSpPr>
        <p:spPr>
          <a:xfrm>
            <a:off x="6995160" y="3931920"/>
            <a:ext cx="1979676" cy="548640"/>
          </a:xfrm>
          <a:prstGeom prst="rect">
            <a:avLst/>
          </a:prstGeom>
          <a:noFill/>
          <a:ln/>
        </p:spPr>
        <p:txBody>
          <a:bodyPr wrap="square" lIns="0" tIns="0" rIns="0" bIns="0" rtlCol="0" anchor="t"/>
          <a:lstStyle/>
          <a:p>
            <a:pPr indent="0" marL="0">
              <a:buNone/>
            </a:pPr>
            <a:r>
              <a:rPr lang="en-US" sz="1400" dirty="0">
                <a:solidFill>
                  <a:srgbClr val="3A4A5C"/>
                </a:solidFill>
              </a:rPr>
              <a:t>Malformed calls, BF16 → Q4_0</a:t>
            </a:r>
            <a:endParaRPr lang="en-US" sz="1400" dirty="0"/>
          </a:p>
        </p:txBody>
      </p:sp>
      <p:sp>
        <p:nvSpPr>
          <p:cNvPr id="13" name="Shape 10"/>
          <p:cNvSpPr/>
          <p:nvPr/>
        </p:nvSpPr>
        <p:spPr>
          <a:xfrm>
            <a:off x="9294876" y="3017520"/>
            <a:ext cx="2345436" cy="1600200"/>
          </a:xfrm>
          <a:prstGeom prst="roundRect">
            <a:avLst>
              <a:gd name="adj" fmla="val 4571"/>
            </a:avLst>
          </a:prstGeom>
          <a:solidFill>
            <a:srgbClr val="F2F4F7"/>
          </a:solidFill>
          <a:ln w="15875">
            <a:solidFill>
              <a:srgbClr val="F2F4F7"/>
            </a:solidFill>
            <a:prstDash val="solid"/>
          </a:ln>
        </p:spPr>
      </p:sp>
      <p:sp>
        <p:nvSpPr>
          <p:cNvPr id="14" name="Text 11"/>
          <p:cNvSpPr txBox="1"/>
          <p:nvPr/>
        </p:nvSpPr>
        <p:spPr>
          <a:xfrm>
            <a:off x="9477756" y="3200400"/>
            <a:ext cx="1979676" cy="685800"/>
          </a:xfrm>
          <a:prstGeom prst="rect">
            <a:avLst/>
          </a:prstGeom>
          <a:noFill/>
          <a:ln/>
        </p:spPr>
        <p:txBody>
          <a:bodyPr wrap="square" lIns="0" tIns="0" rIns="0" bIns="0" rtlCol="0" anchor="ctr"/>
          <a:lstStyle/>
          <a:p>
            <a:pPr indent="0" marL="0">
              <a:buNone/>
            </a:pPr>
            <a:r>
              <a:rPr lang="en-US" sz="3400" b="1" dirty="0">
                <a:solidFill>
                  <a:srgbClr val="1F77B4"/>
                </a:solidFill>
              </a:rPr>
              <a:t>32%</a:t>
            </a:r>
            <a:endParaRPr lang="en-US" sz="3400" dirty="0"/>
          </a:p>
        </p:txBody>
      </p:sp>
      <p:sp>
        <p:nvSpPr>
          <p:cNvPr id="15" name="Text 12"/>
          <p:cNvSpPr txBox="1"/>
          <p:nvPr/>
        </p:nvSpPr>
        <p:spPr>
          <a:xfrm>
            <a:off x="9477756" y="3931920"/>
            <a:ext cx="1979676" cy="548640"/>
          </a:xfrm>
          <a:prstGeom prst="rect">
            <a:avLst/>
          </a:prstGeom>
          <a:noFill/>
          <a:ln/>
        </p:spPr>
        <p:txBody>
          <a:bodyPr wrap="square" lIns="0" tIns="0" rIns="0" bIns="0" rtlCol="0" anchor="t"/>
          <a:lstStyle/>
          <a:p>
            <a:pPr indent="0" marL="0">
              <a:buNone/>
            </a:pPr>
            <a:r>
              <a:rPr lang="en-US" sz="1400" dirty="0">
                <a:solidFill>
                  <a:srgbClr val="3A4A5C"/>
                </a:solidFill>
              </a:rPr>
              <a:t>Q4_0 steps identical on CPU and CUDA</a:t>
            </a:r>
            <a:endParaRPr lang="en-US" sz="1400" dirty="0"/>
          </a:p>
        </p:txBody>
      </p:sp>
      <p:sp>
        <p:nvSpPr>
          <p:cNvPr id="16" name="Shape 13"/>
          <p:cNvSpPr/>
          <p:nvPr/>
        </p:nvSpPr>
        <p:spPr>
          <a:xfrm>
            <a:off x="6812280" y="4754880"/>
            <a:ext cx="4828032" cy="1051560"/>
          </a:xfrm>
          <a:prstGeom prst="roundRect">
            <a:avLst>
              <a:gd name="adj" fmla="val 6957"/>
            </a:avLst>
          </a:prstGeom>
          <a:solidFill>
            <a:srgbClr val="FDF1EA"/>
          </a:solidFill>
          <a:ln w="15875">
            <a:solidFill>
              <a:srgbClr val="E8622C"/>
            </a:solidFill>
            <a:prstDash val="solid"/>
          </a:ln>
        </p:spPr>
      </p:sp>
      <p:sp>
        <p:nvSpPr>
          <p:cNvPr id="17" name="Text 14"/>
          <p:cNvSpPr txBox="1"/>
          <p:nvPr/>
        </p:nvSpPr>
        <p:spPr>
          <a:xfrm>
            <a:off x="6995160" y="4892040"/>
            <a:ext cx="4462272" cy="365760"/>
          </a:xfrm>
          <a:prstGeom prst="rect">
            <a:avLst/>
          </a:prstGeom>
          <a:noFill/>
          <a:ln/>
        </p:spPr>
        <p:txBody>
          <a:bodyPr wrap="square" lIns="0" tIns="0" rIns="0" bIns="0" rtlCol="0" anchor="ctr"/>
          <a:lstStyle/>
          <a:p>
            <a:pPr indent="0" marL="0">
              <a:buNone/>
            </a:pPr>
            <a:r>
              <a:rPr lang="en-US" sz="1700" b="1" dirty="0">
                <a:solidFill>
                  <a:srgbClr val="E8622C"/>
                </a:solidFill>
              </a:rPr>
              <a:t>Implication for M2</a:t>
            </a:r>
            <a:endParaRPr lang="en-US" sz="1700" dirty="0"/>
          </a:p>
        </p:txBody>
      </p:sp>
      <p:sp>
        <p:nvSpPr>
          <p:cNvPr id="18" name="Text 15"/>
          <p:cNvSpPr txBox="1"/>
          <p:nvPr/>
        </p:nvSpPr>
        <p:spPr>
          <a:xfrm>
            <a:off x="6995160" y="5303520"/>
            <a:ext cx="4462272" cy="411480"/>
          </a:xfrm>
          <a:prstGeom prst="rect">
            <a:avLst/>
          </a:prstGeom>
          <a:noFill/>
          <a:ln/>
        </p:spPr>
        <p:txBody>
          <a:bodyPr wrap="square" lIns="0" tIns="0" rIns="0" bIns="0" rtlCol="0" anchor="t"/>
          <a:lstStyle/>
          <a:p>
            <a:pPr indent="0" marL="0">
              <a:buNone/>
            </a:pPr>
            <a:r>
              <a:rPr lang="en-US" sz="1400" dirty="0">
                <a:solidFill>
                  <a:srgbClr val="3A4A5C"/>
                </a:solidFill>
              </a:rPr>
              <a:t>Step-level outcomes become the primary outcome; backend recorded as a factor</a:t>
            </a:r>
            <a:endParaRPr lang="en-US" sz="1400" dirty="0"/>
          </a:p>
        </p:txBody>
      </p:sp>
      <p:sp>
        <p:nvSpPr>
          <p:cNvPr id="19" name="Text 16"/>
          <p:cNvSpPr txBox="1"/>
          <p:nvPr/>
        </p:nvSpPr>
        <p:spPr>
          <a:xfrm>
            <a:off x="548640" y="5989320"/>
            <a:ext cx="11091672" cy="274320"/>
          </a:xfrm>
          <a:prstGeom prst="rect">
            <a:avLst/>
          </a:prstGeom>
          <a:noFill/>
          <a:ln/>
        </p:spPr>
        <p:txBody>
          <a:bodyPr wrap="square" lIns="0" tIns="0" rIns="0" bIns="0" rtlCol="0" anchor="t"/>
          <a:lstStyle/>
          <a:p>
            <a:pPr indent="0" marL="0">
              <a:buNone/>
            </a:pPr>
            <a:r>
              <a:rPr lang="en-US" sz="1100" dirty="0">
                <a:solidFill>
                  <a:srgbClr val="5B6B7B"/>
                </a:solidFill>
              </a:rPr>
              <a:t>Valid episodes out of episodes run (2 seeds) · Colab, Oct 24–26 · development data · Workbook 2, Table 36a</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First damage results: Qwen3-0.6B on 200 BFCL tasks</a:t>
            </a:r>
            <a:endParaRPr lang="en-US" sz="3200" dirty="0"/>
          </a:p>
        </p:txBody>
      </p:sp>
      <p:sp>
        <p:nvSpPr>
          <p:cNvPr id="3" name="Shape 1"/>
          <p:cNvSpPr/>
          <p:nvPr/>
        </p:nvSpPr>
        <p:spPr>
          <a:xfrm>
            <a:off x="548640" y="1188720"/>
            <a:ext cx="7498080" cy="4069080"/>
          </a:xfrm>
          <a:prstGeom prst="rect">
            <a:avLst/>
          </a:prstGeom>
          <a:solidFill>
            <a:srgbClr val="FFFFFF"/>
          </a:solidFill>
          <a:ln w="9525">
            <a:solidFill>
              <a:srgbClr val="D5DAE1"/>
            </a:solidFill>
            <a:prstDash val="solid"/>
          </a:ln>
        </p:spPr>
      </p:sp>
      <p:pic>
        <p:nvPicPr>
          <p:cNvPr id="4" name="Image 0" descr="Failed steps per 100 steps by failure type for BF16, Q4_K_M, Q4_0, Q4_0 with R1, and Q8_0, with 95% bootstrap intervals">    </p:cNvPr>
          <p:cNvPicPr>
            <a:picLocks noChangeAspect="1"/>
          </p:cNvPicPr>
          <p:nvPr/>
        </p:nvPicPr>
        <p:blipFill>
          <a:blip r:embed="rId1"/>
          <a:stretch>
            <a:fillRect/>
          </a:stretch>
        </p:blipFill>
        <p:spPr>
          <a:xfrm>
            <a:off x="594360" y="1270600"/>
            <a:ext cx="7406640" cy="3905319"/>
          </a:xfrm>
          <a:prstGeom prst="rect">
            <a:avLst/>
          </a:prstGeom>
        </p:spPr>
      </p:pic>
      <p:sp>
        <p:nvSpPr>
          <p:cNvPr id="5" name="Shape 2"/>
          <p:cNvSpPr/>
          <p:nvPr/>
        </p:nvSpPr>
        <p:spPr>
          <a:xfrm>
            <a:off x="8229600" y="1188720"/>
            <a:ext cx="3410712" cy="1280160"/>
          </a:xfrm>
          <a:prstGeom prst="roundRect">
            <a:avLst>
              <a:gd name="adj" fmla="val 5714"/>
            </a:avLst>
          </a:prstGeom>
          <a:solidFill>
            <a:srgbClr val="FBEAEC"/>
          </a:solidFill>
          <a:ln w="15875">
            <a:solidFill>
              <a:srgbClr val="C8102E"/>
            </a:solidFill>
            <a:prstDash val="solid"/>
          </a:ln>
        </p:spPr>
      </p:sp>
      <p:sp>
        <p:nvSpPr>
          <p:cNvPr id="6" name="Text 3"/>
          <p:cNvSpPr txBox="1"/>
          <p:nvPr/>
        </p:nvSpPr>
        <p:spPr>
          <a:xfrm>
            <a:off x="8412480" y="1325880"/>
            <a:ext cx="3044952" cy="365760"/>
          </a:xfrm>
          <a:prstGeom prst="rect">
            <a:avLst/>
          </a:prstGeom>
          <a:noFill/>
          <a:ln/>
        </p:spPr>
        <p:txBody>
          <a:bodyPr wrap="square" lIns="0" tIns="0" rIns="0" bIns="0" rtlCol="0" anchor="ctr"/>
          <a:lstStyle/>
          <a:p>
            <a:pPr indent="0" marL="0">
              <a:buNone/>
            </a:pPr>
            <a:r>
              <a:rPr lang="en-US" sz="1700" b="1" dirty="0">
                <a:solidFill>
                  <a:srgbClr val="C8102E"/>
                </a:solidFill>
              </a:rPr>
              <a:t>Missing calls by format</a:t>
            </a:r>
            <a:endParaRPr lang="en-US" sz="1700" dirty="0"/>
          </a:p>
        </p:txBody>
      </p:sp>
      <p:sp>
        <p:nvSpPr>
          <p:cNvPr id="7" name="Text 4"/>
          <p:cNvSpPr txBox="1"/>
          <p:nvPr/>
        </p:nvSpPr>
        <p:spPr>
          <a:xfrm>
            <a:off x="8412480" y="1737360"/>
            <a:ext cx="3044952" cy="640080"/>
          </a:xfrm>
          <a:prstGeom prst="rect">
            <a:avLst/>
          </a:prstGeom>
          <a:noFill/>
          <a:ln/>
        </p:spPr>
        <p:txBody>
          <a:bodyPr wrap="square" lIns="0" tIns="0" rIns="0" bIns="0" rtlCol="0" anchor="t"/>
          <a:lstStyle/>
          <a:p>
            <a:pPr indent="0" marL="0">
              <a:buNone/>
            </a:pPr>
            <a:r>
              <a:rPr lang="en-US" sz="1400" dirty="0">
                <a:solidFill>
                  <a:srgbClr val="3A4A5C"/>
                </a:solidFill>
              </a:rPr>
              <a:t>Per 100 steps: BF16 5.9 [4.7–7.4] · Q4_K_M 11.4 [9.3–13.7] · Q4_0 31.0 [26.8–35.5]</a:t>
            </a:r>
            <a:endParaRPr lang="en-US" sz="1400" dirty="0"/>
          </a:p>
        </p:txBody>
      </p:sp>
      <p:sp>
        <p:nvSpPr>
          <p:cNvPr id="8" name="Shape 5"/>
          <p:cNvSpPr/>
          <p:nvPr/>
        </p:nvSpPr>
        <p:spPr>
          <a:xfrm>
            <a:off x="8229600" y="2606040"/>
            <a:ext cx="3410712" cy="1280160"/>
          </a:xfrm>
          <a:prstGeom prst="roundRect">
            <a:avLst>
              <a:gd name="adj" fmla="val 5714"/>
            </a:avLst>
          </a:prstGeom>
          <a:solidFill>
            <a:srgbClr val="EAF2FA"/>
          </a:solidFill>
          <a:ln w="15875">
            <a:solidFill>
              <a:srgbClr val="1F77B4"/>
            </a:solidFill>
            <a:prstDash val="solid"/>
          </a:ln>
        </p:spPr>
      </p:sp>
      <p:sp>
        <p:nvSpPr>
          <p:cNvPr id="9" name="Text 6"/>
          <p:cNvSpPr txBox="1"/>
          <p:nvPr/>
        </p:nvSpPr>
        <p:spPr>
          <a:xfrm>
            <a:off x="8412480" y="2743200"/>
            <a:ext cx="3044952" cy="365760"/>
          </a:xfrm>
          <a:prstGeom prst="rect">
            <a:avLst/>
          </a:prstGeom>
          <a:noFill/>
          <a:ln/>
        </p:spPr>
        <p:txBody>
          <a:bodyPr wrap="square" lIns="0" tIns="0" rIns="0" bIns="0" rtlCol="0" anchor="ctr"/>
          <a:lstStyle/>
          <a:p>
            <a:pPr indent="0" marL="0">
              <a:buNone/>
            </a:pPr>
            <a:r>
              <a:rPr lang="en-US" sz="1700" b="1" dirty="0">
                <a:solidFill>
                  <a:srgbClr val="1F77B4"/>
                </a:solidFill>
              </a:rPr>
              <a:t>Effect of R1 (grammar)</a:t>
            </a:r>
            <a:endParaRPr lang="en-US" sz="1700" dirty="0"/>
          </a:p>
        </p:txBody>
      </p:sp>
      <p:sp>
        <p:nvSpPr>
          <p:cNvPr id="10" name="Text 7"/>
          <p:cNvSpPr txBox="1"/>
          <p:nvPr/>
        </p:nvSpPr>
        <p:spPr>
          <a:xfrm>
            <a:off x="8412480" y="3154680"/>
            <a:ext cx="3044952" cy="640080"/>
          </a:xfrm>
          <a:prstGeom prst="rect">
            <a:avLst/>
          </a:prstGeom>
          <a:noFill/>
          <a:ln/>
        </p:spPr>
        <p:txBody>
          <a:bodyPr wrap="square" lIns="0" tIns="0" rIns="0" bIns="0" rtlCol="0" anchor="t"/>
          <a:lstStyle/>
          <a:p>
            <a:pPr indent="0" marL="0">
              <a:buNone/>
            </a:pPr>
            <a:r>
              <a:rPr lang="en-US" sz="1400" dirty="0">
                <a:solidFill>
                  <a:srgbClr val="3A4A5C"/>
                </a:solidFill>
              </a:rPr>
              <a:t>Invalid arguments 5.1 → 0.2 per 100 steps, but missing calls stay at 34.8 [29.8–40.4] (supports H2)</a:t>
            </a:r>
            <a:endParaRPr lang="en-US" sz="1400" dirty="0"/>
          </a:p>
        </p:txBody>
      </p:sp>
      <p:sp>
        <p:nvSpPr>
          <p:cNvPr id="11" name="Shape 8"/>
          <p:cNvSpPr/>
          <p:nvPr/>
        </p:nvSpPr>
        <p:spPr>
          <a:xfrm>
            <a:off x="8229600" y="4023360"/>
            <a:ext cx="3410712" cy="1234440"/>
          </a:xfrm>
          <a:prstGeom prst="roundRect">
            <a:avLst>
              <a:gd name="adj" fmla="val 5926"/>
            </a:avLst>
          </a:prstGeom>
          <a:solidFill>
            <a:srgbClr val="EAF6F0"/>
          </a:solidFill>
          <a:ln w="15875">
            <a:solidFill>
              <a:srgbClr val="1A9E6A"/>
            </a:solidFill>
            <a:prstDash val="solid"/>
          </a:ln>
        </p:spPr>
      </p:sp>
      <p:sp>
        <p:nvSpPr>
          <p:cNvPr id="12" name="Text 9"/>
          <p:cNvSpPr txBox="1"/>
          <p:nvPr/>
        </p:nvSpPr>
        <p:spPr>
          <a:xfrm>
            <a:off x="8412480" y="4160520"/>
            <a:ext cx="3044952" cy="365760"/>
          </a:xfrm>
          <a:prstGeom prst="rect">
            <a:avLst/>
          </a:prstGeom>
          <a:noFill/>
          <a:ln/>
        </p:spPr>
        <p:txBody>
          <a:bodyPr wrap="square" lIns="0" tIns="0" rIns="0" bIns="0" rtlCol="0" anchor="ctr"/>
          <a:lstStyle/>
          <a:p>
            <a:pPr indent="0" marL="0">
              <a:buNone/>
            </a:pPr>
            <a:r>
              <a:rPr lang="en-US" sz="1700" b="1" dirty="0">
                <a:solidFill>
                  <a:srgbClr val="1A9E6A"/>
                </a:solidFill>
              </a:rPr>
              <a:t>Effect of R2 (Q8_0)</a:t>
            </a:r>
            <a:endParaRPr lang="en-US" sz="1700" dirty="0"/>
          </a:p>
        </p:txBody>
      </p:sp>
      <p:sp>
        <p:nvSpPr>
          <p:cNvPr id="13" name="Text 10"/>
          <p:cNvSpPr txBox="1"/>
          <p:nvPr/>
        </p:nvSpPr>
        <p:spPr>
          <a:xfrm>
            <a:off x="8412480" y="4572000"/>
            <a:ext cx="3044952" cy="594360"/>
          </a:xfrm>
          <a:prstGeom prst="rect">
            <a:avLst/>
          </a:prstGeom>
          <a:noFill/>
          <a:ln/>
        </p:spPr>
        <p:txBody>
          <a:bodyPr wrap="square" lIns="0" tIns="0" rIns="0" bIns="0" rtlCol="0" anchor="t"/>
          <a:lstStyle/>
          <a:p>
            <a:pPr indent="0" marL="0">
              <a:buNone/>
            </a:pPr>
            <a:r>
              <a:rPr lang="en-US" sz="1400" dirty="0">
                <a:solidFill>
                  <a:srgbClr val="3A4A5C"/>
                </a:solidFill>
              </a:rPr>
              <a:t>Missing calls 7.2 [5.5–9.1] and invalid arguments 4.0, close to BF16</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5394960"/>
          <a:ext cx="11091672" cy="914400"/>
        </p:xfrm>
        <a:graphic>
          <a:graphicData uri="http://schemas.openxmlformats.org/drawingml/2006/table">
            <a:tbl>
              <a:tblPr/>
              <a:tblGrid>
                <a:gridCol w="1920240"/>
                <a:gridCol w="1828800"/>
                <a:gridCol w="1828800"/>
                <a:gridCol w="1828800"/>
                <a:gridCol w="1828800"/>
                <a:gridCol w="1856232"/>
              </a:tblGrid>
              <a:tr h="292608">
                <a:tc>
                  <a:txBody>
                    <a:bodyPr/>
                    <a:lstStyle/>
                    <a:p>
                      <a:pPr indent="0" marL="0">
                        <a:buNone/>
                      </a:pPr>
                      <a:r>
                        <a:rPr lang="en-US" sz="1200" b="1" dirty="0">
                          <a:solidFill>
                            <a:srgbClr val="FFFFFF"/>
                          </a:solidFill>
                        </a:rPr>
                        <a:t>Valid episodes</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rPr>
                        <a:t>BF16</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rPr>
                        <a:t>Q4_K_M</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rPr>
                        <a:t>Q4_0</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rPr>
                        <a:t>Q4_0 + R1</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200" b="1" dirty="0">
                          <a:solidFill>
                            <a:srgbClr val="FFFFFF"/>
                          </a:solidFill>
                        </a:rPr>
                        <a:t>Q8_0 (R2)</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r>
              <a:tr h="310896">
                <a:tc>
                  <a:txBody>
                    <a:bodyPr/>
                    <a:lstStyle/>
                    <a:p>
                      <a:pPr indent="0" marL="0">
                        <a:buNone/>
                      </a:pPr>
                      <a:r>
                        <a:rPr lang="en-US" sz="1200" dirty="0">
                          <a:solidFill>
                            <a:srgbClr val="1B2A3A"/>
                          </a:solidFill>
                        </a:rPr>
                        <a:t>Qwen3-0.6B</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rPr>
                        <a:t>16 / 400 (4.0%)</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rPr>
                        <a:t>10 / 400 (2.5%)</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rPr>
                        <a:t>2 / 400 (0.5%)</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rPr>
                        <a:t>2 / 200 (1.0%)</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200" dirty="0">
                          <a:solidFill>
                            <a:srgbClr val="1B2A3A"/>
                          </a:solidFill>
                        </a:rPr>
                        <a:t>6 / 200 (3.0%)</a:t>
                      </a:r>
                      <a:endParaRPr lang="en-US" sz="12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15" name="Text 11"/>
          <p:cNvSpPr txBox="1"/>
          <p:nvPr/>
        </p:nvSpPr>
        <p:spPr>
          <a:xfrm>
            <a:off x="548640" y="6080760"/>
            <a:ext cx="11091672" cy="274320"/>
          </a:xfrm>
          <a:prstGeom prst="rect">
            <a:avLst/>
          </a:prstGeom>
          <a:noFill/>
          <a:ln/>
        </p:spPr>
        <p:txBody>
          <a:bodyPr wrap="square" lIns="0" tIns="0" rIns="0" bIns="0" rtlCol="0" anchor="t"/>
          <a:lstStyle/>
          <a:p>
            <a:pPr indent="0" marL="0">
              <a:buNone/>
            </a:pPr>
            <a:r>
              <a:rPr lang="en-US" sz="1100" dirty="0">
                <a:solidFill>
                  <a:srgbClr val="5B6B7B"/>
                </a:solidFill>
              </a:rPr>
              <a:t>CoE HPC, 4 × A100 node, Oct 28 · 1,600 episodes, 10,483 steps · development data · brackets: 95% bootstrap CI over tasks</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Model size: Qwen3-0.6B, 1.7B and 4B, same 200 tasks</a:t>
            </a:r>
            <a:endParaRPr lang="en-US" sz="3200" dirty="0"/>
          </a:p>
        </p:txBody>
      </p:sp>
      <p:sp>
        <p:nvSpPr>
          <p:cNvPr id="3" name="Shape 1"/>
          <p:cNvSpPr/>
          <p:nvPr/>
        </p:nvSpPr>
        <p:spPr>
          <a:xfrm>
            <a:off x="548640" y="1188720"/>
            <a:ext cx="11091672" cy="3931920"/>
          </a:xfrm>
          <a:prstGeom prst="rect">
            <a:avLst/>
          </a:prstGeom>
          <a:solidFill>
            <a:srgbClr val="FFFFFF"/>
          </a:solidFill>
          <a:ln w="9525">
            <a:solidFill>
              <a:srgbClr val="D5DAE1"/>
            </a:solidFill>
            <a:prstDash val="solid"/>
          </a:ln>
        </p:spPr>
      </p:sp>
      <p:pic>
        <p:nvPicPr>
          <p:cNvPr id="4" name="Image 0" descr="Episode accuracy and missing-call rate for BF16, Q4_K_M and Q4_0 at three model sizes, with 95% intervals">    </p:cNvPr>
          <p:cNvPicPr>
            <a:picLocks noChangeAspect="1"/>
          </p:cNvPicPr>
          <p:nvPr/>
        </p:nvPicPr>
        <p:blipFill>
          <a:blip r:embed="rId1"/>
          <a:stretch>
            <a:fillRect/>
          </a:stretch>
        </p:blipFill>
        <p:spPr>
          <a:xfrm>
            <a:off x="1515442" y="1234440"/>
            <a:ext cx="9158068" cy="3840480"/>
          </a:xfrm>
          <a:prstGeom prst="rect">
            <a:avLst/>
          </a:prstGeom>
        </p:spPr>
      </p:pic>
      <p:sp>
        <p:nvSpPr>
          <p:cNvPr id="5" name="Text 2"/>
          <p:cNvSpPr txBox="1"/>
          <p:nvPr/>
        </p:nvSpPr>
        <p:spPr>
          <a:xfrm>
            <a:off x="548640" y="5257800"/>
            <a:ext cx="11091672" cy="640080"/>
          </a:xfrm>
          <a:prstGeom prst="rect">
            <a:avLst/>
          </a:prstGeom>
          <a:noFill/>
          <a:ln/>
        </p:spPr>
        <p:txBody>
          <a:bodyPr wrap="square" lIns="0" tIns="0" rIns="0" bIns="0" rtlCol="0" anchor="t"/>
          <a:lstStyle/>
          <a:p>
            <a:pPr indent="0" marL="0">
              <a:buNone/>
            </a:pPr>
            <a:r>
              <a:rPr lang="en-US" sz="1500" dirty="0">
                <a:solidFill>
                  <a:srgbClr val="3A4A5C"/>
                </a:solidFill>
              </a:rPr>
              <a:t>Valid episodes, BF16 / Q4_K_M / Q4_0: 0.6B 16 / 10 / 2, 1.7B 26 / 22 / 12, 4B 47 / 44 / 38 (of 400). Turns answered in text instead of a call fall with size; Q4_0 is worst at 0.6B and 1.7B, but at 4B Q4_K_M is worst (11.8% vs 7.1% for Q4_0 and 5.8% for BF16).</a:t>
            </a:r>
            <a:endParaRPr lang="en-US" sz="1500" dirty="0"/>
          </a:p>
        </p:txBody>
      </p:sp>
      <p:sp>
        <p:nvSpPr>
          <p:cNvPr id="6" name="Text 3"/>
          <p:cNvSpPr txBox="1"/>
          <p:nvPr/>
        </p:nvSpPr>
        <p:spPr>
          <a:xfrm>
            <a:off x="548640" y="5943600"/>
            <a:ext cx="11091672" cy="274320"/>
          </a:xfrm>
          <a:prstGeom prst="rect">
            <a:avLst/>
          </a:prstGeom>
          <a:noFill/>
          <a:ln/>
        </p:spPr>
        <p:txBody>
          <a:bodyPr wrap="square" lIns="0" tIns="0" rIns="0" bIns="0" rtlCol="0" anchor="t"/>
          <a:lstStyle/>
          <a:p>
            <a:pPr indent="0" marL="0">
              <a:buNone/>
            </a:pPr>
            <a:r>
              <a:rPr lang="en-US" sz="1100" dirty="0">
                <a:solidFill>
                  <a:srgbClr val="5B6B7B"/>
                </a:solidFill>
              </a:rPr>
              <a:t>Left: 95% Wilson interval; right: 95% bootstrap CI over tasks · 200 BFCL multi-turn base tasks × 2 seeds per format · CoE HPC A100, Oct 28 · development data</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First results on the CoE HPC (Oct 26–27)</a:t>
            </a:r>
            <a:endParaRPr lang="en-US" sz="3200" dirty="0"/>
          </a:p>
        </p:txBody>
      </p:sp>
      <p:sp>
        <p:nvSpPr>
          <p:cNvPr id="3" name="Shape 1"/>
          <p:cNvSpPr/>
          <p:nvPr/>
        </p:nvSpPr>
        <p:spPr>
          <a:xfrm>
            <a:off x="548640" y="1280160"/>
            <a:ext cx="2670048" cy="2103120"/>
          </a:xfrm>
          <a:prstGeom prst="roundRect">
            <a:avLst>
              <a:gd name="adj" fmla="val 3478"/>
            </a:avLst>
          </a:prstGeom>
          <a:solidFill>
            <a:srgbClr val="F2F4F7"/>
          </a:solidFill>
          <a:ln w="15875">
            <a:solidFill>
              <a:srgbClr val="F2F4F7"/>
            </a:solidFill>
            <a:prstDash val="solid"/>
          </a:ln>
        </p:spPr>
      </p:sp>
      <p:sp>
        <p:nvSpPr>
          <p:cNvPr id="4" name="Text 2"/>
          <p:cNvSpPr txBox="1"/>
          <p:nvPr/>
        </p:nvSpPr>
        <p:spPr>
          <a:xfrm>
            <a:off x="731520" y="1463040"/>
            <a:ext cx="2304288" cy="685800"/>
          </a:xfrm>
          <a:prstGeom prst="rect">
            <a:avLst/>
          </a:prstGeom>
          <a:noFill/>
          <a:ln/>
        </p:spPr>
        <p:txBody>
          <a:bodyPr wrap="square" lIns="0" tIns="0" rIns="0" bIns="0" rtlCol="0" anchor="ctr"/>
          <a:lstStyle/>
          <a:p>
            <a:pPr indent="0" marL="0">
              <a:buNone/>
            </a:pPr>
            <a:r>
              <a:rPr lang="en-US" sz="2700" b="1" dirty="0">
                <a:solidFill>
                  <a:srgbClr val="1F77B4"/>
                </a:solidFill>
              </a:rPr>
              <a:t>144 / 231 / 350</a:t>
            </a:r>
            <a:endParaRPr lang="en-US" sz="2700" dirty="0"/>
          </a:p>
        </p:txBody>
      </p:sp>
      <p:sp>
        <p:nvSpPr>
          <p:cNvPr id="5" name="Text 3"/>
          <p:cNvSpPr txBox="1"/>
          <p:nvPr/>
        </p:nvSpPr>
        <p:spPr>
          <a:xfrm>
            <a:off x="731520" y="2194560"/>
            <a:ext cx="2304288" cy="1051560"/>
          </a:xfrm>
          <a:prstGeom prst="rect">
            <a:avLst/>
          </a:prstGeom>
          <a:noFill/>
          <a:ln/>
        </p:spPr>
        <p:txBody>
          <a:bodyPr wrap="square" lIns="0" tIns="0" rIns="0" bIns="0" rtlCol="0" anchor="t"/>
          <a:lstStyle/>
          <a:p>
            <a:pPr indent="0" marL="0">
              <a:buNone/>
            </a:pPr>
            <a:r>
              <a:rPr lang="en-US" sz="1400" dirty="0">
                <a:solidFill>
                  <a:srgbClr val="3A4A5C"/>
                </a:solidFill>
              </a:rPr>
              <a:t>Tool-call smoke test, tokens/s on P100 / A100 / H100 (S1 passes on all three)</a:t>
            </a:r>
            <a:endParaRPr lang="en-US" sz="1400" dirty="0"/>
          </a:p>
        </p:txBody>
      </p:sp>
      <p:sp>
        <p:nvSpPr>
          <p:cNvPr id="6" name="Shape 4"/>
          <p:cNvSpPr/>
          <p:nvPr/>
        </p:nvSpPr>
        <p:spPr>
          <a:xfrm>
            <a:off x="3355848" y="1280160"/>
            <a:ext cx="2670048" cy="2103120"/>
          </a:xfrm>
          <a:prstGeom prst="roundRect">
            <a:avLst>
              <a:gd name="adj" fmla="val 3478"/>
            </a:avLst>
          </a:prstGeom>
          <a:solidFill>
            <a:srgbClr val="F2F4F7"/>
          </a:solidFill>
          <a:ln w="15875">
            <a:solidFill>
              <a:srgbClr val="F2F4F7"/>
            </a:solidFill>
            <a:prstDash val="solid"/>
          </a:ln>
        </p:spPr>
      </p:sp>
      <p:sp>
        <p:nvSpPr>
          <p:cNvPr id="7" name="Text 5"/>
          <p:cNvSpPr txBox="1"/>
          <p:nvPr/>
        </p:nvSpPr>
        <p:spPr>
          <a:xfrm>
            <a:off x="3538728" y="1463040"/>
            <a:ext cx="2304288" cy="685800"/>
          </a:xfrm>
          <a:prstGeom prst="rect">
            <a:avLst/>
          </a:prstGeom>
          <a:noFill/>
          <a:ln/>
        </p:spPr>
        <p:txBody>
          <a:bodyPr wrap="square" lIns="0" tIns="0" rIns="0" bIns="0" rtlCol="0" anchor="ctr"/>
          <a:lstStyle/>
          <a:p>
            <a:pPr indent="0" marL="0">
              <a:buNone/>
            </a:pPr>
            <a:r>
              <a:rPr lang="en-US" sz="3400" b="1" dirty="0">
                <a:solidFill>
                  <a:srgbClr val="1A9E6A"/>
                </a:solidFill>
              </a:rPr>
              <a:t>21 min</a:t>
            </a:r>
            <a:endParaRPr lang="en-US" sz="3400" dirty="0"/>
          </a:p>
        </p:txBody>
      </p:sp>
      <p:sp>
        <p:nvSpPr>
          <p:cNvPr id="8" name="Text 6"/>
          <p:cNvSpPr txBox="1"/>
          <p:nvPr/>
        </p:nvSpPr>
        <p:spPr>
          <a:xfrm>
            <a:off x="3538728" y="2194560"/>
            <a:ext cx="2304288" cy="1051560"/>
          </a:xfrm>
          <a:prstGeom prst="rect">
            <a:avLst/>
          </a:prstGeom>
          <a:noFill/>
          <a:ln/>
        </p:spPr>
        <p:txBody>
          <a:bodyPr wrap="square" lIns="0" tIns="0" rIns="0" bIns="0" rtlCol="0" anchor="t"/>
          <a:lstStyle/>
          <a:p>
            <a:pPr indent="0" marL="0">
              <a:buNone/>
            </a:pPr>
            <a:r>
              <a:rPr lang="en-US" sz="1400" dirty="0">
                <a:solidFill>
                  <a:srgbClr val="3A4A5C"/>
                </a:solidFill>
              </a:rPr>
              <a:t>llama.cpp built from source for sm 60, 80 and 90 in one job; model files byte-identical to the pilot</a:t>
            </a:r>
            <a:endParaRPr lang="en-US" sz="1400" dirty="0"/>
          </a:p>
        </p:txBody>
      </p:sp>
      <p:sp>
        <p:nvSpPr>
          <p:cNvPr id="9" name="Shape 7"/>
          <p:cNvSpPr/>
          <p:nvPr/>
        </p:nvSpPr>
        <p:spPr>
          <a:xfrm>
            <a:off x="6163056" y="1280160"/>
            <a:ext cx="2670048" cy="2103120"/>
          </a:xfrm>
          <a:prstGeom prst="roundRect">
            <a:avLst>
              <a:gd name="adj" fmla="val 3478"/>
            </a:avLst>
          </a:prstGeom>
          <a:solidFill>
            <a:srgbClr val="F2F4F7"/>
          </a:solidFill>
          <a:ln w="15875">
            <a:solidFill>
              <a:srgbClr val="F2F4F7"/>
            </a:solidFill>
            <a:prstDash val="solid"/>
          </a:ln>
        </p:spPr>
      </p:sp>
      <p:sp>
        <p:nvSpPr>
          <p:cNvPr id="10" name="Text 8"/>
          <p:cNvSpPr txBox="1"/>
          <p:nvPr/>
        </p:nvSpPr>
        <p:spPr>
          <a:xfrm>
            <a:off x="6345936" y="1463040"/>
            <a:ext cx="2304288" cy="685800"/>
          </a:xfrm>
          <a:prstGeom prst="rect">
            <a:avLst/>
          </a:prstGeom>
          <a:noFill/>
          <a:ln/>
        </p:spPr>
        <p:txBody>
          <a:bodyPr wrap="square" lIns="0" tIns="0" rIns="0" bIns="0" rtlCol="0" anchor="ctr"/>
          <a:lstStyle/>
          <a:p>
            <a:pPr indent="0" marL="0">
              <a:buNone/>
            </a:pPr>
            <a:r>
              <a:rPr lang="en-US" sz="3400" b="1" dirty="0">
                <a:solidFill>
                  <a:srgbClr val="1A9E6A"/>
                </a:solidFill>
              </a:rPr>
              <a:t>PASS × 2</a:t>
            </a:r>
            <a:endParaRPr lang="en-US" sz="3400" dirty="0"/>
          </a:p>
        </p:txBody>
      </p:sp>
      <p:sp>
        <p:nvSpPr>
          <p:cNvPr id="11" name="Text 9"/>
          <p:cNvSpPr txBox="1"/>
          <p:nvPr/>
        </p:nvSpPr>
        <p:spPr>
          <a:xfrm>
            <a:off x="6345936" y="2194560"/>
            <a:ext cx="2304288" cy="1051560"/>
          </a:xfrm>
          <a:prstGeom prst="rect">
            <a:avLst/>
          </a:prstGeom>
          <a:noFill/>
          <a:ln/>
        </p:spPr>
        <p:txBody>
          <a:bodyPr wrap="square" lIns="0" tIns="0" rIns="0" bIns="0" rtlCol="0" anchor="t"/>
          <a:lstStyle/>
          <a:p>
            <a:pPr indent="0" marL="0">
              <a:buNone/>
            </a:pPr>
            <a:r>
              <a:rPr lang="en-US" sz="1400" dirty="0">
                <a:solidFill>
                  <a:srgbClr val="3A4A5C"/>
                </a:solidFill>
              </a:rPr>
              <a:t>Clean-clone check: same 253-spec plan and hash, 10 Q4_0 episodes, 60 steps all classified, 0 of 10 as reference</a:t>
            </a:r>
            <a:endParaRPr lang="en-US" sz="1400" dirty="0"/>
          </a:p>
        </p:txBody>
      </p:sp>
      <p:sp>
        <p:nvSpPr>
          <p:cNvPr id="12" name="Shape 10"/>
          <p:cNvSpPr/>
          <p:nvPr/>
        </p:nvSpPr>
        <p:spPr>
          <a:xfrm>
            <a:off x="8970264" y="1280160"/>
            <a:ext cx="2670048" cy="2103120"/>
          </a:xfrm>
          <a:prstGeom prst="roundRect">
            <a:avLst>
              <a:gd name="adj" fmla="val 3478"/>
            </a:avLst>
          </a:prstGeom>
          <a:solidFill>
            <a:srgbClr val="F2F4F7"/>
          </a:solidFill>
          <a:ln w="15875">
            <a:solidFill>
              <a:srgbClr val="F2F4F7"/>
            </a:solidFill>
            <a:prstDash val="solid"/>
          </a:ln>
        </p:spPr>
      </p:sp>
      <p:sp>
        <p:nvSpPr>
          <p:cNvPr id="13" name="Text 11"/>
          <p:cNvSpPr txBox="1"/>
          <p:nvPr/>
        </p:nvSpPr>
        <p:spPr>
          <a:xfrm>
            <a:off x="9153144" y="1463040"/>
            <a:ext cx="2304288" cy="685800"/>
          </a:xfrm>
          <a:prstGeom prst="rect">
            <a:avLst/>
          </a:prstGeom>
          <a:noFill/>
          <a:ln/>
        </p:spPr>
        <p:txBody>
          <a:bodyPr wrap="square" lIns="0" tIns="0" rIns="0" bIns="0" rtlCol="0" anchor="ctr"/>
          <a:lstStyle/>
          <a:p>
            <a:pPr indent="0" marL="0">
              <a:buNone/>
            </a:pPr>
            <a:r>
              <a:rPr lang="en-US" sz="3400" b="1" dirty="0">
                <a:solidFill>
                  <a:srgbClr val="E8622C"/>
                </a:solidFill>
              </a:rPr>
              <a:t>κ = 1.00</a:t>
            </a:r>
            <a:endParaRPr lang="en-US" sz="3400" dirty="0"/>
          </a:p>
        </p:txBody>
      </p:sp>
      <p:sp>
        <p:nvSpPr>
          <p:cNvPr id="14" name="Text 12"/>
          <p:cNvSpPr txBox="1"/>
          <p:nvPr/>
        </p:nvSpPr>
        <p:spPr>
          <a:xfrm>
            <a:off x="9153144" y="2194560"/>
            <a:ext cx="2304288" cy="1051560"/>
          </a:xfrm>
          <a:prstGeom prst="rect">
            <a:avLst/>
          </a:prstGeom>
          <a:noFill/>
          <a:ln/>
        </p:spPr>
        <p:txBody>
          <a:bodyPr wrap="square" lIns="0" tIns="0" rIns="0" bIns="0" rtlCol="0" anchor="t"/>
          <a:lstStyle/>
          <a:p>
            <a:pPr indent="0" marL="0">
              <a:buNone/>
            </a:pPr>
            <a:r>
              <a:rPr lang="en-US" sz="1400" dirty="0">
                <a:solidFill>
                  <a:srgbClr val="3A4A5C"/>
                </a:solidFill>
              </a:rPr>
              <a:t>AI rater: blind second labelling of 30 steps (6 classes) from 100 new cluster episodes, against the written codebook</a:t>
            </a:r>
            <a:endParaRPr lang="en-US" sz="1400" dirty="0"/>
          </a:p>
        </p:txBody>
      </p:sp>
      <p:sp>
        <p:nvSpPr>
          <p:cNvPr id="15" name="Shape 13"/>
          <p:cNvSpPr/>
          <p:nvPr/>
        </p:nvSpPr>
        <p:spPr>
          <a:xfrm>
            <a:off x="548640" y="3611880"/>
            <a:ext cx="5454396" cy="2148840"/>
          </a:xfrm>
          <a:prstGeom prst="roundRect">
            <a:avLst>
              <a:gd name="adj" fmla="val 3404"/>
            </a:avLst>
          </a:prstGeom>
          <a:solidFill>
            <a:srgbClr val="FFFFFF"/>
          </a:solidFill>
          <a:ln w="15875">
            <a:solidFill>
              <a:srgbClr val="D5DAE1"/>
            </a:solidFill>
            <a:prstDash val="solid"/>
          </a:ln>
        </p:spPr>
      </p:sp>
      <p:sp>
        <p:nvSpPr>
          <p:cNvPr id="16" name="Text 14"/>
          <p:cNvSpPr txBox="1"/>
          <p:nvPr/>
        </p:nvSpPr>
        <p:spPr>
          <a:xfrm>
            <a:off x="731520" y="3749040"/>
            <a:ext cx="5088636" cy="365760"/>
          </a:xfrm>
          <a:prstGeom prst="rect">
            <a:avLst/>
          </a:prstGeom>
          <a:noFill/>
          <a:ln/>
        </p:spPr>
        <p:txBody>
          <a:bodyPr wrap="square" lIns="0" tIns="0" rIns="0" bIns="0" rtlCol="0" anchor="ctr"/>
          <a:lstStyle/>
          <a:p>
            <a:pPr indent="0" marL="0">
              <a:buNone/>
            </a:pPr>
            <a:r>
              <a:rPr lang="en-US" sz="1700" b="1" dirty="0">
                <a:solidFill>
                  <a:srgbClr val="1B2A3A"/>
                </a:solidFill>
              </a:rPr>
              <a:t>How these were run</a:t>
            </a:r>
            <a:endParaRPr lang="en-US" sz="1700" dirty="0"/>
          </a:p>
        </p:txBody>
      </p:sp>
      <p:sp>
        <p:nvSpPr>
          <p:cNvPr id="17" name="Text 15"/>
          <p:cNvSpPr txBox="1"/>
          <p:nvPr/>
        </p:nvSpPr>
        <p:spPr>
          <a:xfrm>
            <a:off x="731520" y="4160520"/>
            <a:ext cx="5088636" cy="1508760"/>
          </a:xfrm>
          <a:prstGeom prst="rect">
            <a:avLst/>
          </a:prstGeom>
          <a:noFill/>
          <a:ln/>
        </p:spPr>
        <p:txBody>
          <a:bodyPr wrap="square" lIns="0" tIns="0" rIns="0" bIns="0" rtlCol="0" anchor="t"/>
          <a:lstStyle/>
          <a:p>
            <a:pPr indent="0" marL="0">
              <a:buNone/>
            </a:pPr>
            <a:r>
              <a:rPr lang="en-US" sz="1400" dirty="0">
                <a:solidFill>
                  <a:srgbClr val="3A4A5C"/>
                </a:solidFill>
              </a:rPr>
              <a:t>Both checks on Oct 27 ran under one team cluster account; the full rebuild was done by an independent AI agent, and the 30 labels came from an AI rater (a different model from the one that drafted the classifier). Before M2 the team repeats the check under a second member’s own account and adds human labels for the same 30 steps.</a:t>
            </a:r>
            <a:endParaRPr lang="en-US" sz="1400" dirty="0"/>
          </a:p>
        </p:txBody>
      </p:sp>
      <p:sp>
        <p:nvSpPr>
          <p:cNvPr id="18" name="Shape 16"/>
          <p:cNvSpPr/>
          <p:nvPr/>
        </p:nvSpPr>
        <p:spPr>
          <a:xfrm>
            <a:off x="6185916" y="3611880"/>
            <a:ext cx="5454396" cy="2148840"/>
          </a:xfrm>
          <a:prstGeom prst="roundRect">
            <a:avLst>
              <a:gd name="adj" fmla="val 3404"/>
            </a:avLst>
          </a:prstGeom>
          <a:solidFill>
            <a:srgbClr val="FDF1EA"/>
          </a:solidFill>
          <a:ln w="15875">
            <a:solidFill>
              <a:srgbClr val="E8622C"/>
            </a:solidFill>
            <a:prstDash val="solid"/>
          </a:ln>
        </p:spPr>
      </p:sp>
      <p:sp>
        <p:nvSpPr>
          <p:cNvPr id="19" name="Text 17"/>
          <p:cNvSpPr txBox="1"/>
          <p:nvPr/>
        </p:nvSpPr>
        <p:spPr>
          <a:xfrm>
            <a:off x="6368796" y="3749040"/>
            <a:ext cx="5088636" cy="365760"/>
          </a:xfrm>
          <a:prstGeom prst="rect">
            <a:avLst/>
          </a:prstGeom>
          <a:noFill/>
          <a:ln/>
        </p:spPr>
        <p:txBody>
          <a:bodyPr wrap="square" lIns="0" tIns="0" rIns="0" bIns="0" rtlCol="0" anchor="ctr"/>
          <a:lstStyle/>
          <a:p>
            <a:pPr indent="0" marL="0">
              <a:buNone/>
            </a:pPr>
            <a:r>
              <a:rPr lang="en-US" sz="1700" b="1" dirty="0">
                <a:solidFill>
                  <a:srgbClr val="E8622C"/>
                </a:solidFill>
              </a:rPr>
              <a:t>Codebook gap found</a:t>
            </a:r>
            <a:endParaRPr lang="en-US" sz="1700" dirty="0"/>
          </a:p>
        </p:txBody>
      </p:sp>
      <p:sp>
        <p:nvSpPr>
          <p:cNvPr id="20" name="Text 18"/>
          <p:cNvSpPr txBox="1"/>
          <p:nvPr/>
        </p:nvSpPr>
        <p:spPr>
          <a:xfrm>
            <a:off x="6368796" y="4160520"/>
            <a:ext cx="5088636" cy="1508760"/>
          </a:xfrm>
          <a:prstGeom prst="rect">
            <a:avLst/>
          </a:prstGeom>
          <a:noFill/>
          <a:ln/>
        </p:spPr>
        <p:txBody>
          <a:bodyPr wrap="square" lIns="0" tIns="0" rIns="0" bIns="0" rtlCol="0" anchor="t"/>
          <a:lstStyle/>
          <a:p>
            <a:pPr indent="0" marL="0">
              <a:buNone/>
            </a:pPr>
            <a:r>
              <a:rPr lang="en-US" sz="1400" dirty="0">
                <a:solidFill>
                  <a:srgbClr val="3A4A5C"/>
                </a:solidFill>
              </a:rPr>
              <a:t>A tool that returns an error payload (e.g. “No such file”) is labelled ok_call, because exec_error needs the executor’s own error. Codebook v0 (M2) decides whether tool-level errors get their own class.</a:t>
            </a:r>
            <a:endParaRPr lang="en-US" sz="1400" dirty="0"/>
          </a:p>
        </p:txBody>
      </p:sp>
      <p:sp>
        <p:nvSpPr>
          <p:cNvPr id="21" name="Text 19"/>
          <p:cNvSpPr txBox="1"/>
          <p:nvPr/>
        </p:nvSpPr>
        <p:spPr>
          <a:xfrm>
            <a:off x="548640" y="5989320"/>
            <a:ext cx="11091672" cy="274320"/>
          </a:xfrm>
          <a:prstGeom prst="rect">
            <a:avLst/>
          </a:prstGeom>
          <a:noFill/>
          <a:ln/>
        </p:spPr>
        <p:txBody>
          <a:bodyPr wrap="square" lIns="0" tIns="0" rIns="0" bIns="0" rtlCol="0" anchor="t"/>
          <a:lstStyle/>
          <a:p>
            <a:pPr indent="0" marL="0">
              <a:buNone/>
            </a:pPr>
            <a:r>
              <a:rPr lang="en-US" sz="1100" dirty="0">
                <a:solidFill>
                  <a:srgbClr val="5B6B7B"/>
                </a:solidFill>
              </a:rPr>
              <a:t>Slurm jobs 97498, 97528, 97611–97655 · Workbook 2, Tables 37 and 37b, Ch. 7</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Schedule and critical path</a:t>
            </a:r>
            <a:endParaRPr lang="en-US" sz="3200" dirty="0"/>
          </a:p>
        </p:txBody>
      </p:sp>
      <p:sp>
        <p:nvSpPr>
          <p:cNvPr id="3" name="Shape 1"/>
          <p:cNvSpPr/>
          <p:nvPr/>
        </p:nvSpPr>
        <p:spPr>
          <a:xfrm>
            <a:off x="548640" y="1143000"/>
            <a:ext cx="11091672" cy="2606040"/>
          </a:xfrm>
          <a:prstGeom prst="rect">
            <a:avLst/>
          </a:prstGeom>
          <a:solidFill>
            <a:srgbClr val="FFFFFF"/>
          </a:solidFill>
          <a:ln w="9525">
            <a:solidFill>
              <a:srgbClr val="D5DAE1"/>
            </a:solidFill>
            <a:prstDash val="solid"/>
          </a:ln>
        </p:spPr>
      </p:sp>
      <p:pic>
        <p:nvPicPr>
          <p:cNvPr id="4" name="Image 0" descr="PERT network for CMPE 295A: work packages A to L1 and milestones M1 to M4; red boxes and arrows are the critical path">    </p:cNvPr>
          <p:cNvPicPr>
            <a:picLocks noChangeAspect="1"/>
          </p:cNvPicPr>
          <p:nvPr/>
        </p:nvPicPr>
        <p:blipFill>
          <a:blip r:embed="rId1"/>
          <a:stretch>
            <a:fillRect/>
          </a:stretch>
        </p:blipFill>
        <p:spPr>
          <a:xfrm>
            <a:off x="594360" y="1227020"/>
            <a:ext cx="11000232" cy="2437999"/>
          </a:xfrm>
          <a:prstGeom prst="rect">
            <a:avLst/>
          </a:prstGeom>
        </p:spPr>
      </p:pic>
      <p:sp>
        <p:nvSpPr>
          <p:cNvPr id="5" name="Shape 2"/>
          <p:cNvSpPr/>
          <p:nvPr/>
        </p:nvSpPr>
        <p:spPr>
          <a:xfrm>
            <a:off x="548640" y="3840480"/>
            <a:ext cx="11091672" cy="1600200"/>
          </a:xfrm>
          <a:prstGeom prst="rect">
            <a:avLst/>
          </a:prstGeom>
          <a:solidFill>
            <a:srgbClr val="FFFFFF"/>
          </a:solidFill>
          <a:ln w="9525">
            <a:solidFill>
              <a:srgbClr val="D5DAE1"/>
            </a:solidFill>
            <a:prstDash val="solid"/>
          </a:ln>
        </p:spPr>
      </p:sp>
      <p:pic>
        <p:nvPicPr>
          <p:cNvPr id="6" name="Image 1" descr="PERT network for CMPE 295B: work packages L2 to U and milestones M5 to M8; red boxes and arrows are the critical path">    </p:cNvPr>
          <p:cNvPicPr>
            <a:picLocks noChangeAspect="1"/>
          </p:cNvPicPr>
          <p:nvPr/>
        </p:nvPicPr>
        <p:blipFill>
          <a:blip r:embed="rId2"/>
          <a:stretch>
            <a:fillRect/>
          </a:stretch>
        </p:blipFill>
        <p:spPr>
          <a:xfrm>
            <a:off x="594360" y="3890237"/>
            <a:ext cx="11000232" cy="1500686"/>
          </a:xfrm>
          <a:prstGeom prst="rect">
            <a:avLst/>
          </a:prstGeom>
        </p:spPr>
      </p:pic>
      <p:sp>
        <p:nvSpPr>
          <p:cNvPr id="7" name="Shape 3"/>
          <p:cNvSpPr/>
          <p:nvPr/>
        </p:nvSpPr>
        <p:spPr>
          <a:xfrm>
            <a:off x="548640" y="5559552"/>
            <a:ext cx="292608" cy="201168"/>
          </a:xfrm>
          <a:prstGeom prst="rect">
            <a:avLst/>
          </a:prstGeom>
          <a:solidFill>
            <a:srgbClr val="1F77B4"/>
          </a:solidFill>
          <a:ln w="12700">
            <a:solidFill>
              <a:srgbClr val="1F77B4"/>
            </a:solidFill>
            <a:prstDash val="solid"/>
          </a:ln>
        </p:spPr>
      </p:sp>
      <p:sp>
        <p:nvSpPr>
          <p:cNvPr id="8" name="Text 4"/>
          <p:cNvSpPr txBox="1"/>
          <p:nvPr/>
        </p:nvSpPr>
        <p:spPr>
          <a:xfrm>
            <a:off x="914400" y="5504688"/>
            <a:ext cx="1005840" cy="310896"/>
          </a:xfrm>
          <a:prstGeom prst="rect">
            <a:avLst/>
          </a:prstGeom>
          <a:noFill/>
          <a:ln/>
        </p:spPr>
        <p:txBody>
          <a:bodyPr wrap="square" lIns="0" tIns="0" rIns="0" bIns="0" rtlCol="0" anchor="ctr"/>
          <a:lstStyle/>
          <a:p>
            <a:pPr indent="0" marL="0">
              <a:buNone/>
            </a:pPr>
            <a:r>
              <a:rPr lang="en-US" sz="1200" dirty="0">
                <a:solidFill>
                  <a:srgbClr val="3A4A5C"/>
                </a:solidFill>
              </a:rPr>
              <a:t>EK lead</a:t>
            </a:r>
            <a:endParaRPr lang="en-US" sz="1200" dirty="0"/>
          </a:p>
        </p:txBody>
      </p:sp>
      <p:sp>
        <p:nvSpPr>
          <p:cNvPr id="9" name="Shape 5"/>
          <p:cNvSpPr/>
          <p:nvPr/>
        </p:nvSpPr>
        <p:spPr>
          <a:xfrm>
            <a:off x="1961388" y="5559552"/>
            <a:ext cx="292608" cy="201168"/>
          </a:xfrm>
          <a:prstGeom prst="rect">
            <a:avLst/>
          </a:prstGeom>
          <a:solidFill>
            <a:srgbClr val="E8622C"/>
          </a:solidFill>
          <a:ln w="12700">
            <a:solidFill>
              <a:srgbClr val="E8622C"/>
            </a:solidFill>
            <a:prstDash val="solid"/>
          </a:ln>
        </p:spPr>
      </p:sp>
      <p:sp>
        <p:nvSpPr>
          <p:cNvPr id="10" name="Text 6"/>
          <p:cNvSpPr txBox="1"/>
          <p:nvPr/>
        </p:nvSpPr>
        <p:spPr>
          <a:xfrm>
            <a:off x="2327148" y="5504688"/>
            <a:ext cx="1005840" cy="310896"/>
          </a:xfrm>
          <a:prstGeom prst="rect">
            <a:avLst/>
          </a:prstGeom>
          <a:noFill/>
          <a:ln/>
        </p:spPr>
        <p:txBody>
          <a:bodyPr wrap="square" lIns="0" tIns="0" rIns="0" bIns="0" rtlCol="0" anchor="ctr"/>
          <a:lstStyle/>
          <a:p>
            <a:pPr indent="0" marL="0">
              <a:buNone/>
            </a:pPr>
            <a:r>
              <a:rPr lang="en-US" sz="1200" dirty="0">
                <a:solidFill>
                  <a:srgbClr val="3A4A5C"/>
                </a:solidFill>
              </a:rPr>
              <a:t>VM lead</a:t>
            </a:r>
            <a:endParaRPr lang="en-US" sz="1200" dirty="0"/>
          </a:p>
        </p:txBody>
      </p:sp>
      <p:sp>
        <p:nvSpPr>
          <p:cNvPr id="11" name="Shape 7"/>
          <p:cNvSpPr/>
          <p:nvPr/>
        </p:nvSpPr>
        <p:spPr>
          <a:xfrm>
            <a:off x="3374136" y="5559552"/>
            <a:ext cx="292608" cy="201168"/>
          </a:xfrm>
          <a:prstGeom prst="rect">
            <a:avLst/>
          </a:prstGeom>
          <a:solidFill>
            <a:srgbClr val="1A9E6A"/>
          </a:solidFill>
          <a:ln w="12700">
            <a:solidFill>
              <a:srgbClr val="1A9E6A"/>
            </a:solidFill>
            <a:prstDash val="solid"/>
          </a:ln>
        </p:spPr>
      </p:sp>
      <p:sp>
        <p:nvSpPr>
          <p:cNvPr id="12" name="Text 8"/>
          <p:cNvSpPr txBox="1"/>
          <p:nvPr/>
        </p:nvSpPr>
        <p:spPr>
          <a:xfrm>
            <a:off x="3739896" y="5504688"/>
            <a:ext cx="1097280" cy="310896"/>
          </a:xfrm>
          <a:prstGeom prst="rect">
            <a:avLst/>
          </a:prstGeom>
          <a:noFill/>
          <a:ln/>
        </p:spPr>
        <p:txBody>
          <a:bodyPr wrap="square" lIns="0" tIns="0" rIns="0" bIns="0" rtlCol="0" anchor="ctr"/>
          <a:lstStyle/>
          <a:p>
            <a:pPr indent="0" marL="0">
              <a:buNone/>
            </a:pPr>
            <a:r>
              <a:rPr lang="en-US" sz="1200" dirty="0">
                <a:solidFill>
                  <a:srgbClr val="3A4A5C"/>
                </a:solidFill>
              </a:rPr>
              <a:t>YDK lead</a:t>
            </a:r>
            <a:endParaRPr lang="en-US" sz="1200" dirty="0"/>
          </a:p>
        </p:txBody>
      </p:sp>
      <p:sp>
        <p:nvSpPr>
          <p:cNvPr id="13" name="Shape 9"/>
          <p:cNvSpPr/>
          <p:nvPr/>
        </p:nvSpPr>
        <p:spPr>
          <a:xfrm>
            <a:off x="4864608" y="5559552"/>
            <a:ext cx="292608" cy="201168"/>
          </a:xfrm>
          <a:prstGeom prst="rect">
            <a:avLst/>
          </a:prstGeom>
          <a:solidFill>
            <a:srgbClr val="8C8C8C"/>
          </a:solidFill>
          <a:ln w="12700">
            <a:solidFill>
              <a:srgbClr val="8C8C8C"/>
            </a:solidFill>
            <a:prstDash val="solid"/>
          </a:ln>
        </p:spPr>
      </p:sp>
      <p:sp>
        <p:nvSpPr>
          <p:cNvPr id="14" name="Text 10"/>
          <p:cNvSpPr txBox="1"/>
          <p:nvPr/>
        </p:nvSpPr>
        <p:spPr>
          <a:xfrm>
            <a:off x="5230368" y="5504688"/>
            <a:ext cx="1280160" cy="310896"/>
          </a:xfrm>
          <a:prstGeom prst="rect">
            <a:avLst/>
          </a:prstGeom>
          <a:noFill/>
          <a:ln/>
        </p:spPr>
        <p:txBody>
          <a:bodyPr wrap="square" lIns="0" tIns="0" rIns="0" bIns="0" rtlCol="0" anchor="ctr"/>
          <a:lstStyle/>
          <a:p>
            <a:pPr indent="0" marL="0">
              <a:buNone/>
            </a:pPr>
            <a:r>
              <a:rPr lang="en-US" sz="1200" dirty="0">
                <a:solidFill>
                  <a:srgbClr val="3A4A5C"/>
                </a:solidFill>
              </a:rPr>
              <a:t>Whole team</a:t>
            </a:r>
            <a:endParaRPr lang="en-US" sz="1200" dirty="0"/>
          </a:p>
        </p:txBody>
      </p:sp>
      <p:sp>
        <p:nvSpPr>
          <p:cNvPr id="15" name="Shape 11"/>
          <p:cNvSpPr/>
          <p:nvPr/>
        </p:nvSpPr>
        <p:spPr>
          <a:xfrm>
            <a:off x="6510528" y="5559552"/>
            <a:ext cx="292608" cy="201168"/>
          </a:xfrm>
          <a:prstGeom prst="rect">
            <a:avLst/>
          </a:prstGeom>
          <a:solidFill>
            <a:srgbClr val="FFFFFF"/>
          </a:solidFill>
          <a:ln w="31750">
            <a:solidFill>
              <a:srgbClr val="C8102E"/>
            </a:solidFill>
            <a:prstDash val="solid"/>
          </a:ln>
        </p:spPr>
      </p:sp>
      <p:sp>
        <p:nvSpPr>
          <p:cNvPr id="16" name="Text 12"/>
          <p:cNvSpPr txBox="1"/>
          <p:nvPr/>
        </p:nvSpPr>
        <p:spPr>
          <a:xfrm>
            <a:off x="6876288" y="5504688"/>
            <a:ext cx="2743200" cy="310896"/>
          </a:xfrm>
          <a:prstGeom prst="rect">
            <a:avLst/>
          </a:prstGeom>
          <a:noFill/>
          <a:ln/>
        </p:spPr>
        <p:txBody>
          <a:bodyPr wrap="square" lIns="0" tIns="0" rIns="0" bIns="0" rtlCol="0" anchor="ctr"/>
          <a:lstStyle/>
          <a:p>
            <a:pPr indent="0" marL="0">
              <a:buNone/>
            </a:pPr>
            <a:r>
              <a:rPr lang="en-US" sz="1200" dirty="0">
                <a:solidFill>
                  <a:srgbClr val="3A4A5C"/>
                </a:solidFill>
              </a:rPr>
              <a:t>Critical path (zero float)</a:t>
            </a:r>
            <a:endParaRPr lang="en-US" sz="1200" dirty="0"/>
          </a:p>
        </p:txBody>
      </p:sp>
      <p:sp>
        <p:nvSpPr>
          <p:cNvPr id="17" name="Text 13"/>
          <p:cNvSpPr txBox="1"/>
          <p:nvPr/>
        </p:nvSpPr>
        <p:spPr>
          <a:xfrm>
            <a:off x="548640" y="5870448"/>
            <a:ext cx="11091672" cy="274320"/>
          </a:xfrm>
          <a:prstGeom prst="rect">
            <a:avLst/>
          </a:prstGeom>
          <a:noFill/>
          <a:ln/>
        </p:spPr>
        <p:txBody>
          <a:bodyPr wrap="square" lIns="0" tIns="0" rIns="0" bIns="0" rtlCol="0" anchor="t"/>
          <a:lstStyle/>
          <a:p>
            <a:pPr indent="0" marL="0">
              <a:buNone/>
            </a:pPr>
            <a:r>
              <a:rPr lang="en-US" sz="1100" dirty="0">
                <a:solidFill>
                  <a:srgbClr val="5B6B7B"/>
                </a:solidFill>
              </a:rPr>
              <a:t>Each box: package, lead, dates, duration, float, status · each member leads about 104 days of work · float: damage runs 51 days, R1 and R2 37 · 19 days of buffer before M8 (May 14) · Workbook 2, Figure 6a, Table 39a</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Plan to M2 (Nov 6)</a:t>
            </a:r>
            <a:endParaRPr lang="en-US" sz="3200" dirty="0"/>
          </a:p>
        </p:txBody>
      </p:sp>
      <p:sp>
        <p:nvSpPr>
          <p:cNvPr id="3" name="Shape 1"/>
          <p:cNvSpPr/>
          <p:nvPr/>
        </p:nvSpPr>
        <p:spPr>
          <a:xfrm>
            <a:off x="548640" y="1280160"/>
            <a:ext cx="3575304" cy="2651760"/>
          </a:xfrm>
          <a:prstGeom prst="roundRect">
            <a:avLst>
              <a:gd name="adj" fmla="val 2759"/>
            </a:avLst>
          </a:prstGeom>
          <a:solidFill>
            <a:srgbClr val="F2F4F7"/>
          </a:solidFill>
          <a:ln w="15875">
            <a:solidFill>
              <a:srgbClr val="F2F4F7"/>
            </a:solidFill>
            <a:prstDash val="solid"/>
          </a:ln>
        </p:spPr>
      </p:sp>
      <p:sp>
        <p:nvSpPr>
          <p:cNvPr id="4" name="Shape 2"/>
          <p:cNvSpPr/>
          <p:nvPr/>
        </p:nvSpPr>
        <p:spPr>
          <a:xfrm>
            <a:off x="685800" y="1417320"/>
            <a:ext cx="3300984" cy="384048"/>
          </a:xfrm>
          <a:prstGeom prst="roundRect">
            <a:avLst>
              <a:gd name="adj" fmla="val 50000"/>
            </a:avLst>
          </a:prstGeom>
          <a:solidFill>
            <a:srgbClr val="1F77B4"/>
          </a:solidFill>
          <a:ln w="12700">
            <a:solidFill>
              <a:srgbClr val="1F77B4"/>
            </a:solidFill>
            <a:prstDash val="solid"/>
          </a:ln>
        </p:spPr>
      </p:sp>
      <p:sp>
        <p:nvSpPr>
          <p:cNvPr id="5" name="Text 3"/>
          <p:cNvSpPr txBox="1"/>
          <p:nvPr/>
        </p:nvSpPr>
        <p:spPr>
          <a:xfrm>
            <a:off x="685800" y="1417320"/>
            <a:ext cx="3300984" cy="384048"/>
          </a:xfrm>
          <a:prstGeom prst="rect">
            <a:avLst/>
          </a:prstGeom>
          <a:noFill/>
          <a:ln/>
        </p:spPr>
        <p:txBody>
          <a:bodyPr wrap="square" lIns="0" tIns="0" rIns="0" bIns="0" rtlCol="0" anchor="ctr"/>
          <a:lstStyle/>
          <a:p>
            <a:pPr algn="ctr" indent="0" marL="0">
              <a:buNone/>
            </a:pPr>
            <a:r>
              <a:rPr lang="en-US" sz="1400" b="1" dirty="0">
                <a:solidFill>
                  <a:srgbClr val="FFFFFF"/>
                </a:solidFill>
              </a:rPr>
              <a:t>Testbed &amp; runtime</a:t>
            </a:r>
            <a:endParaRPr lang="en-US" sz="1400" dirty="0"/>
          </a:p>
        </p:txBody>
      </p:sp>
      <p:sp>
        <p:nvSpPr>
          <p:cNvPr id="6" name="Text 4"/>
          <p:cNvSpPr txBox="1"/>
          <p:nvPr/>
        </p:nvSpPr>
        <p:spPr>
          <a:xfrm>
            <a:off x="777240" y="2011680"/>
            <a:ext cx="3118104" cy="1828800"/>
          </a:xfrm>
          <a:prstGeom prst="rect">
            <a:avLst/>
          </a:prstGeom>
          <a:noFill/>
          <a:ln/>
        </p:spPr>
        <p:txBody>
          <a:bodyPr wrap="square" lIns="0" tIns="0" rIns="0" bIns="0" rtlCol="0" anchor="t"/>
          <a:lstStyle/>
          <a:p>
            <a:pPr indent="0" marL="0">
              <a:buNone/>
            </a:pPr>
            <a:r>
              <a:rPr lang="en-US" sz="1600" dirty="0">
                <a:solidFill>
                  <a:srgbClr val="1B2A3A"/>
                </a:solidFill>
              </a:rPr>
              <a:t>Clean-clone rerun under a second member’s own account · S1 and S10 on the cluster · CUDA-vs-CPU parity test (FR-E17) · Slurm array runner with requeue</a:t>
            </a:r>
            <a:endParaRPr lang="en-US" sz="1600" dirty="0"/>
          </a:p>
        </p:txBody>
      </p:sp>
      <p:sp>
        <p:nvSpPr>
          <p:cNvPr id="7" name="Shape 5"/>
          <p:cNvSpPr/>
          <p:nvPr/>
        </p:nvSpPr>
        <p:spPr>
          <a:xfrm>
            <a:off x="4306824" y="1280160"/>
            <a:ext cx="3575304" cy="2651760"/>
          </a:xfrm>
          <a:prstGeom prst="roundRect">
            <a:avLst>
              <a:gd name="adj" fmla="val 2759"/>
            </a:avLst>
          </a:prstGeom>
          <a:solidFill>
            <a:srgbClr val="F2F4F7"/>
          </a:solidFill>
          <a:ln w="15875">
            <a:solidFill>
              <a:srgbClr val="F2F4F7"/>
            </a:solidFill>
            <a:prstDash val="solid"/>
          </a:ln>
        </p:spPr>
      </p:sp>
      <p:sp>
        <p:nvSpPr>
          <p:cNvPr id="8" name="Shape 6"/>
          <p:cNvSpPr/>
          <p:nvPr/>
        </p:nvSpPr>
        <p:spPr>
          <a:xfrm>
            <a:off x="4443984" y="1417320"/>
            <a:ext cx="3300984" cy="384048"/>
          </a:xfrm>
          <a:prstGeom prst="roundRect">
            <a:avLst>
              <a:gd name="adj" fmla="val 50000"/>
            </a:avLst>
          </a:prstGeom>
          <a:solidFill>
            <a:srgbClr val="E8622C"/>
          </a:solidFill>
          <a:ln w="12700">
            <a:solidFill>
              <a:srgbClr val="E8622C"/>
            </a:solidFill>
            <a:prstDash val="solid"/>
          </a:ln>
        </p:spPr>
      </p:sp>
      <p:sp>
        <p:nvSpPr>
          <p:cNvPr id="9" name="Text 7"/>
          <p:cNvSpPr txBox="1"/>
          <p:nvPr/>
        </p:nvSpPr>
        <p:spPr>
          <a:xfrm>
            <a:off x="4443984" y="1417320"/>
            <a:ext cx="3300984" cy="384048"/>
          </a:xfrm>
          <a:prstGeom prst="rect">
            <a:avLst/>
          </a:prstGeom>
          <a:noFill/>
          <a:ln/>
        </p:spPr>
        <p:txBody>
          <a:bodyPr wrap="square" lIns="0" tIns="0" rIns="0" bIns="0" rtlCol="0" anchor="ctr"/>
          <a:lstStyle/>
          <a:p>
            <a:pPr algn="ctr" indent="0" marL="0">
              <a:buNone/>
            </a:pPr>
            <a:r>
              <a:rPr lang="en-US" sz="1400" b="1" dirty="0">
                <a:solidFill>
                  <a:srgbClr val="FFFFFF"/>
                </a:solidFill>
              </a:rPr>
              <a:t>Benchmarks &amp; analysis</a:t>
            </a:r>
            <a:endParaRPr lang="en-US" sz="1400" dirty="0"/>
          </a:p>
        </p:txBody>
      </p:sp>
      <p:sp>
        <p:nvSpPr>
          <p:cNvPr id="10" name="Text 8"/>
          <p:cNvSpPr txBox="1"/>
          <p:nvPr/>
        </p:nvSpPr>
        <p:spPr>
          <a:xfrm>
            <a:off x="4535424" y="2011680"/>
            <a:ext cx="3118104" cy="1828800"/>
          </a:xfrm>
          <a:prstGeom prst="rect">
            <a:avLst/>
          </a:prstGeom>
          <a:noFill/>
          <a:ln/>
        </p:spPr>
        <p:txBody>
          <a:bodyPr wrap="square" lIns="0" tIns="0" rIns="0" bIns="0" rtlCol="0" anchor="t"/>
          <a:lstStyle/>
          <a:p>
            <a:pPr indent="0" marL="0">
              <a:buNone/>
            </a:pPr>
            <a:r>
              <a:rPr lang="en-US" sz="1600" dirty="0">
                <a:solidFill>
                  <a:srgbClr val="1B2A3A"/>
                </a:solidFill>
              </a:rPr>
              <a:t>Human labels for the 30-step rater sample · decide on tool-level errors · inclusion filter · codebook v0 · OSF pre-registration with the mixed-effects plan</a:t>
            </a:r>
            <a:endParaRPr lang="en-US" sz="1600" dirty="0"/>
          </a:p>
        </p:txBody>
      </p:sp>
      <p:sp>
        <p:nvSpPr>
          <p:cNvPr id="11" name="Shape 9"/>
          <p:cNvSpPr/>
          <p:nvPr/>
        </p:nvSpPr>
        <p:spPr>
          <a:xfrm>
            <a:off x="8065008" y="1280160"/>
            <a:ext cx="3575304" cy="2651760"/>
          </a:xfrm>
          <a:prstGeom prst="roundRect">
            <a:avLst>
              <a:gd name="adj" fmla="val 2759"/>
            </a:avLst>
          </a:prstGeom>
          <a:solidFill>
            <a:srgbClr val="F2F4F7"/>
          </a:solidFill>
          <a:ln w="15875">
            <a:solidFill>
              <a:srgbClr val="F2F4F7"/>
            </a:solidFill>
            <a:prstDash val="solid"/>
          </a:ln>
        </p:spPr>
      </p:sp>
      <p:sp>
        <p:nvSpPr>
          <p:cNvPr id="12" name="Shape 10"/>
          <p:cNvSpPr/>
          <p:nvPr/>
        </p:nvSpPr>
        <p:spPr>
          <a:xfrm>
            <a:off x="8202168" y="1417320"/>
            <a:ext cx="3300984" cy="384048"/>
          </a:xfrm>
          <a:prstGeom prst="roundRect">
            <a:avLst>
              <a:gd name="adj" fmla="val 50000"/>
            </a:avLst>
          </a:prstGeom>
          <a:solidFill>
            <a:srgbClr val="1A9E6A"/>
          </a:solidFill>
          <a:ln w="12700">
            <a:solidFill>
              <a:srgbClr val="1A9E6A"/>
            </a:solidFill>
            <a:prstDash val="solid"/>
          </a:ln>
        </p:spPr>
      </p:sp>
      <p:sp>
        <p:nvSpPr>
          <p:cNvPr id="13" name="Text 11"/>
          <p:cNvSpPr txBox="1"/>
          <p:nvPr/>
        </p:nvSpPr>
        <p:spPr>
          <a:xfrm>
            <a:off x="8202168" y="1417320"/>
            <a:ext cx="3300984" cy="384048"/>
          </a:xfrm>
          <a:prstGeom prst="rect">
            <a:avLst/>
          </a:prstGeom>
          <a:noFill/>
          <a:ln/>
        </p:spPr>
        <p:txBody>
          <a:bodyPr wrap="square" lIns="0" tIns="0" rIns="0" bIns="0" rtlCol="0" anchor="ctr"/>
          <a:lstStyle/>
          <a:p>
            <a:pPr algn="ctr" indent="0" marL="0">
              <a:buNone/>
            </a:pPr>
            <a:r>
              <a:rPr lang="en-US" sz="1400" b="1" dirty="0">
                <a:solidFill>
                  <a:srgbClr val="FFFFFF"/>
                </a:solidFill>
              </a:rPr>
              <a:t>Models &amp; repairs</a:t>
            </a:r>
            <a:endParaRPr lang="en-US" sz="1400" dirty="0"/>
          </a:p>
        </p:txBody>
      </p:sp>
      <p:sp>
        <p:nvSpPr>
          <p:cNvPr id="14" name="Text 12"/>
          <p:cNvSpPr txBox="1"/>
          <p:nvPr/>
        </p:nvSpPr>
        <p:spPr>
          <a:xfrm>
            <a:off x="8293608" y="2011680"/>
            <a:ext cx="3118104" cy="1828800"/>
          </a:xfrm>
          <a:prstGeom prst="rect">
            <a:avLst/>
          </a:prstGeom>
          <a:noFill/>
          <a:ln/>
        </p:spPr>
        <p:txBody>
          <a:bodyPr wrap="square" lIns="0" tIns="0" rIns="0" bIns="0" rtlCol="0" anchor="t"/>
          <a:lstStyle/>
          <a:p>
            <a:pPr indent="0" marL="0">
              <a:buNone/>
            </a:pPr>
            <a:r>
              <a:rPr lang="en-US" sz="1600" dirty="0">
                <a:solidFill>
                  <a:srgbClr val="1B2A3A"/>
                </a:solidFill>
              </a:rPr>
              <a:t>BF16 conversions of all models with KL checks · τ² simulator as an A100 job · mixed-effects R script and its planted-effect check</a:t>
            </a:r>
            <a:endParaRPr lang="en-US" sz="1600" dirty="0"/>
          </a:p>
        </p:txBody>
      </p:sp>
      <p:sp>
        <p:nvSpPr>
          <p:cNvPr id="15" name="Shape 13"/>
          <p:cNvSpPr/>
          <p:nvPr/>
        </p:nvSpPr>
        <p:spPr>
          <a:xfrm>
            <a:off x="548640" y="4160520"/>
            <a:ext cx="11091672" cy="914400"/>
          </a:xfrm>
          <a:prstGeom prst="roundRect">
            <a:avLst>
              <a:gd name="adj" fmla="val 6000"/>
            </a:avLst>
          </a:prstGeom>
          <a:solidFill>
            <a:srgbClr val="1B2A3A"/>
          </a:solidFill>
          <a:ln w="12700">
            <a:solidFill>
              <a:srgbClr val="1B2A3A"/>
            </a:solidFill>
            <a:prstDash val="solid"/>
          </a:ln>
        </p:spPr>
      </p:sp>
      <p:sp>
        <p:nvSpPr>
          <p:cNvPr id="16" name="Text 14"/>
          <p:cNvSpPr txBox="1"/>
          <p:nvPr/>
        </p:nvSpPr>
        <p:spPr>
          <a:xfrm>
            <a:off x="822960" y="4160520"/>
            <a:ext cx="10543032" cy="914400"/>
          </a:xfrm>
          <a:prstGeom prst="rect">
            <a:avLst/>
          </a:prstGeom>
          <a:noFill/>
          <a:ln/>
        </p:spPr>
        <p:txBody>
          <a:bodyPr wrap="square" lIns="0" tIns="0" rIns="0" bIns="0" rtlCol="0" anchor="ctr"/>
          <a:lstStyle/>
          <a:p>
            <a:pPr indent="0" marL="0">
              <a:buNone/>
            </a:pPr>
            <a:r>
              <a:rPr lang="en-US" sz="1600" b="1" dirty="0">
                <a:solidFill>
                  <a:srgbClr val="FFFFFF"/>
                </a:solidFill>
              </a:rPr>
              <a:t>M2 on Nov 6: </a:t>
            </a:r>
            <a:pPr indent="0" marL="0">
              <a:buNone/>
            </a:pPr>
            <a:r>
              <a:rPr lang="en-US" sz="1600" dirty="0">
                <a:solidFill>
                  <a:srgbClr val="FFFFFF"/>
                </a:solidFill>
              </a:rPr>
              <a:t>BF16 references for every model on the cluster, two members’ own cluster runs, codebook v0, and human labels for the 30-step rater sample.</a:t>
            </a:r>
            <a:endParaRPr lang="en-US" sz="1600" dirty="0"/>
          </a:p>
        </p:txBody>
      </p:sp>
      <p:sp>
        <p:nvSpPr>
          <p:cNvPr id="17" name="Text 15"/>
          <p:cNvSpPr txBox="1"/>
          <p:nvPr/>
        </p:nvSpPr>
        <p:spPr>
          <a:xfrm>
            <a:off x="548640" y="5257800"/>
            <a:ext cx="11091672" cy="274320"/>
          </a:xfrm>
          <a:prstGeom prst="rect">
            <a:avLst/>
          </a:prstGeom>
          <a:noFill/>
          <a:ln/>
        </p:spPr>
        <p:txBody>
          <a:bodyPr wrap="square" lIns="0" tIns="0" rIns="0" bIns="0" rtlCol="0" anchor="t"/>
          <a:lstStyle/>
          <a:p>
            <a:pPr indent="0" marL="0">
              <a:buNone/>
            </a:pPr>
            <a:r>
              <a:rPr lang="en-US" sz="1100" dirty="0">
                <a:solidFill>
                  <a:srgbClr val="5B6B7B"/>
                </a:solidFill>
              </a:rPr>
              <a:t>Workbook 2, Tables 37b and 39 (Sprint 5)</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914400"/>
            <a:ext cx="10698480" cy="822960"/>
          </a:xfrm>
          <a:prstGeom prst="rect">
            <a:avLst/>
          </a:prstGeom>
          <a:noFill/>
          <a:ln/>
        </p:spPr>
        <p:txBody>
          <a:bodyPr wrap="square" lIns="0" tIns="0" rIns="0" bIns="0" rtlCol="0" anchor="ctr"/>
          <a:lstStyle/>
          <a:p>
            <a:pPr indent="0" marL="0">
              <a:buNone/>
            </a:pPr>
            <a:r>
              <a:rPr lang="en-US" sz="3600" b="1" dirty="0">
                <a:solidFill>
                  <a:srgbClr val="FFFFFF"/>
                </a:solidFill>
              </a:rPr>
              <a:t>Decisions we need from you</a:t>
            </a:r>
            <a:endParaRPr lang="en-US" sz="3600" dirty="0"/>
          </a:p>
        </p:txBody>
      </p:sp>
      <p:sp>
        <p:nvSpPr>
          <p:cNvPr id="3" name="Shape 1"/>
          <p:cNvSpPr/>
          <p:nvPr/>
        </p:nvSpPr>
        <p:spPr>
          <a:xfrm>
            <a:off x="731520" y="2075688"/>
            <a:ext cx="384048" cy="384048"/>
          </a:xfrm>
          <a:prstGeom prst="ellipse">
            <a:avLst/>
          </a:prstGeom>
          <a:solidFill>
            <a:srgbClr val="A9CBEA"/>
          </a:solidFill>
          <a:ln w="12700">
            <a:solidFill>
              <a:srgbClr val="A9CBEA"/>
            </a:solidFill>
            <a:prstDash val="solid"/>
          </a:ln>
        </p:spPr>
      </p:sp>
      <p:sp>
        <p:nvSpPr>
          <p:cNvPr id="4" name="Text 2"/>
          <p:cNvSpPr txBox="1"/>
          <p:nvPr/>
        </p:nvSpPr>
        <p:spPr>
          <a:xfrm>
            <a:off x="731520" y="2075688"/>
            <a:ext cx="384048" cy="384048"/>
          </a:xfrm>
          <a:prstGeom prst="rect">
            <a:avLst/>
          </a:prstGeom>
          <a:noFill/>
          <a:ln/>
        </p:spPr>
        <p:txBody>
          <a:bodyPr wrap="square" lIns="0" tIns="0" rIns="0" bIns="0" rtlCol="0" anchor="ctr"/>
          <a:lstStyle/>
          <a:p>
            <a:pPr algn="ctr" indent="0" marL="0">
              <a:buNone/>
            </a:pPr>
            <a:r>
              <a:rPr lang="en-US" sz="1500" b="1" dirty="0">
                <a:solidFill>
                  <a:srgbClr val="1B2A3A"/>
                </a:solidFill>
              </a:rPr>
              <a:t>1</a:t>
            </a:r>
            <a:endParaRPr lang="en-US" sz="1500" dirty="0"/>
          </a:p>
        </p:txBody>
      </p:sp>
      <p:sp>
        <p:nvSpPr>
          <p:cNvPr id="5" name="Text 3"/>
          <p:cNvSpPr txBox="1"/>
          <p:nvPr/>
        </p:nvSpPr>
        <p:spPr>
          <a:xfrm>
            <a:off x="1325880" y="2011680"/>
            <a:ext cx="10149840" cy="512064"/>
          </a:xfrm>
          <a:prstGeom prst="rect">
            <a:avLst/>
          </a:prstGeom>
          <a:noFill/>
          <a:ln/>
        </p:spPr>
        <p:txBody>
          <a:bodyPr wrap="square" lIns="0" tIns="0" rIns="0" bIns="0" rtlCol="0" anchor="ctr"/>
          <a:lstStyle/>
          <a:p>
            <a:pPr indent="0" marL="0">
              <a:buNone/>
            </a:pPr>
            <a:r>
              <a:rPr lang="en-US" sz="1900" dirty="0">
                <a:solidFill>
                  <a:srgbClr val="FFFFFF"/>
                </a:solidFill>
              </a:rPr>
              <a:t>Accept M1 as reached on Colab, with the cluster criteria and the second member’s rerun at M2</a:t>
            </a:r>
            <a:endParaRPr lang="en-US" sz="1900" dirty="0"/>
          </a:p>
        </p:txBody>
      </p:sp>
      <p:sp>
        <p:nvSpPr>
          <p:cNvPr id="6" name="Shape 4"/>
          <p:cNvSpPr/>
          <p:nvPr/>
        </p:nvSpPr>
        <p:spPr>
          <a:xfrm>
            <a:off x="731520" y="2697480"/>
            <a:ext cx="384048" cy="384048"/>
          </a:xfrm>
          <a:prstGeom prst="ellipse">
            <a:avLst/>
          </a:prstGeom>
          <a:solidFill>
            <a:srgbClr val="A9CBEA"/>
          </a:solidFill>
          <a:ln w="12700">
            <a:solidFill>
              <a:srgbClr val="A9CBEA"/>
            </a:solidFill>
            <a:prstDash val="solid"/>
          </a:ln>
        </p:spPr>
      </p:sp>
      <p:sp>
        <p:nvSpPr>
          <p:cNvPr id="7" name="Text 5"/>
          <p:cNvSpPr txBox="1"/>
          <p:nvPr/>
        </p:nvSpPr>
        <p:spPr>
          <a:xfrm>
            <a:off x="731520" y="2697480"/>
            <a:ext cx="384048" cy="384048"/>
          </a:xfrm>
          <a:prstGeom prst="rect">
            <a:avLst/>
          </a:prstGeom>
          <a:noFill/>
          <a:ln/>
        </p:spPr>
        <p:txBody>
          <a:bodyPr wrap="square" lIns="0" tIns="0" rIns="0" bIns="0" rtlCol="0" anchor="ctr"/>
          <a:lstStyle/>
          <a:p>
            <a:pPr algn="ctr" indent="0" marL="0">
              <a:buNone/>
            </a:pPr>
            <a:r>
              <a:rPr lang="en-US" sz="1500" b="1" dirty="0">
                <a:solidFill>
                  <a:srgbClr val="1B2A3A"/>
                </a:solidFill>
              </a:rPr>
              <a:t>2</a:t>
            </a:r>
            <a:endParaRPr lang="en-US" sz="1500" dirty="0"/>
          </a:p>
        </p:txBody>
      </p:sp>
      <p:sp>
        <p:nvSpPr>
          <p:cNvPr id="8" name="Text 6"/>
          <p:cNvSpPr txBox="1"/>
          <p:nvPr/>
        </p:nvSpPr>
        <p:spPr>
          <a:xfrm>
            <a:off x="1325880" y="2633472"/>
            <a:ext cx="10149840" cy="512064"/>
          </a:xfrm>
          <a:prstGeom prst="rect">
            <a:avLst/>
          </a:prstGeom>
          <a:noFill/>
          <a:ln/>
        </p:spPr>
        <p:txBody>
          <a:bodyPr wrap="square" lIns="0" tIns="0" rIns="0" bIns="0" rtlCol="0" anchor="ctr"/>
          <a:lstStyle/>
          <a:p>
            <a:pPr indent="0" marL="0">
              <a:buNone/>
            </a:pPr>
            <a:r>
              <a:rPr lang="en-US" sz="1900" dirty="0">
                <a:solidFill>
                  <a:srgbClr val="FFFFFF"/>
                </a:solidFill>
              </a:rPr>
              <a:t>Make step-level outcomes the primary M2 outcome (episode accuracy is 0% at 0.6B)</a:t>
            </a:r>
            <a:endParaRPr lang="en-US" sz="1900" dirty="0"/>
          </a:p>
        </p:txBody>
      </p:sp>
      <p:sp>
        <p:nvSpPr>
          <p:cNvPr id="9" name="Shape 7"/>
          <p:cNvSpPr/>
          <p:nvPr/>
        </p:nvSpPr>
        <p:spPr>
          <a:xfrm>
            <a:off x="731520" y="3319272"/>
            <a:ext cx="384048" cy="384048"/>
          </a:xfrm>
          <a:prstGeom prst="ellipse">
            <a:avLst/>
          </a:prstGeom>
          <a:solidFill>
            <a:srgbClr val="A9CBEA"/>
          </a:solidFill>
          <a:ln w="12700">
            <a:solidFill>
              <a:srgbClr val="A9CBEA"/>
            </a:solidFill>
            <a:prstDash val="solid"/>
          </a:ln>
        </p:spPr>
      </p:sp>
      <p:sp>
        <p:nvSpPr>
          <p:cNvPr id="10" name="Text 8"/>
          <p:cNvSpPr txBox="1"/>
          <p:nvPr/>
        </p:nvSpPr>
        <p:spPr>
          <a:xfrm>
            <a:off x="731520" y="3319272"/>
            <a:ext cx="384048" cy="384048"/>
          </a:xfrm>
          <a:prstGeom prst="rect">
            <a:avLst/>
          </a:prstGeom>
          <a:noFill/>
          <a:ln/>
        </p:spPr>
        <p:txBody>
          <a:bodyPr wrap="square" lIns="0" tIns="0" rIns="0" bIns="0" rtlCol="0" anchor="ctr"/>
          <a:lstStyle/>
          <a:p>
            <a:pPr algn="ctr" indent="0" marL="0">
              <a:buNone/>
            </a:pPr>
            <a:r>
              <a:rPr lang="en-US" sz="1500" b="1" dirty="0">
                <a:solidFill>
                  <a:srgbClr val="1B2A3A"/>
                </a:solidFill>
              </a:rPr>
              <a:t>3</a:t>
            </a:r>
            <a:endParaRPr lang="en-US" sz="1500" dirty="0"/>
          </a:p>
        </p:txBody>
      </p:sp>
      <p:sp>
        <p:nvSpPr>
          <p:cNvPr id="11" name="Text 9"/>
          <p:cNvSpPr txBox="1"/>
          <p:nvPr/>
        </p:nvSpPr>
        <p:spPr>
          <a:xfrm>
            <a:off x="1325880" y="3255264"/>
            <a:ext cx="10149840" cy="512064"/>
          </a:xfrm>
          <a:prstGeom prst="rect">
            <a:avLst/>
          </a:prstGeom>
          <a:noFill/>
          <a:ln/>
        </p:spPr>
        <p:txBody>
          <a:bodyPr wrap="square" lIns="0" tIns="0" rIns="0" bIns="0" rtlCol="0" anchor="ctr"/>
          <a:lstStyle/>
          <a:p>
            <a:pPr indent="0" marL="0">
              <a:buNone/>
            </a:pPr>
            <a:r>
              <a:rPr lang="en-US" sz="1900" dirty="0">
                <a:solidFill>
                  <a:srgbClr val="FFFFFF"/>
                </a:solidFill>
              </a:rPr>
              <a:t>τ² simulator from M2: an A100 job inside the cluster (recommended), or keep the GCP VM</a:t>
            </a:r>
            <a:endParaRPr lang="en-US" sz="1900" dirty="0"/>
          </a:p>
        </p:txBody>
      </p:sp>
      <p:sp>
        <p:nvSpPr>
          <p:cNvPr id="12" name="Shape 10"/>
          <p:cNvSpPr/>
          <p:nvPr/>
        </p:nvSpPr>
        <p:spPr>
          <a:xfrm>
            <a:off x="731520" y="3941064"/>
            <a:ext cx="384048" cy="384048"/>
          </a:xfrm>
          <a:prstGeom prst="ellipse">
            <a:avLst/>
          </a:prstGeom>
          <a:solidFill>
            <a:srgbClr val="A9CBEA"/>
          </a:solidFill>
          <a:ln w="12700">
            <a:solidFill>
              <a:srgbClr val="A9CBEA"/>
            </a:solidFill>
            <a:prstDash val="solid"/>
          </a:ln>
        </p:spPr>
      </p:sp>
      <p:sp>
        <p:nvSpPr>
          <p:cNvPr id="13" name="Text 11"/>
          <p:cNvSpPr txBox="1"/>
          <p:nvPr/>
        </p:nvSpPr>
        <p:spPr>
          <a:xfrm>
            <a:off x="731520" y="3941064"/>
            <a:ext cx="384048" cy="384048"/>
          </a:xfrm>
          <a:prstGeom prst="rect">
            <a:avLst/>
          </a:prstGeom>
          <a:noFill/>
          <a:ln/>
        </p:spPr>
        <p:txBody>
          <a:bodyPr wrap="square" lIns="0" tIns="0" rIns="0" bIns="0" rtlCol="0" anchor="ctr"/>
          <a:lstStyle/>
          <a:p>
            <a:pPr algn="ctr" indent="0" marL="0">
              <a:buNone/>
            </a:pPr>
            <a:r>
              <a:rPr lang="en-US" sz="1500" b="1" dirty="0">
                <a:solidFill>
                  <a:srgbClr val="1B2A3A"/>
                </a:solidFill>
              </a:rPr>
              <a:t>4</a:t>
            </a:r>
            <a:endParaRPr lang="en-US" sz="1500" dirty="0"/>
          </a:p>
        </p:txBody>
      </p:sp>
      <p:sp>
        <p:nvSpPr>
          <p:cNvPr id="14" name="Text 12"/>
          <p:cNvSpPr txBox="1"/>
          <p:nvPr/>
        </p:nvSpPr>
        <p:spPr>
          <a:xfrm>
            <a:off x="1325880" y="3877056"/>
            <a:ext cx="10149840" cy="512064"/>
          </a:xfrm>
          <a:prstGeom prst="rect">
            <a:avLst/>
          </a:prstGeom>
          <a:noFill/>
          <a:ln/>
        </p:spPr>
        <p:txBody>
          <a:bodyPr wrap="square" lIns="0" tIns="0" rIns="0" bIns="0" rtlCol="0" anchor="ctr"/>
          <a:lstStyle/>
          <a:p>
            <a:pPr indent="0" marL="0">
              <a:buNone/>
            </a:pPr>
            <a:r>
              <a:rPr lang="en-US" sz="1900" dirty="0">
                <a:solidFill>
                  <a:srgbClr val="FFFFFF"/>
                </a:solidFill>
              </a:rPr>
              <a:t>Confirm the dispersion convention and the mixed-effects analysis as on points 1 and 2</a:t>
            </a:r>
            <a:endParaRPr lang="en-US" sz="1900" dirty="0"/>
          </a:p>
        </p:txBody>
      </p:sp>
      <p:sp>
        <p:nvSpPr>
          <p:cNvPr id="15" name="Shape 13"/>
          <p:cNvSpPr/>
          <p:nvPr/>
        </p:nvSpPr>
        <p:spPr>
          <a:xfrm>
            <a:off x="731520" y="4562856"/>
            <a:ext cx="384048" cy="384048"/>
          </a:xfrm>
          <a:prstGeom prst="ellipse">
            <a:avLst/>
          </a:prstGeom>
          <a:solidFill>
            <a:srgbClr val="A9CBEA"/>
          </a:solidFill>
          <a:ln w="12700">
            <a:solidFill>
              <a:srgbClr val="A9CBEA"/>
            </a:solidFill>
            <a:prstDash val="solid"/>
          </a:ln>
        </p:spPr>
      </p:sp>
      <p:sp>
        <p:nvSpPr>
          <p:cNvPr id="16" name="Text 14"/>
          <p:cNvSpPr txBox="1"/>
          <p:nvPr/>
        </p:nvSpPr>
        <p:spPr>
          <a:xfrm>
            <a:off x="731520" y="4562856"/>
            <a:ext cx="384048" cy="384048"/>
          </a:xfrm>
          <a:prstGeom prst="rect">
            <a:avLst/>
          </a:prstGeom>
          <a:noFill/>
          <a:ln/>
        </p:spPr>
        <p:txBody>
          <a:bodyPr wrap="square" lIns="0" tIns="0" rIns="0" bIns="0" rtlCol="0" anchor="ctr"/>
          <a:lstStyle/>
          <a:p>
            <a:pPr algn="ctr" indent="0" marL="0">
              <a:buNone/>
            </a:pPr>
            <a:r>
              <a:rPr lang="en-US" sz="1500" b="1" dirty="0">
                <a:solidFill>
                  <a:srgbClr val="1B2A3A"/>
                </a:solidFill>
              </a:rPr>
              <a:t>5</a:t>
            </a:r>
            <a:endParaRPr lang="en-US" sz="1500" dirty="0"/>
          </a:p>
        </p:txBody>
      </p:sp>
      <p:sp>
        <p:nvSpPr>
          <p:cNvPr id="17" name="Text 15"/>
          <p:cNvSpPr txBox="1"/>
          <p:nvPr/>
        </p:nvSpPr>
        <p:spPr>
          <a:xfrm>
            <a:off x="1325880" y="4498848"/>
            <a:ext cx="10149840" cy="512064"/>
          </a:xfrm>
          <a:prstGeom prst="rect">
            <a:avLst/>
          </a:prstGeom>
          <a:noFill/>
          <a:ln/>
        </p:spPr>
        <p:txBody>
          <a:bodyPr wrap="square" lIns="0" tIns="0" rIns="0" bIns="0" rtlCol="0" anchor="ctr"/>
          <a:lstStyle/>
          <a:p>
            <a:pPr indent="0" marL="0">
              <a:buNone/>
            </a:pPr>
            <a:r>
              <a:rPr lang="en-US" sz="1900" dirty="0">
                <a:solidFill>
                  <a:srgbClr val="FFFFFF"/>
                </a:solidFill>
              </a:rPr>
              <a:t>M4 on Dec 18 as planned, or Dec 11 so 295A closes on a finished milestone</a:t>
            </a:r>
            <a:endParaRPr lang="en-US" sz="1900" dirty="0"/>
          </a:p>
        </p:txBody>
      </p:sp>
      <p:sp>
        <p:nvSpPr>
          <p:cNvPr id="18" name="Shape 16"/>
          <p:cNvSpPr/>
          <p:nvPr/>
        </p:nvSpPr>
        <p:spPr>
          <a:xfrm>
            <a:off x="731520" y="5184648"/>
            <a:ext cx="384048" cy="384048"/>
          </a:xfrm>
          <a:prstGeom prst="ellipse">
            <a:avLst/>
          </a:prstGeom>
          <a:solidFill>
            <a:srgbClr val="A9CBEA"/>
          </a:solidFill>
          <a:ln w="12700">
            <a:solidFill>
              <a:srgbClr val="A9CBEA"/>
            </a:solidFill>
            <a:prstDash val="solid"/>
          </a:ln>
        </p:spPr>
      </p:sp>
      <p:sp>
        <p:nvSpPr>
          <p:cNvPr id="19" name="Text 17"/>
          <p:cNvSpPr txBox="1"/>
          <p:nvPr/>
        </p:nvSpPr>
        <p:spPr>
          <a:xfrm>
            <a:off x="731520" y="5184648"/>
            <a:ext cx="384048" cy="384048"/>
          </a:xfrm>
          <a:prstGeom prst="rect">
            <a:avLst/>
          </a:prstGeom>
          <a:noFill/>
          <a:ln/>
        </p:spPr>
        <p:txBody>
          <a:bodyPr wrap="square" lIns="0" tIns="0" rIns="0" bIns="0" rtlCol="0" anchor="ctr"/>
          <a:lstStyle/>
          <a:p>
            <a:pPr algn="ctr" indent="0" marL="0">
              <a:buNone/>
            </a:pPr>
            <a:r>
              <a:rPr lang="en-US" sz="1500" b="1" dirty="0">
                <a:solidFill>
                  <a:srgbClr val="1B2A3A"/>
                </a:solidFill>
              </a:rPr>
              <a:t>6</a:t>
            </a:r>
            <a:endParaRPr lang="en-US" sz="1500" dirty="0"/>
          </a:p>
        </p:txBody>
      </p:sp>
      <p:sp>
        <p:nvSpPr>
          <p:cNvPr id="20" name="Text 18"/>
          <p:cNvSpPr txBox="1"/>
          <p:nvPr/>
        </p:nvSpPr>
        <p:spPr>
          <a:xfrm>
            <a:off x="1325880" y="5120640"/>
            <a:ext cx="10149840" cy="512064"/>
          </a:xfrm>
          <a:prstGeom prst="rect">
            <a:avLst/>
          </a:prstGeom>
          <a:noFill/>
          <a:ln/>
        </p:spPr>
        <p:txBody>
          <a:bodyPr wrap="square" lIns="0" tIns="0" rIns="0" bIns="0" rtlCol="0" anchor="ctr"/>
          <a:lstStyle/>
          <a:p>
            <a:pPr indent="0" marL="0">
              <a:buNone/>
            </a:pPr>
            <a:r>
              <a:rPr lang="en-US" sz="1900" dirty="0">
                <a:solidFill>
                  <a:srgbClr val="FFFFFF"/>
                </a:solidFill>
              </a:rPr>
              <a:t>Accept the vision-language extension as optional 295B scope, go/no-go at M6</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Full schedule, Fall 2026 to Spring 2027</a:t>
            </a:r>
            <a:endParaRPr lang="en-US" sz="3200" dirty="0"/>
          </a:p>
        </p:txBody>
      </p:sp>
      <p:sp>
        <p:nvSpPr>
          <p:cNvPr id="3" name="Shape 1"/>
          <p:cNvSpPr/>
          <p:nvPr/>
        </p:nvSpPr>
        <p:spPr>
          <a:xfrm>
            <a:off x="548640" y="1188720"/>
            <a:ext cx="11091672" cy="4526280"/>
          </a:xfrm>
          <a:prstGeom prst="rect">
            <a:avLst/>
          </a:prstGeom>
          <a:solidFill>
            <a:srgbClr val="FFFFFF"/>
          </a:solidFill>
          <a:ln w="9525">
            <a:solidFill>
              <a:srgbClr val="D5DAE1"/>
            </a:solidFill>
            <a:prstDash val="solid"/>
          </a:ln>
        </p:spPr>
      </p:sp>
      <p:pic>
        <p:nvPicPr>
          <p:cNvPr id="4" name="Image 0" descr="Gantt chart for both semesters with the status line on Oct 26, M1 reached, the cluster slip and course deadlines">    </p:cNvPr>
          <p:cNvPicPr>
            <a:picLocks noChangeAspect="1"/>
          </p:cNvPicPr>
          <p:nvPr/>
        </p:nvPicPr>
        <p:blipFill>
          <a:blip r:embed="rId1"/>
          <a:stretch>
            <a:fillRect/>
          </a:stretch>
        </p:blipFill>
        <p:spPr>
          <a:xfrm>
            <a:off x="3496454" y="1234440"/>
            <a:ext cx="5196044" cy="4434840"/>
          </a:xfrm>
          <a:prstGeom prst="rect">
            <a:avLst/>
          </a:prstGeom>
        </p:spPr>
      </p:pic>
      <p:sp>
        <p:nvSpPr>
          <p:cNvPr id="5" name="Text 2"/>
          <p:cNvSpPr txBox="1"/>
          <p:nvPr/>
        </p:nvSpPr>
        <p:spPr>
          <a:xfrm>
            <a:off x="548640" y="5806440"/>
            <a:ext cx="11091672" cy="274320"/>
          </a:xfrm>
          <a:prstGeom prst="rect">
            <a:avLst/>
          </a:prstGeom>
          <a:noFill/>
          <a:ln/>
        </p:spPr>
        <p:txBody>
          <a:bodyPr wrap="square" lIns="0" tIns="0" rIns="0" bIns="0" rtlCol="0" anchor="t"/>
          <a:lstStyle/>
          <a:p>
            <a:pPr indent="0" marL="0">
              <a:buNone/>
            </a:pPr>
            <a:r>
              <a:rPr lang="en-US" sz="1100" dirty="0">
                <a:solidFill>
                  <a:srgbClr val="5B6B7B"/>
                </a:solidFill>
              </a:rPr>
              <a:t>What the figure shows: every task by sprint for both semesters; bar colour = lead (blue EK, orange VM, green YDK, grey whole team); dashed line = status date Oct 26; diamonds = milestones; triangles = course deadlines. Workbook 2, Figure 6.</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title" hasCustomPrompt="1"/>
          </p:nvPr>
        </p:nvSpPr>
        <p:spPr>
          <a:xfrm>
            <a:off x="548640" y="320040"/>
            <a:ext cx="9418320" cy="731520"/>
          </a:xfrm>
          <a:prstGeom prst="rect">
            <a:avLst/>
          </a:prstGeom>
          <a:noFill/>
          <a:ln/>
        </p:spPr>
        <p:txBody>
          <a:bodyPr wrap="square" lIns="0" tIns="0" rIns="0" bIns="0" rtlCol="0" anchor="ctr"/>
          <a:lstStyle/>
          <a:p>
            <a:pPr algn="l" indent="0" marL="0">
              <a:buNone/>
            </a:pPr>
            <a:r>
              <a:rPr lang="en-US" sz="3200" b="1" dirty="0">
                <a:solidFill>
                  <a:srgbClr val="1B2A3A"/>
                </a:solidFill>
              </a:rPr>
              <a:t>Where each Workbook 2 rubric item is answered</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108960"/>
                <a:gridCol w="7982712"/>
              </a:tblGrid>
              <a:tr h="411480">
                <a:tc>
                  <a:txBody>
                    <a:bodyPr/>
                    <a:lstStyle/>
                    <a:p>
                      <a:pPr indent="0" marL="0">
                        <a:buNone/>
                      </a:pPr>
                      <a:r>
                        <a:rPr lang="en-US" sz="1500" b="1" dirty="0">
                          <a:solidFill>
                            <a:srgbClr val="FFFFFF"/>
                          </a:solidFill>
                        </a:rPr>
                        <a:t>Rubric item</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c>
                  <a:txBody>
                    <a:bodyPr/>
                    <a:lstStyle/>
                    <a:p>
                      <a:pPr indent="0" marL="0">
                        <a:buNone/>
                      </a:pPr>
                      <a:r>
                        <a:rPr lang="en-US" sz="1500" b="1" dirty="0">
                          <a:solidFill>
                            <a:srgbClr val="FFFFFF"/>
                          </a:solidFill>
                        </a:rPr>
                        <a:t>Where in Workbook 2</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B2A3A"/>
                    </a:solidFill>
                  </a:tcPr>
                </a:tc>
              </a:tr>
              <a:tr h="822960">
                <a:tc>
                  <a:txBody>
                    <a:bodyPr/>
                    <a:lstStyle/>
                    <a:p>
                      <a:pPr indent="0" marL="0">
                        <a:buNone/>
                      </a:pPr>
                      <a:r>
                        <a:rPr lang="en-US" sz="1500" dirty="0">
                          <a:solidFill>
                            <a:srgbClr val="1B2A3A"/>
                          </a:solidFill>
                        </a:rPr>
                        <a:t>WB2-6 Evaluation Methodology</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rPr>
                        <a:t>Ch. 3 baselines (Tables 11–15); Ch. 7 validity, statistical analysis and evaluation plans; Ch. 8 pilot (Table 35a) and M1 results (Table 36a)</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822960">
                <a:tc>
                  <a:txBody>
                    <a:bodyPr/>
                    <a:lstStyle/>
                    <a:p>
                      <a:pPr indent="0" marL="0">
                        <a:buNone/>
                      </a:pPr>
                      <a:r>
                        <a:rPr lang="en-US" sz="1500" dirty="0">
                          <a:solidFill>
                            <a:srgbClr val="1B2A3A"/>
                          </a:solidFill>
                        </a:rPr>
                        <a:t>WB2-7 System Design / Methodology</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500" dirty="0">
                          <a:solidFill>
                            <a:srgbClr val="1B2A3A"/>
                          </a:solidFill>
                        </a:rPr>
                        <a:t>Ch. 5 System and Infrastructure Architecture (Figures 1, 1a; Tables 19, 19a, 20); Ch. 6 design; Ch. 8 reproduction steps</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r h="822960">
                <a:tc>
                  <a:txBody>
                    <a:bodyPr/>
                    <a:lstStyle/>
                    <a:p>
                      <a:pPr indent="0" marL="0">
                        <a:buNone/>
                      </a:pPr>
                      <a:r>
                        <a:rPr lang="en-US" sz="1500" dirty="0">
                          <a:solidFill>
                            <a:srgbClr val="1B2A3A"/>
                          </a:solidFill>
                        </a:rPr>
                        <a:t>WB2-8 Implementation Plan and Progress</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rPr>
                        <a:t>Ch. 8 (Tables 31–37b): environment, spikes, pilot, M1 results, progress log, plan to M2, cluster onboarding, decisions</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822960">
                <a:tc>
                  <a:txBody>
                    <a:bodyPr/>
                    <a:lstStyle/>
                    <a:p>
                      <a:pPr indent="0" marL="0">
                        <a:buNone/>
                      </a:pPr>
                      <a:r>
                        <a:rPr lang="en-US" sz="1500" dirty="0">
                          <a:solidFill>
                            <a:srgbClr val="1B2A3A"/>
                          </a:solidFill>
                        </a:rPr>
                        <a:t>WB2-9 Project Schedule</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c>
                  <a:txBody>
                    <a:bodyPr/>
                    <a:lstStyle/>
                    <a:p>
                      <a:pPr indent="0" marL="0">
                        <a:buNone/>
                      </a:pPr>
                      <a:r>
                        <a:rPr lang="en-US" sz="1500" dirty="0">
                          <a:solidFill>
                            <a:srgbClr val="1B2A3A"/>
                          </a:solidFill>
                        </a:rPr>
                        <a:t>Ch. 9: Gantt (Figure 6), PERT (Figure 6a, Table 39a), milestones and scope by course (Tables 38, 38a), sprint plan (Table 39)</a:t>
                      </a:r>
                      <a:endParaRPr lang="en-US" sz="1500" dirty="0"/>
                    </a:p>
                  </a:txBody>
                  <a:tcPr marL="76200" marR="76200" marT="38100" marB="3810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2F4F7"/>
                    </a:solidFill>
                  </a:tcPr>
                </a:tc>
              </a:tr>
            </a:tbl>
          </a:graphicData>
        </a:graphic>
      </p:graphicFrame>
      <p:sp>
        <p:nvSpPr>
          <p:cNvPr id="4" name="Text 1"/>
          <p:cNvSpPr txBox="1"/>
          <p:nvPr/>
        </p:nvSpPr>
        <p:spPr>
          <a:xfrm>
            <a:off x="548640" y="5989320"/>
            <a:ext cx="11091672" cy="274320"/>
          </a:xfrm>
          <a:prstGeom prst="rect">
            <a:avLst/>
          </a:prstGeom>
          <a:noFill/>
          <a:ln/>
        </p:spPr>
        <p:txBody>
          <a:bodyPr wrap="square" lIns="0" tIns="0" rIns="0" bIns="0" rtlCol="0" anchor="t"/>
          <a:lstStyle/>
          <a:p>
            <a:pPr indent="0" marL="0">
              <a:buNone/>
            </a:pPr>
            <a:r>
              <a:rPr lang="en-US" sz="1100" dirty="0">
                <a:solidFill>
                  <a:srgbClr val="5B6B7B"/>
                </a:solidFill>
              </a:rPr>
              <a:t>Workbook 2, Table 20a</a:t>
            </a:r>
            <a:endParaRPr lang="en-US" sz="11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WB1">
  <a:themeElements>
    <a:clrScheme name="WB1">
      <a:dk1>
        <a:srgbClr val="1B2A3A"/>
      </a:dk1>
      <a:lt1>
        <a:srgbClr val="FFFFFF"/>
      </a:lt1>
      <a:dk2>
        <a:srgbClr val="3A4A5C"/>
      </a:dk2>
      <a:lt2>
        <a:srgbClr val="F2F4F7"/>
      </a:lt2>
      <a:accent1>
        <a:srgbClr val="1F77B4"/>
      </a:accent1>
      <a:accent2>
        <a:srgbClr val="E8622C"/>
      </a:accent2>
      <a:accent3>
        <a:srgbClr val="1A9E6A"/>
      </a:accent3>
      <a:accent4>
        <a:srgbClr val="C8102E"/>
      </a:accent4>
      <a:accent5>
        <a:srgbClr val="8C8C8C"/>
      </a:accent5>
      <a:accent6>
        <a:srgbClr val="5B6B7B"/>
      </a:accent6>
      <a:hlink>
        <a:srgbClr val="1F77B4"/>
      </a:hlink>
      <a:folHlink>
        <a:srgbClr val="5B6B7B"/>
      </a:folHlink>
    </a:clrScheme>
    <a:fontScheme name="WB1">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San Jose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4-Bit Quantization Breaks Small Tool-Calling Agents, and Which Repairs Fix It</dc:title>
  <dc:subject>CMPE 295A advisor review, October 30, 2026</dc:subject>
  <dc:creator>Ekant Kapgate; Vritika Malhotra; Yashashav Devalapalli Kamalraj</dc:creator>
  <cp:lastModifiedBy>Ekant Kapgate; Vritika Malhotra; Yashashav Devalapalli Kamalraj</cp:lastModifiedBy>
  <cp:revision>1</cp:revision>
  <dcterms:created xsi:type="dcterms:W3CDTF">2026-10-29T00:20:11Z</dcterms:created>
  <dcterms:modified xsi:type="dcterms:W3CDTF">2026-10-29T00:20:12Z</dcterms:modified>
</cp:coreProperties>
</file>