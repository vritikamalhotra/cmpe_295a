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tus" id="{b73749c4-6109-4d00-ba9b-1efd5c15cf9e}">
          <p14:sldIdLst>
            <p14:sldId id="256"/>
            <p14:sldId id="257"/>
            <p14:sldId id="258"/>
          </p14:sldIdLst>
        </p14:section>
        <p14:section name="Pilot findings" id="{3fcb475b-287f-e018-6ef6-6fd37139ce86}">
          <p14:sldIdLst>
            <p14:sldId id="259"/>
            <p14:sldId id="260"/>
            <p14:sldId id="261"/>
            <p14:sldId id="262"/>
            <p14:sldId id="263"/>
          </p14:sldIdLst>
        </p14:section>
        <p14:section name="Plan" id="{41a4b028-e46b-320d-6399-8dc0529ec0f9}">
          <p14:sldIdLst>
            <p14:sldId id="264"/>
            <p14:sldId id="265"/>
            <p14:sldId id="266"/>
            <p14:sldId id="267"/>
            <p14:sldId id="268"/>
          </p14:sldIdLst>
        </p14:section>
        <p14:section name="Backup" id="{ff2e8d91-3f78-dff1-9919-78c43812c538}">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Thirty-minute review. We cover what we did since the Workbook 1 talk on October 9, what the pilot found, what we are changing, and our plan to M1 on October 23 and M2 on November 6. We end with five decisions we need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part the walking skeleton needs has run at least once on Colab. These four numbers are the main results. HPC access is in the pipeline from Prof. Gao, and three spikes are being rerun by their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Workbook 1 architecture updated with the pilot. Green boxes have run on Colab. Blue text shows what we changed after the pilot. When HPC access is active, only the host at the bottom changes. The original figure is in the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official BFCL evaluator without changes. Our only additions were non-thinking mode and turning prompt caching off. Q4_K_M lost 2.7 points, which is small but significant over 1,150 tasks. Q4_0 lost 13 points. Q4_K_M is 5.15 bits per weight on this model, not the 4.9 we planned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reports a drop from 62.3 to 16.8. We tried thinking mode, sampling and three other Q4_K_M files, and none showed that drop. We have not tried the paper’s own prompt, harness or BFCL V3. This supports RQ1: the study should measure where the drop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all 58 Q4_0 outputs with no tool call. 49 answer the question directly, and 26 of those are wrong or made up. A grammar cannot fix this, and our Workbook 1 failure list does not include it, so we propose a new failure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grammar shown at the Workbook 1 talk forced a tool call. That scores zero on irrelevance tasks, where the right answer is no call. Our R1 allows text answers, as planned in Workbook 1. It fixes badly formed calls but cannot stop Q4_0 from answering in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decoding alone did not give the same outputs: prompt caching changed 61 of 400. With caching off, reruns matched exactly. The cost numbers show the measurement works; final cost numbers will come from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changes the research questions or the experiment plan. They make the measurements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spikes have run on Colab. Under our rule, a spike is done only after its owner or backup reruns it on the cluster. S10 is the first job once HPC access is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the Workbook 1 sprint plan with the pilot changes added. M1 is one week away, so the M1 tasks are the minimum each part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HPC access is in the pipeline from Prof. Gao. These are the first steps once it is active. If it is not active by October 19, M1 runs on Colab and the cluster checks move to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only have time for two, the first two matter most for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Workbook 1 figure, for comparison with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dates have not changed. The dashed line in this figure still marks September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18288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731520" y="3246120"/>
            <a:ext cx="10698480" cy="457200"/>
          </a:xfrm>
          <a:prstGeom prst="rect">
            <a:avLst/>
          </a:prstGeom>
          <a:noFill/>
          <a:ln/>
        </p:spPr>
        <p:txBody>
          <a:bodyPr wrap="square" rtlCol="0"/>
          <a:lstStyle>
            <a:lvl1pPr algn="l" indent="0" marL="0">
              <a:buNone/>
              <a:defRPr lang="en-US" sz="2000" dirty="0">
                <a:solidFill>
                  <a:srgbClr val="C9D3DE"/>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200" dirty="0">
                <a:solidFill>
                  <a:srgbClr val="5B6B7B"/>
                </a:solidFill>
              </a:rPr>
              <a:t>CMPE 295A · Advisor review · Oct 16, 2026</a:t>
            </a:r>
            <a:endParaRPr lang="en-US" sz="1200" dirty="0"/>
          </a:p>
        </p:txBody>
      </p:sp>
      <p:sp>
        <p:nvSpPr>
          <p:cNvPr id="3" name="Text 1"/>
          <p:cNvSpPr/>
          <p:nvPr>
            <p:ph idx="101" type="title" hasCustomPrompt="1"/>
          </p:nvPr>
        </p:nvSpPr>
        <p:spPr>
          <a:xfrm>
            <a:off x="548640" y="320040"/>
            <a:ext cx="9418320" cy="731520"/>
          </a:xfrm>
          <a:prstGeom prst="rect">
            <a:avLst/>
          </a:prstGeom>
          <a:noFill/>
          <a:ln/>
        </p:spPr>
        <p:txBody>
          <a:bodyPr wrap="square" rtlCol="0"/>
          <a:lstStyle>
            <a:lvl1pPr algn="l" indent="0" marL="0">
              <a:buNone/>
              <a:defRPr lang="en-US" sz="3200" b="1" dirty="0">
                <a:solidFill>
                  <a:srgbClr val="1B2A3A"/>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200" dirty="0">
                <a:solidFill>
                  <a:srgbClr val="5B6B7B"/>
                </a:solidFill>
              </a:rPr>
              <a:t>CMPE 295A · Advisor review · Oct 16, 2026</a:t>
            </a:r>
            <a:endParaRPr lang="en-US" sz="1200" dirty="0"/>
          </a:p>
        </p:txBody>
      </p:sp>
      <p:sp>
        <p:nvSpPr>
          <p:cNvPr id="3" name="Shape 1"/>
          <p:cNvSpPr/>
          <p:nvPr/>
        </p:nvSpPr>
        <p:spPr>
          <a:xfrm>
            <a:off x="10561320" y="457200"/>
            <a:ext cx="1097280" cy="365760"/>
          </a:xfrm>
          <a:prstGeom prst="rect">
            <a:avLst/>
          </a:prstGeom>
          <a:solidFill>
            <a:srgbClr val="F2F4F7"/>
          </a:solidFill>
          <a:ln w="9525">
            <a:solidFill>
              <a:srgbClr val="D5DAE1"/>
            </a:solidFill>
            <a:prstDash val="solid"/>
          </a:ln>
        </p:spPr>
      </p:sp>
      <p:sp>
        <p:nvSpPr>
          <p:cNvPr id="4" name="Text 2"/>
          <p:cNvSpPr/>
          <p:nvPr/>
        </p:nvSpPr>
        <p:spPr>
          <a:xfrm>
            <a:off x="10561320" y="457200"/>
            <a:ext cx="1097280" cy="365760"/>
          </a:xfrm>
          <a:prstGeom prst="rect">
            <a:avLst/>
          </a:prstGeom>
          <a:noFill/>
          <a:ln/>
        </p:spPr>
        <p:txBody>
          <a:bodyPr wrap="square" lIns="0" tIns="0" rIns="0" bIns="0" rtlCol="0" anchor="ctr"/>
          <a:lstStyle/>
          <a:p>
            <a:pPr algn="ctr" indent="0" marL="0">
              <a:buNone/>
            </a:pPr>
            <a:r>
              <a:rPr lang="en-US" sz="1400" b="1" dirty="0">
                <a:solidFill>
                  <a:srgbClr val="5B6B7B"/>
                </a:solidFill>
              </a:rPr>
              <a:t>Backup</a:t>
            </a:r>
            <a:endParaRPr lang="en-US" sz="1400" dirty="0"/>
          </a:p>
        </p:txBody>
      </p:sp>
      <p:sp>
        <p:nvSpPr>
          <p:cNvPr id="5" name="Text 3"/>
          <p:cNvSpPr/>
          <p:nvPr>
            <p:ph idx="103" type="title" hasCustomPrompt="1"/>
          </p:nvPr>
        </p:nvSpPr>
        <p:spPr>
          <a:xfrm>
            <a:off x="548640" y="320040"/>
            <a:ext cx="9418320" cy="731520"/>
          </a:xfrm>
          <a:prstGeom prst="rect">
            <a:avLst/>
          </a:prstGeom>
          <a:noFill/>
          <a:ln/>
        </p:spPr>
        <p:txBody>
          <a:bodyPr wrap="square" rtlCol="0"/>
          <a:lstStyle>
            <a:lvl1pPr algn="l" indent="0" marL="0">
              <a:buNone/>
              <a:defRPr lang="en-US" sz="3200" b="1" dirty="0">
                <a:solidFill>
                  <a:srgbClr val="1B2A3A"/>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188720"/>
            <a:ext cx="10698480" cy="1828800"/>
          </a:xfrm>
          <a:prstGeom prst="rect">
            <a:avLst/>
          </a:prstGeom>
          <a:noFill/>
          <a:ln/>
        </p:spPr>
        <p:txBody>
          <a:bodyPr wrap="square" lIns="0" tIns="0" rIns="0" bIns="0" rtlCol="0" anchor="b"/>
          <a:lstStyle/>
          <a:p>
            <a:pPr algn="l" indent="0" marL="0">
              <a:buNone/>
            </a:pPr>
            <a:r>
              <a:rPr lang="en-US" sz="3800" b="1" dirty="0">
                <a:solidFill>
                  <a:srgbClr val="FFFFFF"/>
                </a:solidFill>
              </a:rPr>
              <a:t>Where 4-Bit Quantization Breaks</a:t>
            </a:r>
            <a:endParaRPr lang="en-US" sz="3800" dirty="0"/>
          </a:p>
          <a:p>
            <a:pPr algn="l" indent="0" marL="0">
              <a:buNone/>
            </a:pPr>
            <a:r>
              <a:rPr lang="en-US" sz="3800" b="1" dirty="0">
                <a:solidFill>
                  <a:srgbClr val="FFFFFF"/>
                </a:solidFill>
              </a:rPr>
              <a:t>Small Tool-Calling Agents, and Which Repairs Fix It</a:t>
            </a:r>
            <a:endParaRPr lang="en-US" sz="3800" dirty="0"/>
          </a:p>
        </p:txBody>
      </p:sp>
      <p:sp>
        <p:nvSpPr>
          <p:cNvPr id="4" name="Text 0"/>
          <p:cNvSpPr/>
          <p:nvPr>
            <p:ph idx="101" type="body" hasCustomPrompt="1"/>
          </p:nvPr>
        </p:nvSpPr>
        <p:spPr>
          <a:xfrm>
            <a:off x="731520" y="3246120"/>
            <a:ext cx="10698480" cy="457200"/>
          </a:xfrm>
          <a:prstGeom prst="rect">
            <a:avLst/>
          </a:prstGeom>
          <a:noFill/>
          <a:ln/>
        </p:spPr>
        <p:txBody>
          <a:bodyPr wrap="square" lIns="0" tIns="0" rIns="0" bIns="0" rtlCol="0" anchor="t"/>
          <a:lstStyle/>
          <a:p>
            <a:pPr algn="l" indent="0" marL="0">
              <a:buNone/>
            </a:pPr>
            <a:r>
              <a:rPr lang="en-US" sz="2000" dirty="0">
                <a:solidFill>
                  <a:srgbClr val="C9D3DE"/>
                </a:solidFill>
              </a:rPr>
              <a:t>CMPE 295A · Advisor review · October 16, 2026</a:t>
            </a:r>
            <a:endParaRPr lang="en-US" sz="2000" dirty="0"/>
          </a:p>
        </p:txBody>
      </p:sp>
      <p:sp>
        <p:nvSpPr>
          <p:cNvPr id="5" name="Shape 2"/>
          <p:cNvSpPr/>
          <p:nvPr/>
        </p:nvSpPr>
        <p:spPr>
          <a:xfrm>
            <a:off x="731520" y="4023360"/>
            <a:ext cx="2286000" cy="457200"/>
          </a:xfrm>
          <a:prstGeom prst="roundRect">
            <a:avLst>
              <a:gd name="adj" fmla="val 50000"/>
            </a:avLst>
          </a:prstGeom>
          <a:solidFill>
            <a:srgbClr val="1F77B4"/>
          </a:solidFill>
          <a:ln w="12700">
            <a:solidFill>
              <a:srgbClr val="1F77B4"/>
            </a:solidFill>
            <a:prstDash val="solid"/>
          </a:ln>
        </p:spPr>
      </p:sp>
      <p:sp>
        <p:nvSpPr>
          <p:cNvPr id="6" name="Text 3"/>
          <p:cNvSpPr txBox="1"/>
          <p:nvPr/>
        </p:nvSpPr>
        <p:spPr>
          <a:xfrm>
            <a:off x="731520" y="4023360"/>
            <a:ext cx="2286000" cy="457200"/>
          </a:xfrm>
          <a:prstGeom prst="rect">
            <a:avLst/>
          </a:prstGeom>
          <a:noFill/>
          <a:ln/>
        </p:spPr>
        <p:txBody>
          <a:bodyPr wrap="square" lIns="0" tIns="0" rIns="0" bIns="0" rtlCol="0" anchor="ctr"/>
          <a:lstStyle/>
          <a:p>
            <a:pPr algn="ctr" indent="0" marL="0">
              <a:buNone/>
            </a:pPr>
            <a:r>
              <a:rPr lang="en-US" sz="1600" b="1" dirty="0">
                <a:solidFill>
                  <a:srgbClr val="FFFFFF"/>
                </a:solidFill>
              </a:rPr>
              <a:t>Ekant Kapgate</a:t>
            </a:r>
            <a:endParaRPr lang="en-US" sz="1600" dirty="0"/>
          </a:p>
        </p:txBody>
      </p:sp>
      <p:sp>
        <p:nvSpPr>
          <p:cNvPr id="7" name="Shape 4"/>
          <p:cNvSpPr/>
          <p:nvPr/>
        </p:nvSpPr>
        <p:spPr>
          <a:xfrm>
            <a:off x="3246120" y="4023360"/>
            <a:ext cx="2560320" cy="457200"/>
          </a:xfrm>
          <a:prstGeom prst="roundRect">
            <a:avLst>
              <a:gd name="adj" fmla="val 50000"/>
            </a:avLst>
          </a:prstGeom>
          <a:solidFill>
            <a:srgbClr val="B84A1A"/>
          </a:solidFill>
          <a:ln w="12700">
            <a:solidFill>
              <a:srgbClr val="B84A1A"/>
            </a:solidFill>
            <a:prstDash val="solid"/>
          </a:ln>
        </p:spPr>
      </p:sp>
      <p:sp>
        <p:nvSpPr>
          <p:cNvPr id="8" name="Text 5"/>
          <p:cNvSpPr txBox="1"/>
          <p:nvPr/>
        </p:nvSpPr>
        <p:spPr>
          <a:xfrm>
            <a:off x="3246120" y="40233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rPr>
              <a:t>Vritika Malhotra</a:t>
            </a:r>
            <a:endParaRPr lang="en-US" sz="1600" dirty="0"/>
          </a:p>
        </p:txBody>
      </p:sp>
      <p:sp>
        <p:nvSpPr>
          <p:cNvPr id="9" name="Shape 6"/>
          <p:cNvSpPr/>
          <p:nvPr/>
        </p:nvSpPr>
        <p:spPr>
          <a:xfrm>
            <a:off x="6035040" y="4023360"/>
            <a:ext cx="4023360" cy="457200"/>
          </a:xfrm>
          <a:prstGeom prst="roundRect">
            <a:avLst>
              <a:gd name="adj" fmla="val 50000"/>
            </a:avLst>
          </a:prstGeom>
          <a:solidFill>
            <a:srgbClr val="137A52"/>
          </a:solidFill>
          <a:ln w="12700">
            <a:solidFill>
              <a:srgbClr val="137A52"/>
            </a:solidFill>
            <a:prstDash val="solid"/>
          </a:ln>
        </p:spPr>
      </p:sp>
      <p:sp>
        <p:nvSpPr>
          <p:cNvPr id="10" name="Text 7"/>
          <p:cNvSpPr txBox="1"/>
          <p:nvPr/>
        </p:nvSpPr>
        <p:spPr>
          <a:xfrm>
            <a:off x="6035040" y="4023360"/>
            <a:ext cx="4023360" cy="457200"/>
          </a:xfrm>
          <a:prstGeom prst="rect">
            <a:avLst/>
          </a:prstGeom>
          <a:noFill/>
          <a:ln/>
        </p:spPr>
        <p:txBody>
          <a:bodyPr wrap="square" lIns="0" tIns="0" rIns="0" bIns="0" rtlCol="0" anchor="ctr"/>
          <a:lstStyle/>
          <a:p>
            <a:pPr algn="ctr" indent="0" marL="0">
              <a:buNone/>
            </a:pPr>
            <a:r>
              <a:rPr lang="en-US" sz="1600" b="1" dirty="0">
                <a:solidFill>
                  <a:srgbClr val="FFFFFF"/>
                </a:solidFill>
              </a:rPr>
              <a:t>Yashashav Devalapalli Kamalraj</a:t>
            </a:r>
            <a:endParaRPr lang="en-US" sz="1600" dirty="0"/>
          </a:p>
        </p:txBody>
      </p:sp>
      <p:sp>
        <p:nvSpPr>
          <p:cNvPr id="11" name="Text 8"/>
          <p:cNvSpPr txBox="1"/>
          <p:nvPr/>
        </p:nvSpPr>
        <p:spPr>
          <a:xfrm>
            <a:off x="731520" y="4754880"/>
            <a:ext cx="7315200" cy="365760"/>
          </a:xfrm>
          <a:prstGeom prst="rect">
            <a:avLst/>
          </a:prstGeom>
          <a:noFill/>
          <a:ln/>
        </p:spPr>
        <p:txBody>
          <a:bodyPr wrap="square" lIns="0" tIns="0" rIns="0" bIns="0" rtlCol="0" anchor="t"/>
          <a:lstStyle/>
          <a:p>
            <a:pPr indent="0" marL="0">
              <a:spcAft>
                <a:spcPts val="200"/>
              </a:spcAft>
              <a:buNone/>
            </a:pPr>
            <a:r>
              <a:rPr lang="en-US" sz="1600" b="1" dirty="0">
                <a:solidFill>
                  <a:srgbClr val="C9D3DE"/>
                </a:solidFill>
              </a:rPr>
              <a:t>Advisor: </a:t>
            </a:r>
            <a:pPr indent="0" marL="0">
              <a:spcAft>
                <a:spcPts val="200"/>
              </a:spcAft>
              <a:buNone/>
            </a:pPr>
            <a:r>
              <a:rPr lang="en-US" sz="1600" dirty="0">
                <a:solidFill>
                  <a:srgbClr val="C9D3DE"/>
                </a:solidFill>
              </a:rPr>
              <a:t>Dr. Bertin Cordova-Diba</a:t>
            </a:r>
            <a:endParaRPr lang="en-US" sz="1600" dirty="0"/>
          </a:p>
        </p:txBody>
      </p:sp>
      <p:sp>
        <p:nvSpPr>
          <p:cNvPr id="12" name="Text 9"/>
          <p:cNvSpPr txBox="1"/>
          <p:nvPr/>
        </p:nvSpPr>
        <p:spPr>
          <a:xfrm>
            <a:off x="731520" y="5212080"/>
            <a:ext cx="9144000" cy="365760"/>
          </a:xfrm>
          <a:prstGeom prst="rect">
            <a:avLst/>
          </a:prstGeom>
          <a:noFill/>
          <a:ln/>
        </p:spPr>
        <p:txBody>
          <a:bodyPr wrap="square" lIns="0" tIns="0" rIns="0" bIns="0" rtlCol="0" anchor="t"/>
          <a:lstStyle/>
          <a:p>
            <a:pPr indent="0" marL="0">
              <a:spcAft>
                <a:spcPts val="200"/>
              </a:spcAft>
              <a:buNone/>
            </a:pPr>
            <a:r>
              <a:rPr lang="en-US" sz="1600" dirty="0">
                <a:solidFill>
                  <a:srgbClr val="C9D3DE"/>
                </a:solidFill>
              </a:rPr>
              <a:t>Progress since Workbook 1 · pilot findings · plan to M1 and M2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Progress since Workbook 1</a:t>
            </a:r>
            <a:endParaRPr lang="en-US" sz="3200" dirty="0"/>
          </a:p>
        </p:txBody>
      </p:sp>
      <p:sp>
        <p:nvSpPr>
          <p:cNvPr id="4" name="Shape 1"/>
          <p:cNvSpPr/>
          <p:nvPr/>
        </p:nvSpPr>
        <p:spPr>
          <a:xfrm>
            <a:off x="548640" y="1325880"/>
            <a:ext cx="2651760" cy="2148840"/>
          </a:xfrm>
          <a:prstGeom prst="roundRect">
            <a:avLst>
              <a:gd name="adj" fmla="val 3404"/>
            </a:avLst>
          </a:prstGeom>
          <a:solidFill>
            <a:srgbClr val="F2F4F7"/>
          </a:solidFill>
          <a:ln w="12700">
            <a:solidFill>
              <a:srgbClr val="F2F4F7"/>
            </a:solidFill>
            <a:prstDash val="solid"/>
          </a:ln>
        </p:spPr>
      </p:sp>
      <p:sp>
        <p:nvSpPr>
          <p:cNvPr id="5" name="Text 2"/>
          <p:cNvSpPr txBox="1"/>
          <p:nvPr/>
        </p:nvSpPr>
        <p:spPr>
          <a:xfrm>
            <a:off x="731520" y="1463040"/>
            <a:ext cx="2377440" cy="685800"/>
          </a:xfrm>
          <a:prstGeom prst="rect">
            <a:avLst/>
          </a:prstGeom>
          <a:noFill/>
          <a:ln/>
        </p:spPr>
        <p:txBody>
          <a:bodyPr wrap="square" lIns="0" tIns="0" rIns="0" bIns="0" rtlCol="0" anchor="t"/>
          <a:lstStyle/>
          <a:p>
            <a:pPr indent="0" marL="0">
              <a:spcAft>
                <a:spcPts val="200"/>
              </a:spcAft>
              <a:buNone/>
            </a:pPr>
            <a:r>
              <a:rPr lang="en-US" sz="3600" b="1" dirty="0">
                <a:solidFill>
                  <a:srgbClr val="1F77B4"/>
                </a:solidFill>
              </a:rPr>
              <a:t>1,390</a:t>
            </a:r>
            <a:endParaRPr lang="en-US" sz="3600" dirty="0"/>
          </a:p>
        </p:txBody>
      </p:sp>
      <p:sp>
        <p:nvSpPr>
          <p:cNvPr id="6" name="Text 3"/>
          <p:cNvSpPr txBox="1"/>
          <p:nvPr/>
        </p:nvSpPr>
        <p:spPr>
          <a:xfrm>
            <a:off x="731520" y="2194560"/>
            <a:ext cx="2377440" cy="1188720"/>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BFCL non-live tasks run for each format: BF16, Q4_K_M and Q4_0</a:t>
            </a:r>
            <a:endParaRPr lang="en-US" sz="1400" dirty="0"/>
          </a:p>
        </p:txBody>
      </p:sp>
      <p:sp>
        <p:nvSpPr>
          <p:cNvPr id="7" name="Shape 4"/>
          <p:cNvSpPr/>
          <p:nvPr/>
        </p:nvSpPr>
        <p:spPr>
          <a:xfrm>
            <a:off x="3364992" y="1325880"/>
            <a:ext cx="2651760" cy="2148840"/>
          </a:xfrm>
          <a:prstGeom prst="roundRect">
            <a:avLst>
              <a:gd name="adj" fmla="val 3404"/>
            </a:avLst>
          </a:prstGeom>
          <a:solidFill>
            <a:srgbClr val="F2F4F7"/>
          </a:solidFill>
          <a:ln w="12700">
            <a:solidFill>
              <a:srgbClr val="F2F4F7"/>
            </a:solidFill>
            <a:prstDash val="solid"/>
          </a:ln>
        </p:spPr>
      </p:sp>
      <p:sp>
        <p:nvSpPr>
          <p:cNvPr id="8" name="Text 5"/>
          <p:cNvSpPr txBox="1"/>
          <p:nvPr/>
        </p:nvSpPr>
        <p:spPr>
          <a:xfrm>
            <a:off x="3547872" y="1463040"/>
            <a:ext cx="2377440" cy="685800"/>
          </a:xfrm>
          <a:prstGeom prst="rect">
            <a:avLst/>
          </a:prstGeom>
          <a:noFill/>
          <a:ln/>
        </p:spPr>
        <p:txBody>
          <a:bodyPr wrap="square" lIns="0" tIns="0" rIns="0" bIns="0" rtlCol="0" anchor="t"/>
          <a:lstStyle/>
          <a:p>
            <a:pPr indent="0" marL="0">
              <a:spcAft>
                <a:spcPts val="200"/>
              </a:spcAft>
              <a:buNone/>
            </a:pPr>
            <a:r>
              <a:rPr lang="en-US" sz="3600" b="1" dirty="0">
                <a:solidFill>
                  <a:srgbClr val="C8102E"/>
                </a:solidFill>
              </a:rPr>
              <a:t>−2.7 pts</a:t>
            </a:r>
            <a:endParaRPr lang="en-US" sz="3600" dirty="0"/>
          </a:p>
        </p:txBody>
      </p:sp>
      <p:sp>
        <p:nvSpPr>
          <p:cNvPr id="9" name="Text 6"/>
          <p:cNvSpPr txBox="1"/>
          <p:nvPr/>
        </p:nvSpPr>
        <p:spPr>
          <a:xfrm>
            <a:off x="3547872" y="2194560"/>
            <a:ext cx="2377440" cy="1188720"/>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Q4_K_M vs BF16 (p = 0.027). We did not see the large drop reported in the paper</a:t>
            </a:r>
            <a:endParaRPr lang="en-US" sz="1400" dirty="0"/>
          </a:p>
        </p:txBody>
      </p:sp>
      <p:sp>
        <p:nvSpPr>
          <p:cNvPr id="10" name="Shape 7"/>
          <p:cNvSpPr/>
          <p:nvPr/>
        </p:nvSpPr>
        <p:spPr>
          <a:xfrm>
            <a:off x="6181344" y="1325880"/>
            <a:ext cx="2651760" cy="2148840"/>
          </a:xfrm>
          <a:prstGeom prst="roundRect">
            <a:avLst>
              <a:gd name="adj" fmla="val 3404"/>
            </a:avLst>
          </a:prstGeom>
          <a:solidFill>
            <a:srgbClr val="F2F4F7"/>
          </a:solidFill>
          <a:ln w="12700">
            <a:solidFill>
              <a:srgbClr val="F2F4F7"/>
            </a:solidFill>
            <a:prstDash val="solid"/>
          </a:ln>
        </p:spPr>
      </p:sp>
      <p:sp>
        <p:nvSpPr>
          <p:cNvPr id="11" name="Text 8"/>
          <p:cNvSpPr txBox="1"/>
          <p:nvPr/>
        </p:nvSpPr>
        <p:spPr>
          <a:xfrm>
            <a:off x="6364224" y="1463040"/>
            <a:ext cx="2377440" cy="685800"/>
          </a:xfrm>
          <a:prstGeom prst="rect">
            <a:avLst/>
          </a:prstGeom>
          <a:noFill/>
          <a:ln/>
        </p:spPr>
        <p:txBody>
          <a:bodyPr wrap="square" lIns="0" tIns="0" rIns="0" bIns="0" rtlCol="0" anchor="t"/>
          <a:lstStyle/>
          <a:p>
            <a:pPr indent="0" marL="0">
              <a:spcAft>
                <a:spcPts val="200"/>
              </a:spcAft>
              <a:buNone/>
            </a:pPr>
            <a:r>
              <a:rPr lang="en-US" sz="3600" b="1" dirty="0">
                <a:solidFill>
                  <a:srgbClr val="C8102E"/>
                </a:solidFill>
              </a:rPr>
              <a:t>57 vs 11</a:t>
            </a:r>
            <a:endParaRPr lang="en-US" sz="3600" dirty="0"/>
          </a:p>
        </p:txBody>
      </p:sp>
      <p:sp>
        <p:nvSpPr>
          <p:cNvPr id="12" name="Text 9"/>
          <p:cNvSpPr txBox="1"/>
          <p:nvPr/>
        </p:nvSpPr>
        <p:spPr>
          <a:xfrm>
            <a:off x="6364224" y="2194560"/>
            <a:ext cx="2377440" cy="1188720"/>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simple_python tasks where Q4_0 answered in text instead of calling the tool (BF16: 11)</a:t>
            </a:r>
            <a:endParaRPr lang="en-US" sz="1400" dirty="0"/>
          </a:p>
        </p:txBody>
      </p:sp>
      <p:sp>
        <p:nvSpPr>
          <p:cNvPr id="13" name="Shape 10"/>
          <p:cNvSpPr/>
          <p:nvPr/>
        </p:nvSpPr>
        <p:spPr>
          <a:xfrm>
            <a:off x="8997696" y="1325880"/>
            <a:ext cx="2651760" cy="2148840"/>
          </a:xfrm>
          <a:prstGeom prst="roundRect">
            <a:avLst>
              <a:gd name="adj" fmla="val 3404"/>
            </a:avLst>
          </a:prstGeom>
          <a:solidFill>
            <a:srgbClr val="F2F4F7"/>
          </a:solidFill>
          <a:ln w="12700">
            <a:solidFill>
              <a:srgbClr val="F2F4F7"/>
            </a:solidFill>
            <a:prstDash val="solid"/>
          </a:ln>
        </p:spPr>
      </p:sp>
      <p:sp>
        <p:nvSpPr>
          <p:cNvPr id="14" name="Text 11"/>
          <p:cNvSpPr txBox="1"/>
          <p:nvPr/>
        </p:nvSpPr>
        <p:spPr>
          <a:xfrm>
            <a:off x="9180576" y="1463040"/>
            <a:ext cx="2377440" cy="685800"/>
          </a:xfrm>
          <a:prstGeom prst="rect">
            <a:avLst/>
          </a:prstGeom>
          <a:noFill/>
          <a:ln/>
        </p:spPr>
        <p:txBody>
          <a:bodyPr wrap="square" lIns="0" tIns="0" rIns="0" bIns="0" rtlCol="0" anchor="t"/>
          <a:lstStyle/>
          <a:p>
            <a:pPr indent="0" marL="0">
              <a:spcAft>
                <a:spcPts val="200"/>
              </a:spcAft>
              <a:buNone/>
            </a:pPr>
            <a:r>
              <a:rPr lang="en-US" sz="3600" b="1" dirty="0">
                <a:solidFill>
                  <a:srgbClr val="1B2A3A"/>
                </a:solidFill>
              </a:rPr>
              <a:t>61 / 400</a:t>
            </a:r>
            <a:endParaRPr lang="en-US" sz="3600" dirty="0"/>
          </a:p>
        </p:txBody>
      </p:sp>
      <p:sp>
        <p:nvSpPr>
          <p:cNvPr id="15" name="Text 12"/>
          <p:cNvSpPr txBox="1"/>
          <p:nvPr/>
        </p:nvSpPr>
        <p:spPr>
          <a:xfrm>
            <a:off x="9180576" y="2194560"/>
            <a:ext cx="2377440" cy="1188720"/>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Q4_0 outputs changed when prompt caching was on, so we turn caching off</a:t>
            </a:r>
            <a:endParaRPr lang="en-US" sz="1400" dirty="0"/>
          </a:p>
        </p:txBody>
      </p:sp>
      <p:sp>
        <p:nvSpPr>
          <p:cNvPr id="16" name="Shape 13"/>
          <p:cNvSpPr/>
          <p:nvPr/>
        </p:nvSpPr>
        <p:spPr>
          <a:xfrm>
            <a:off x="548640" y="3703320"/>
            <a:ext cx="5486400" cy="2103120"/>
          </a:xfrm>
          <a:prstGeom prst="roundRect">
            <a:avLst>
              <a:gd name="adj" fmla="val 3478"/>
            </a:avLst>
          </a:prstGeom>
          <a:solidFill>
            <a:srgbClr val="FFFFFF"/>
          </a:solidFill>
          <a:ln w="19050">
            <a:solidFill>
              <a:srgbClr val="D5DAE1"/>
            </a:solidFill>
            <a:prstDash val="solid"/>
          </a:ln>
        </p:spPr>
      </p:sp>
      <p:sp>
        <p:nvSpPr>
          <p:cNvPr id="17" name="Text 14"/>
          <p:cNvSpPr txBox="1"/>
          <p:nvPr/>
        </p:nvSpPr>
        <p:spPr>
          <a:xfrm>
            <a:off x="713232" y="3867912"/>
            <a:ext cx="5157216" cy="365760"/>
          </a:xfrm>
          <a:prstGeom prst="rect">
            <a:avLst/>
          </a:prstGeom>
          <a:noFill/>
          <a:ln/>
        </p:spPr>
        <p:txBody>
          <a:bodyPr wrap="square" lIns="0" tIns="0" rIns="0" bIns="0" rtlCol="0" anchor="t"/>
          <a:lstStyle/>
          <a:p>
            <a:pPr indent="0" marL="0">
              <a:spcAft>
                <a:spcPts val="200"/>
              </a:spcAft>
              <a:buNone/>
            </a:pPr>
            <a:r>
              <a:rPr lang="en-US" sz="1800" b="1" dirty="0">
                <a:solidFill>
                  <a:srgbClr val="137A52"/>
                </a:solidFill>
              </a:rPr>
              <a:t>Done, Oct 1–16</a:t>
            </a:r>
            <a:endParaRPr lang="en-US" sz="1800" dirty="0"/>
          </a:p>
        </p:txBody>
      </p:sp>
      <p:sp>
        <p:nvSpPr>
          <p:cNvPr id="18" name="Text 15"/>
          <p:cNvSpPr txBox="1"/>
          <p:nvPr/>
        </p:nvSpPr>
        <p:spPr>
          <a:xfrm>
            <a:off x="713232" y="4279392"/>
            <a:ext cx="5157216" cy="136245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Spikes S1–S3, single-turn S4, S6 and S7 run on Colab · follow-up checks · full rerun with 4 random seeds · Workbook 1 talk (Oct 9)</a:t>
            </a:r>
            <a:endParaRPr lang="en-US" sz="1500" dirty="0"/>
          </a:p>
        </p:txBody>
      </p:sp>
      <p:sp>
        <p:nvSpPr>
          <p:cNvPr id="19" name="Shape 16"/>
          <p:cNvSpPr/>
          <p:nvPr/>
        </p:nvSpPr>
        <p:spPr>
          <a:xfrm>
            <a:off x="6217920" y="3703320"/>
            <a:ext cx="5440680" cy="2103120"/>
          </a:xfrm>
          <a:prstGeom prst="roundRect">
            <a:avLst>
              <a:gd name="adj" fmla="val 3478"/>
            </a:avLst>
          </a:prstGeom>
          <a:solidFill>
            <a:srgbClr val="FFFFFF"/>
          </a:solidFill>
          <a:ln w="19050">
            <a:solidFill>
              <a:srgbClr val="D5DAE1"/>
            </a:solidFill>
            <a:prstDash val="solid"/>
          </a:ln>
        </p:spPr>
      </p:sp>
      <p:sp>
        <p:nvSpPr>
          <p:cNvPr id="20" name="Text 17"/>
          <p:cNvSpPr txBox="1"/>
          <p:nvPr/>
        </p:nvSpPr>
        <p:spPr>
          <a:xfrm>
            <a:off x="6382512" y="3867912"/>
            <a:ext cx="5111496" cy="365760"/>
          </a:xfrm>
          <a:prstGeom prst="rect">
            <a:avLst/>
          </a:prstGeom>
          <a:noFill/>
          <a:ln/>
        </p:spPr>
        <p:txBody>
          <a:bodyPr wrap="square" lIns="0" tIns="0" rIns="0" bIns="0" rtlCol="0" anchor="t"/>
          <a:lstStyle/>
          <a:p>
            <a:pPr indent="0" marL="0">
              <a:spcAft>
                <a:spcPts val="200"/>
              </a:spcAft>
              <a:buNone/>
            </a:pPr>
            <a:r>
              <a:rPr lang="en-US" sz="1800" b="1" dirty="0">
                <a:solidFill>
                  <a:srgbClr val="B84A1A"/>
                </a:solidFill>
              </a:rPr>
              <a:t>Open</a:t>
            </a:r>
            <a:endParaRPr lang="en-US" sz="1800" dirty="0"/>
          </a:p>
        </p:txBody>
      </p:sp>
      <p:sp>
        <p:nvSpPr>
          <p:cNvPr id="21" name="Text 18"/>
          <p:cNvSpPr txBox="1"/>
          <p:nvPr/>
        </p:nvSpPr>
        <p:spPr>
          <a:xfrm>
            <a:off x="6382512" y="4279392"/>
            <a:ext cx="5111496" cy="136245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HPC access is in the pipeline from Prof. Gao · Ekant is rerunning S1, S3, S6 · S4 multi-turn, S5, S8 in progress · M1 due Oct 23</a:t>
            </a:r>
            <a:endParaRPr lang="en-US" sz="1500" dirty="0"/>
          </a:p>
        </p:txBody>
      </p:sp>
      <p:sp>
        <p:nvSpPr>
          <p:cNvPr id="22" name="Text 19"/>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All pilot numbers are test data, not study results</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Testbed architecture: what has run and what changed</a:t>
            </a:r>
            <a:endParaRPr lang="en-US" sz="3200" dirty="0"/>
          </a:p>
        </p:txBody>
      </p:sp>
      <p:sp>
        <p:nvSpPr>
          <p:cNvPr id="4" name="Shape 1"/>
          <p:cNvSpPr/>
          <p:nvPr/>
        </p:nvSpPr>
        <p:spPr>
          <a:xfrm>
            <a:off x="548640" y="1188720"/>
            <a:ext cx="11109960" cy="457200"/>
          </a:xfrm>
          <a:prstGeom prst="roundRect">
            <a:avLst>
              <a:gd name="adj" fmla="val 16000"/>
            </a:avLst>
          </a:prstGeom>
          <a:solidFill>
            <a:srgbClr val="E7EEF6"/>
          </a:solidFill>
          <a:ln w="12700">
            <a:solidFill>
              <a:srgbClr val="E7EEF6"/>
            </a:solidFill>
            <a:prstDash val="solid"/>
          </a:ln>
        </p:spPr>
      </p:sp>
      <p:sp>
        <p:nvSpPr>
          <p:cNvPr id="5" name="Text 2"/>
          <p:cNvSpPr txBox="1"/>
          <p:nvPr/>
        </p:nvSpPr>
        <p:spPr>
          <a:xfrm>
            <a:off x="731520" y="1261872"/>
            <a:ext cx="10789920" cy="32004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C11 Config &amp; Registry  </a:t>
            </a:r>
            <a:pPr indent="0" marL="0">
              <a:spcAft>
                <a:spcPts val="200"/>
              </a:spcAft>
              <a:buNone/>
            </a:pPr>
            <a:r>
              <a:rPr lang="en-US" sz="1400" dirty="0">
                <a:solidFill>
                  <a:srgbClr val="1B2A3A"/>
                </a:solidFill>
              </a:rPr>
              <a:t>Run manifest now records prompt cache, thinking mode, server settings, file hashes</a:t>
            </a:r>
            <a:pPr indent="0" marL="0">
              <a:spcAft>
                <a:spcPts val="200"/>
              </a:spcAft>
              <a:buNone/>
            </a:pPr>
            <a:r>
              <a:rPr lang="en-US" sz="1400" b="1" dirty="0">
                <a:solidFill>
                  <a:srgbClr val="1F77B4"/>
                </a:solidFill>
              </a:rPr>
              <a:t>   NEW · in progress</a:t>
            </a:r>
            <a:endParaRPr lang="en-US" sz="1400" dirty="0"/>
          </a:p>
        </p:txBody>
      </p:sp>
      <p:sp>
        <p:nvSpPr>
          <p:cNvPr id="6" name="Shape 3"/>
          <p:cNvSpPr/>
          <p:nvPr/>
        </p:nvSpPr>
        <p:spPr>
          <a:xfrm>
            <a:off x="548640" y="1783080"/>
            <a:ext cx="3611880" cy="2514600"/>
          </a:xfrm>
          <a:prstGeom prst="roundRect">
            <a:avLst>
              <a:gd name="adj" fmla="val 2909"/>
            </a:avLst>
          </a:prstGeom>
          <a:solidFill>
            <a:srgbClr val="F2F4F7"/>
          </a:solidFill>
          <a:ln w="12700">
            <a:solidFill>
              <a:srgbClr val="F2F4F7"/>
            </a:solidFill>
            <a:prstDash val="solid"/>
          </a:ln>
        </p:spPr>
      </p:sp>
      <p:sp>
        <p:nvSpPr>
          <p:cNvPr id="7" name="Text 4"/>
          <p:cNvSpPr txBox="1"/>
          <p:nvPr/>
        </p:nvSpPr>
        <p:spPr>
          <a:xfrm>
            <a:off x="685800" y="1856232"/>
            <a:ext cx="3291840" cy="274320"/>
          </a:xfrm>
          <a:prstGeom prst="rect">
            <a:avLst/>
          </a:prstGeom>
          <a:noFill/>
          <a:ln/>
        </p:spPr>
        <p:txBody>
          <a:bodyPr wrap="square" lIns="0" tIns="0" rIns="0" bIns="0" rtlCol="0" anchor="t"/>
          <a:lstStyle/>
          <a:p>
            <a:pPr indent="0" marL="0">
              <a:spcAft>
                <a:spcPts val="200"/>
              </a:spcAft>
              <a:buNone/>
            </a:pPr>
            <a:r>
              <a:rPr lang="en-US" sz="1200" b="1" dirty="0">
                <a:solidFill>
                  <a:srgbClr val="5B6B7B"/>
                </a:solidFill>
              </a:rPr>
              <a:t>BENCHMARKS &amp; EPISODES</a:t>
            </a:r>
            <a:endParaRPr lang="en-US" sz="1200" dirty="0"/>
          </a:p>
        </p:txBody>
      </p:sp>
      <p:sp>
        <p:nvSpPr>
          <p:cNvPr id="8" name="Shape 5"/>
          <p:cNvSpPr/>
          <p:nvPr/>
        </p:nvSpPr>
        <p:spPr>
          <a:xfrm>
            <a:off x="685800" y="2176272"/>
            <a:ext cx="3337560" cy="566928"/>
          </a:xfrm>
          <a:prstGeom prst="roundRect">
            <a:avLst>
              <a:gd name="adj" fmla="val 8065"/>
            </a:avLst>
          </a:prstGeom>
          <a:solidFill>
            <a:srgbClr val="FFFFFF"/>
          </a:solidFill>
          <a:ln w="25400">
            <a:solidFill>
              <a:srgbClr val="137A52"/>
            </a:solidFill>
            <a:prstDash val="solid"/>
          </a:ln>
        </p:spPr>
      </p:sp>
      <p:sp>
        <p:nvSpPr>
          <p:cNvPr id="9" name="Text 6"/>
          <p:cNvSpPr txBox="1"/>
          <p:nvPr/>
        </p:nvSpPr>
        <p:spPr>
          <a:xfrm>
            <a:off x="777240" y="2212848"/>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C1 Benchmark Adapter</a:t>
            </a:r>
            <a:endParaRPr lang="en-US" sz="1300" dirty="0"/>
          </a:p>
        </p:txBody>
      </p:sp>
      <p:sp>
        <p:nvSpPr>
          <p:cNvPr id="10" name="Text 7"/>
          <p:cNvSpPr txBox="1"/>
          <p:nvPr/>
        </p:nvSpPr>
        <p:spPr>
          <a:xfrm>
            <a:off x="777240" y="2459736"/>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bfcl-eval single-turn ran · </a:t>
            </a:r>
            <a:pPr indent="0" marL="0">
              <a:spcAft>
                <a:spcPts val="200"/>
              </a:spcAft>
              <a:buNone/>
            </a:pPr>
            <a:r>
              <a:rPr lang="en-US" sz="1100" dirty="0">
                <a:solidFill>
                  <a:srgbClr val="1F77B4"/>
                </a:solidFill>
              </a:rPr>
              <a:t>handler subclass (NEW)</a:t>
            </a:r>
            <a:endParaRPr lang="en-US" sz="1100" dirty="0"/>
          </a:p>
        </p:txBody>
      </p:sp>
      <p:sp>
        <p:nvSpPr>
          <p:cNvPr id="11" name="Shape 8"/>
          <p:cNvSpPr/>
          <p:nvPr/>
        </p:nvSpPr>
        <p:spPr>
          <a:xfrm>
            <a:off x="685800" y="2852928"/>
            <a:ext cx="3337560" cy="566928"/>
          </a:xfrm>
          <a:prstGeom prst="roundRect">
            <a:avLst>
              <a:gd name="adj" fmla="val 8065"/>
            </a:avLst>
          </a:prstGeom>
          <a:solidFill>
            <a:srgbClr val="FFFFFF"/>
          </a:solidFill>
          <a:ln w="12700">
            <a:solidFill>
              <a:srgbClr val="D5DAE1"/>
            </a:solidFill>
            <a:prstDash val="solid"/>
          </a:ln>
        </p:spPr>
      </p:sp>
      <p:sp>
        <p:nvSpPr>
          <p:cNvPr id="12" name="Text 9"/>
          <p:cNvSpPr txBox="1"/>
          <p:nvPr/>
        </p:nvSpPr>
        <p:spPr>
          <a:xfrm>
            <a:off x="777240" y="2889504"/>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C2 Episode Runner</a:t>
            </a:r>
            <a:endParaRPr lang="en-US" sz="1300" dirty="0"/>
          </a:p>
        </p:txBody>
      </p:sp>
      <p:sp>
        <p:nvSpPr>
          <p:cNvPr id="13" name="Text 10"/>
          <p:cNvSpPr txBox="1"/>
          <p:nvPr/>
        </p:nvSpPr>
        <p:spPr>
          <a:xfrm>
            <a:off x="777240" y="3136392"/>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In progress, for M1</a:t>
            </a:r>
            <a:endParaRPr lang="en-US" sz="1100" dirty="0"/>
          </a:p>
        </p:txBody>
      </p:sp>
      <p:sp>
        <p:nvSpPr>
          <p:cNvPr id="14" name="Shape 11"/>
          <p:cNvSpPr/>
          <p:nvPr/>
        </p:nvSpPr>
        <p:spPr>
          <a:xfrm>
            <a:off x="685800" y="3529584"/>
            <a:ext cx="3337560" cy="566928"/>
          </a:xfrm>
          <a:prstGeom prst="roundRect">
            <a:avLst>
              <a:gd name="adj" fmla="val 8065"/>
            </a:avLst>
          </a:prstGeom>
          <a:solidFill>
            <a:srgbClr val="FFFFFF"/>
          </a:solidFill>
          <a:ln w="12700">
            <a:solidFill>
              <a:srgbClr val="8C8C8C"/>
            </a:solidFill>
            <a:prstDash val="dash"/>
          </a:ln>
        </p:spPr>
      </p:sp>
      <p:sp>
        <p:nvSpPr>
          <p:cNvPr id="15" name="Text 12"/>
          <p:cNvSpPr txBox="1"/>
          <p:nvPr/>
        </p:nvSpPr>
        <p:spPr>
          <a:xfrm>
            <a:off x="777240" y="3566160"/>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C4 Simulated-User Cache</a:t>
            </a:r>
            <a:endParaRPr lang="en-US" sz="1300" dirty="0"/>
          </a:p>
        </p:txBody>
      </p:sp>
      <p:sp>
        <p:nvSpPr>
          <p:cNvPr id="16" name="Text 13"/>
          <p:cNvSpPr txBox="1"/>
          <p:nvPr/>
        </p:nvSpPr>
        <p:spPr>
          <a:xfrm>
            <a:off x="777240" y="3813048"/>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Planned; S5 in progress</a:t>
            </a:r>
            <a:endParaRPr lang="en-US" sz="1100" dirty="0"/>
          </a:p>
        </p:txBody>
      </p:sp>
      <p:sp>
        <p:nvSpPr>
          <p:cNvPr id="17" name="Shape 14"/>
          <p:cNvSpPr/>
          <p:nvPr/>
        </p:nvSpPr>
        <p:spPr>
          <a:xfrm>
            <a:off x="4297680" y="1783080"/>
            <a:ext cx="3611880" cy="2514600"/>
          </a:xfrm>
          <a:prstGeom prst="roundRect">
            <a:avLst>
              <a:gd name="adj" fmla="val 2909"/>
            </a:avLst>
          </a:prstGeom>
          <a:solidFill>
            <a:srgbClr val="E7EEF6"/>
          </a:solidFill>
          <a:ln w="12700">
            <a:solidFill>
              <a:srgbClr val="E7EEF6"/>
            </a:solidFill>
            <a:prstDash val="solid"/>
          </a:ln>
        </p:spPr>
      </p:sp>
      <p:sp>
        <p:nvSpPr>
          <p:cNvPr id="18" name="Text 15"/>
          <p:cNvSpPr txBox="1"/>
          <p:nvPr/>
        </p:nvSpPr>
        <p:spPr>
          <a:xfrm>
            <a:off x="4434840" y="1856232"/>
            <a:ext cx="3291840" cy="274320"/>
          </a:xfrm>
          <a:prstGeom prst="rect">
            <a:avLst/>
          </a:prstGeom>
          <a:noFill/>
          <a:ln/>
        </p:spPr>
        <p:txBody>
          <a:bodyPr wrap="square" lIns="0" tIns="0" rIns="0" bIns="0" rtlCol="0" anchor="t"/>
          <a:lstStyle/>
          <a:p>
            <a:pPr indent="0" marL="0">
              <a:spcAft>
                <a:spcPts val="200"/>
              </a:spcAft>
              <a:buNone/>
            </a:pPr>
            <a:r>
              <a:rPr lang="en-US" sz="1200" b="1" dirty="0">
                <a:solidFill>
                  <a:srgbClr val="5B6B7B"/>
                </a:solidFill>
              </a:rPr>
              <a:t>INFERENCE</a:t>
            </a:r>
            <a:endParaRPr lang="en-US" sz="1200" dirty="0"/>
          </a:p>
        </p:txBody>
      </p:sp>
      <p:sp>
        <p:nvSpPr>
          <p:cNvPr id="19" name="Shape 16"/>
          <p:cNvSpPr/>
          <p:nvPr/>
        </p:nvSpPr>
        <p:spPr>
          <a:xfrm>
            <a:off x="4434840" y="2176272"/>
            <a:ext cx="3337560" cy="566928"/>
          </a:xfrm>
          <a:prstGeom prst="roundRect">
            <a:avLst>
              <a:gd name="adj" fmla="val 8065"/>
            </a:avLst>
          </a:prstGeom>
          <a:solidFill>
            <a:srgbClr val="FFFFFF"/>
          </a:solidFill>
          <a:ln w="25400">
            <a:solidFill>
              <a:srgbClr val="137A52"/>
            </a:solidFill>
            <a:prstDash val="solid"/>
          </a:ln>
        </p:spPr>
      </p:sp>
      <p:sp>
        <p:nvSpPr>
          <p:cNvPr id="20" name="Text 17"/>
          <p:cNvSpPr txBox="1"/>
          <p:nvPr/>
        </p:nvSpPr>
        <p:spPr>
          <a:xfrm>
            <a:off x="4526280" y="2212848"/>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C3 llama.cpp v0.6.0</a:t>
            </a:r>
            <a:endParaRPr lang="en-US" sz="1300" dirty="0"/>
          </a:p>
        </p:txBody>
      </p:sp>
      <p:sp>
        <p:nvSpPr>
          <p:cNvPr id="21" name="Text 18"/>
          <p:cNvSpPr txBox="1"/>
          <p:nvPr/>
        </p:nvSpPr>
        <p:spPr>
          <a:xfrm>
            <a:off x="4526280" y="2459736"/>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CUDA + CPU, same tokens · </a:t>
            </a:r>
            <a:pPr indent="0" marL="0">
              <a:spcAft>
                <a:spcPts val="200"/>
              </a:spcAft>
              <a:buNone/>
            </a:pPr>
            <a:r>
              <a:rPr lang="en-US" sz="1100" dirty="0">
                <a:solidFill>
                  <a:srgbClr val="1F77B4"/>
                </a:solidFill>
              </a:rPr>
              <a:t>cache off (NEW)</a:t>
            </a:r>
            <a:endParaRPr lang="en-US" sz="1100" dirty="0"/>
          </a:p>
        </p:txBody>
      </p:sp>
      <p:sp>
        <p:nvSpPr>
          <p:cNvPr id="22" name="Shape 19"/>
          <p:cNvSpPr/>
          <p:nvPr/>
        </p:nvSpPr>
        <p:spPr>
          <a:xfrm>
            <a:off x="4434840" y="2852928"/>
            <a:ext cx="3337560" cy="566928"/>
          </a:xfrm>
          <a:prstGeom prst="roundRect">
            <a:avLst>
              <a:gd name="adj" fmla="val 8065"/>
            </a:avLst>
          </a:prstGeom>
          <a:solidFill>
            <a:srgbClr val="FFFFFF"/>
          </a:solidFill>
          <a:ln w="25400">
            <a:solidFill>
              <a:srgbClr val="137A52"/>
            </a:solidFill>
            <a:prstDash val="solid"/>
          </a:ln>
        </p:spPr>
      </p:sp>
      <p:sp>
        <p:nvSpPr>
          <p:cNvPr id="23" name="Text 20"/>
          <p:cNvSpPr txBox="1"/>
          <p:nvPr/>
        </p:nvSpPr>
        <p:spPr>
          <a:xfrm>
            <a:off x="4526280" y="2889504"/>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C7 R1 grammar</a:t>
            </a:r>
            <a:endParaRPr lang="en-US" sz="1300" dirty="0"/>
          </a:p>
        </p:txBody>
      </p:sp>
      <p:sp>
        <p:nvSpPr>
          <p:cNvPr id="24" name="Text 21"/>
          <p:cNvSpPr txBox="1"/>
          <p:nvPr/>
        </p:nvSpPr>
        <p:spPr>
          <a:xfrm>
            <a:off x="4526280" y="3136392"/>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Calls or text answers · forced call only for testing</a:t>
            </a:r>
            <a:endParaRPr lang="en-US" sz="1100" dirty="0"/>
          </a:p>
        </p:txBody>
      </p:sp>
      <p:sp>
        <p:nvSpPr>
          <p:cNvPr id="25" name="Shape 22"/>
          <p:cNvSpPr/>
          <p:nvPr/>
        </p:nvSpPr>
        <p:spPr>
          <a:xfrm>
            <a:off x="4434840" y="3529584"/>
            <a:ext cx="3337560" cy="566928"/>
          </a:xfrm>
          <a:prstGeom prst="roundRect">
            <a:avLst>
              <a:gd name="adj" fmla="val 8065"/>
            </a:avLst>
          </a:prstGeom>
          <a:solidFill>
            <a:srgbClr val="FFFFFF"/>
          </a:solidFill>
          <a:ln w="12700">
            <a:solidFill>
              <a:srgbClr val="D5DAE1"/>
            </a:solidFill>
            <a:prstDash val="solid"/>
          </a:ln>
        </p:spPr>
      </p:sp>
      <p:sp>
        <p:nvSpPr>
          <p:cNvPr id="26" name="Text 23"/>
          <p:cNvSpPr txBox="1"/>
          <p:nvPr/>
        </p:nvSpPr>
        <p:spPr>
          <a:xfrm>
            <a:off x="4526280" y="3566160"/>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C7 R2 added bits</a:t>
            </a:r>
            <a:endParaRPr lang="en-US" sz="1300" dirty="0"/>
          </a:p>
        </p:txBody>
      </p:sp>
      <p:sp>
        <p:nvSpPr>
          <p:cNvPr id="27" name="Text 24"/>
          <p:cNvSpPr txBox="1"/>
          <p:nvPr/>
        </p:nvSpPr>
        <p:spPr>
          <a:xfrm>
            <a:off x="4526280" y="3813048"/>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Q8_0 + S9 switch in progress</a:t>
            </a:r>
            <a:endParaRPr lang="en-US" sz="1100" dirty="0"/>
          </a:p>
        </p:txBody>
      </p:sp>
      <p:sp>
        <p:nvSpPr>
          <p:cNvPr id="28" name="Shape 25"/>
          <p:cNvSpPr/>
          <p:nvPr/>
        </p:nvSpPr>
        <p:spPr>
          <a:xfrm>
            <a:off x="8046720" y="1783080"/>
            <a:ext cx="3611880" cy="2514600"/>
          </a:xfrm>
          <a:prstGeom prst="roundRect">
            <a:avLst>
              <a:gd name="adj" fmla="val 2909"/>
            </a:avLst>
          </a:prstGeom>
          <a:solidFill>
            <a:srgbClr val="FDF0E9"/>
          </a:solidFill>
          <a:ln w="12700">
            <a:solidFill>
              <a:srgbClr val="FDF0E9"/>
            </a:solidFill>
            <a:prstDash val="solid"/>
          </a:ln>
        </p:spPr>
      </p:sp>
      <p:sp>
        <p:nvSpPr>
          <p:cNvPr id="29" name="Text 26"/>
          <p:cNvSpPr txBox="1"/>
          <p:nvPr/>
        </p:nvSpPr>
        <p:spPr>
          <a:xfrm>
            <a:off x="8183880" y="1856232"/>
            <a:ext cx="3291840" cy="274320"/>
          </a:xfrm>
          <a:prstGeom prst="rect">
            <a:avLst/>
          </a:prstGeom>
          <a:noFill/>
          <a:ln/>
        </p:spPr>
        <p:txBody>
          <a:bodyPr wrap="square" lIns="0" tIns="0" rIns="0" bIns="0" rtlCol="0" anchor="t"/>
          <a:lstStyle/>
          <a:p>
            <a:pPr indent="0" marL="0">
              <a:spcAft>
                <a:spcPts val="200"/>
              </a:spcAft>
              <a:buNone/>
            </a:pPr>
            <a:r>
              <a:rPr lang="en-US" sz="1200" b="1" dirty="0">
                <a:solidFill>
                  <a:srgbClr val="5B6B7B"/>
                </a:solidFill>
              </a:rPr>
              <a:t>TRAINING &amp; EXPORT</a:t>
            </a:r>
            <a:endParaRPr lang="en-US" sz="1200" dirty="0"/>
          </a:p>
        </p:txBody>
      </p:sp>
      <p:sp>
        <p:nvSpPr>
          <p:cNvPr id="30" name="Shape 27"/>
          <p:cNvSpPr/>
          <p:nvPr/>
        </p:nvSpPr>
        <p:spPr>
          <a:xfrm>
            <a:off x="8183880" y="2176272"/>
            <a:ext cx="3337560" cy="566928"/>
          </a:xfrm>
          <a:prstGeom prst="roundRect">
            <a:avLst>
              <a:gd name="adj" fmla="val 8065"/>
            </a:avLst>
          </a:prstGeom>
          <a:solidFill>
            <a:srgbClr val="FFFFFF"/>
          </a:solidFill>
          <a:ln w="25400">
            <a:solidFill>
              <a:srgbClr val="137A52"/>
            </a:solidFill>
            <a:prstDash val="solid"/>
          </a:ln>
        </p:spPr>
      </p:sp>
      <p:sp>
        <p:nvSpPr>
          <p:cNvPr id="31" name="Text 28"/>
          <p:cNvSpPr txBox="1"/>
          <p:nvPr/>
        </p:nvSpPr>
        <p:spPr>
          <a:xfrm>
            <a:off x="8275320" y="2212848"/>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C8 QAD pipeline (R3)</a:t>
            </a:r>
            <a:endParaRPr lang="en-US" sz="1300" dirty="0"/>
          </a:p>
        </p:txBody>
      </p:sp>
      <p:sp>
        <p:nvSpPr>
          <p:cNvPr id="32" name="Text 29"/>
          <p:cNvSpPr txBox="1"/>
          <p:nvPr/>
        </p:nvSpPr>
        <p:spPr>
          <a:xfrm>
            <a:off x="8275320" y="2459736"/>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S7: stop and resume gives the same loss</a:t>
            </a:r>
            <a:endParaRPr lang="en-US" sz="1100" dirty="0"/>
          </a:p>
        </p:txBody>
      </p:sp>
      <p:sp>
        <p:nvSpPr>
          <p:cNvPr id="33" name="Shape 30"/>
          <p:cNvSpPr/>
          <p:nvPr/>
        </p:nvSpPr>
        <p:spPr>
          <a:xfrm>
            <a:off x="8183880" y="2852928"/>
            <a:ext cx="3337560" cy="566928"/>
          </a:xfrm>
          <a:prstGeom prst="roundRect">
            <a:avLst>
              <a:gd name="adj" fmla="val 8065"/>
            </a:avLst>
          </a:prstGeom>
          <a:solidFill>
            <a:srgbClr val="FFFFFF"/>
          </a:solidFill>
          <a:ln w="12700">
            <a:solidFill>
              <a:srgbClr val="D5DAE1"/>
            </a:solidFill>
            <a:prstDash val="solid"/>
          </a:ln>
        </p:spPr>
      </p:sp>
      <p:sp>
        <p:nvSpPr>
          <p:cNvPr id="34" name="Text 31"/>
          <p:cNvSpPr txBox="1"/>
          <p:nvPr/>
        </p:nvSpPr>
        <p:spPr>
          <a:xfrm>
            <a:off x="8275320" y="2889504"/>
            <a:ext cx="315468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Export &amp; verify</a:t>
            </a:r>
            <a:endParaRPr lang="en-US" sz="1300" dirty="0"/>
          </a:p>
        </p:txBody>
      </p:sp>
      <p:sp>
        <p:nvSpPr>
          <p:cNvPr id="35" name="Text 32"/>
          <p:cNvSpPr txBox="1"/>
          <p:nvPr/>
        </p:nvSpPr>
        <p:spPr>
          <a:xfrm>
            <a:off x="8275320" y="3136392"/>
            <a:ext cx="315468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S8 Q4_0 export in progress</a:t>
            </a:r>
            <a:endParaRPr lang="en-US" sz="1100" dirty="0"/>
          </a:p>
        </p:txBody>
      </p:sp>
      <p:sp>
        <p:nvSpPr>
          <p:cNvPr id="36" name="Shape 33"/>
          <p:cNvSpPr/>
          <p:nvPr/>
        </p:nvSpPr>
        <p:spPr>
          <a:xfrm>
            <a:off x="548640" y="4434840"/>
            <a:ext cx="11109960" cy="868680"/>
          </a:xfrm>
          <a:prstGeom prst="roundRect">
            <a:avLst>
              <a:gd name="adj" fmla="val 8421"/>
            </a:avLst>
          </a:prstGeom>
          <a:solidFill>
            <a:srgbClr val="F2F4F7"/>
          </a:solidFill>
          <a:ln w="12700">
            <a:solidFill>
              <a:srgbClr val="F2F4F7"/>
            </a:solidFill>
            <a:prstDash val="solid"/>
          </a:ln>
        </p:spPr>
      </p:sp>
      <p:sp>
        <p:nvSpPr>
          <p:cNvPr id="37" name="Shape 34"/>
          <p:cNvSpPr/>
          <p:nvPr/>
        </p:nvSpPr>
        <p:spPr>
          <a:xfrm>
            <a:off x="685800" y="4581144"/>
            <a:ext cx="2606040" cy="566928"/>
          </a:xfrm>
          <a:prstGeom prst="roundRect">
            <a:avLst>
              <a:gd name="adj" fmla="val 8065"/>
            </a:avLst>
          </a:prstGeom>
          <a:solidFill>
            <a:srgbClr val="FFFFFF"/>
          </a:solidFill>
          <a:ln w="12700">
            <a:solidFill>
              <a:srgbClr val="D5DAE1"/>
            </a:solidFill>
            <a:prstDash val="solid"/>
          </a:ln>
        </p:spPr>
      </p:sp>
      <p:sp>
        <p:nvSpPr>
          <p:cNvPr id="38" name="Text 35"/>
          <p:cNvSpPr txBox="1"/>
          <p:nvPr/>
        </p:nvSpPr>
        <p:spPr>
          <a:xfrm>
            <a:off x="777240" y="4617720"/>
            <a:ext cx="242316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C5 Step Logger</a:t>
            </a:r>
            <a:endParaRPr lang="en-US" sz="1300" dirty="0"/>
          </a:p>
        </p:txBody>
      </p:sp>
      <p:sp>
        <p:nvSpPr>
          <p:cNvPr id="39" name="Text 36"/>
          <p:cNvSpPr txBox="1"/>
          <p:nvPr/>
        </p:nvSpPr>
        <p:spPr>
          <a:xfrm>
            <a:off x="777240" y="4864608"/>
            <a:ext cx="242316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In progress</a:t>
            </a:r>
            <a:endParaRPr lang="en-US" sz="1100" dirty="0"/>
          </a:p>
        </p:txBody>
      </p:sp>
      <p:sp>
        <p:nvSpPr>
          <p:cNvPr id="40" name="Shape 37"/>
          <p:cNvSpPr/>
          <p:nvPr/>
        </p:nvSpPr>
        <p:spPr>
          <a:xfrm>
            <a:off x="3429000" y="4581144"/>
            <a:ext cx="2606040" cy="566928"/>
          </a:xfrm>
          <a:prstGeom prst="roundRect">
            <a:avLst>
              <a:gd name="adj" fmla="val 8065"/>
            </a:avLst>
          </a:prstGeom>
          <a:solidFill>
            <a:srgbClr val="FFFFFF"/>
          </a:solidFill>
          <a:ln w="12700">
            <a:solidFill>
              <a:srgbClr val="D5DAE1"/>
            </a:solidFill>
            <a:prstDash val="solid"/>
          </a:ln>
        </p:spPr>
      </p:sp>
      <p:sp>
        <p:nvSpPr>
          <p:cNvPr id="41" name="Text 38"/>
          <p:cNvSpPr txBox="1"/>
          <p:nvPr/>
        </p:nvSpPr>
        <p:spPr>
          <a:xfrm>
            <a:off x="3520440" y="4617720"/>
            <a:ext cx="242316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C6 Classifier</a:t>
            </a:r>
            <a:endParaRPr lang="en-US" sz="1300" dirty="0"/>
          </a:p>
        </p:txBody>
      </p:sp>
      <p:sp>
        <p:nvSpPr>
          <p:cNvPr id="42" name="Text 39"/>
          <p:cNvSpPr txBox="1"/>
          <p:nvPr/>
        </p:nvSpPr>
        <p:spPr>
          <a:xfrm>
            <a:off x="3520440" y="4864608"/>
            <a:ext cx="2423160" cy="256032"/>
          </a:xfrm>
          <a:prstGeom prst="rect">
            <a:avLst/>
          </a:prstGeom>
          <a:noFill/>
          <a:ln/>
        </p:spPr>
        <p:txBody>
          <a:bodyPr wrap="square" lIns="0" tIns="0" rIns="0" bIns="0" rtlCol="0" anchor="t"/>
          <a:lstStyle/>
          <a:p>
            <a:pPr indent="0" marL="0">
              <a:spcAft>
                <a:spcPts val="200"/>
              </a:spcAft>
              <a:buNone/>
            </a:pPr>
            <a:r>
              <a:rPr lang="en-US" sz="1100" dirty="0">
                <a:solidFill>
                  <a:srgbClr val="1F77B4"/>
                </a:solidFill>
              </a:rPr>
              <a:t>+ missing-call class (NEW)</a:t>
            </a:r>
            <a:endParaRPr lang="en-US" sz="1100" dirty="0"/>
          </a:p>
        </p:txBody>
      </p:sp>
      <p:sp>
        <p:nvSpPr>
          <p:cNvPr id="43" name="Shape 40"/>
          <p:cNvSpPr/>
          <p:nvPr/>
        </p:nvSpPr>
        <p:spPr>
          <a:xfrm>
            <a:off x="6172200" y="4581144"/>
            <a:ext cx="2606040" cy="566928"/>
          </a:xfrm>
          <a:prstGeom prst="roundRect">
            <a:avLst>
              <a:gd name="adj" fmla="val 8065"/>
            </a:avLst>
          </a:prstGeom>
          <a:solidFill>
            <a:srgbClr val="FFFFFF"/>
          </a:solidFill>
          <a:ln w="25400">
            <a:solidFill>
              <a:srgbClr val="137A52"/>
            </a:solidFill>
            <a:prstDash val="solid"/>
          </a:ln>
        </p:spPr>
      </p:sp>
      <p:sp>
        <p:nvSpPr>
          <p:cNvPr id="44" name="Text 41"/>
          <p:cNvSpPr txBox="1"/>
          <p:nvPr/>
        </p:nvSpPr>
        <p:spPr>
          <a:xfrm>
            <a:off x="6263640" y="4617720"/>
            <a:ext cx="242316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C10 Stats</a:t>
            </a:r>
            <a:endParaRPr lang="en-US" sz="1300" dirty="0"/>
          </a:p>
        </p:txBody>
      </p:sp>
      <p:sp>
        <p:nvSpPr>
          <p:cNvPr id="45" name="Text 42"/>
          <p:cNvSpPr txBox="1"/>
          <p:nvPr/>
        </p:nvSpPr>
        <p:spPr>
          <a:xfrm>
            <a:off x="6263640" y="4864608"/>
            <a:ext cx="242316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Ran: McNemar, 4 seeds</a:t>
            </a:r>
            <a:endParaRPr lang="en-US" sz="1100" dirty="0"/>
          </a:p>
        </p:txBody>
      </p:sp>
      <p:sp>
        <p:nvSpPr>
          <p:cNvPr id="46" name="Shape 43"/>
          <p:cNvSpPr/>
          <p:nvPr/>
        </p:nvSpPr>
        <p:spPr>
          <a:xfrm>
            <a:off x="8915400" y="4581144"/>
            <a:ext cx="2606040" cy="566928"/>
          </a:xfrm>
          <a:prstGeom prst="roundRect">
            <a:avLst>
              <a:gd name="adj" fmla="val 8065"/>
            </a:avLst>
          </a:prstGeom>
          <a:solidFill>
            <a:srgbClr val="FFFFFF"/>
          </a:solidFill>
          <a:ln w="25400">
            <a:solidFill>
              <a:srgbClr val="137A52"/>
            </a:solidFill>
            <a:prstDash val="solid"/>
          </a:ln>
        </p:spPr>
      </p:sp>
      <p:sp>
        <p:nvSpPr>
          <p:cNvPr id="47" name="Text 44"/>
          <p:cNvSpPr txBox="1"/>
          <p:nvPr/>
        </p:nvSpPr>
        <p:spPr>
          <a:xfrm>
            <a:off x="9006840" y="4617720"/>
            <a:ext cx="2423160" cy="256032"/>
          </a:xfrm>
          <a:prstGeom prst="rect">
            <a:avLst/>
          </a:prstGeom>
          <a:noFill/>
          <a:ln/>
        </p:spPr>
        <p:txBody>
          <a:bodyPr wrap="square" lIns="0" tIns="0" rIns="0" bIns="0" rtlCol="0" anchor="t"/>
          <a:lstStyle/>
          <a:p>
            <a:pPr indent="0" marL="0">
              <a:spcAft>
                <a:spcPts val="200"/>
              </a:spcAft>
              <a:buNone/>
            </a:pPr>
            <a:r>
              <a:rPr lang="en-US" sz="1300" b="1" dirty="0">
                <a:solidFill>
                  <a:srgbClr val="1B2A3A"/>
                </a:solidFill>
              </a:rPr>
              <a:t>C9 Cost Profiler</a:t>
            </a:r>
            <a:endParaRPr lang="en-US" sz="1300" dirty="0"/>
          </a:p>
        </p:txBody>
      </p:sp>
      <p:sp>
        <p:nvSpPr>
          <p:cNvPr id="48" name="Text 45"/>
          <p:cNvSpPr txBox="1"/>
          <p:nvPr/>
        </p:nvSpPr>
        <p:spPr>
          <a:xfrm>
            <a:off x="9006840" y="4864608"/>
            <a:ext cx="2423160" cy="256032"/>
          </a:xfrm>
          <a:prstGeom prst="rect">
            <a:avLst/>
          </a:prstGeom>
          <a:noFill/>
          <a:ln/>
        </p:spPr>
        <p:txBody>
          <a:bodyPr wrap="square" lIns="0" tIns="0" rIns="0" bIns="0" rtlCol="0" anchor="t"/>
          <a:lstStyle/>
          <a:p>
            <a:pPr indent="0" marL="0">
              <a:spcAft>
                <a:spcPts val="200"/>
              </a:spcAft>
              <a:buNone/>
            </a:pPr>
            <a:r>
              <a:rPr lang="en-US" sz="1100" dirty="0">
                <a:solidFill>
                  <a:srgbClr val="1B2A3A"/>
                </a:solidFill>
              </a:rPr>
              <a:t>Ran: NVML mJ/token</a:t>
            </a:r>
            <a:endParaRPr lang="en-US" sz="1100" dirty="0"/>
          </a:p>
        </p:txBody>
      </p:sp>
      <p:sp>
        <p:nvSpPr>
          <p:cNvPr id="49" name="Shape 46"/>
          <p:cNvSpPr/>
          <p:nvPr/>
        </p:nvSpPr>
        <p:spPr>
          <a:xfrm>
            <a:off x="548640" y="5440680"/>
            <a:ext cx="2468880" cy="365760"/>
          </a:xfrm>
          <a:prstGeom prst="roundRect">
            <a:avLst>
              <a:gd name="adj" fmla="val 15000"/>
            </a:avLst>
          </a:prstGeom>
          <a:solidFill>
            <a:srgbClr val="137A52"/>
          </a:solidFill>
          <a:ln w="12700">
            <a:solidFill>
              <a:srgbClr val="137A52"/>
            </a:solidFill>
            <a:prstDash val="solid"/>
          </a:ln>
        </p:spPr>
      </p:sp>
      <p:sp>
        <p:nvSpPr>
          <p:cNvPr id="50" name="Text 47"/>
          <p:cNvSpPr txBox="1"/>
          <p:nvPr/>
        </p:nvSpPr>
        <p:spPr>
          <a:xfrm>
            <a:off x="548640" y="5440680"/>
            <a:ext cx="2468880" cy="365760"/>
          </a:xfrm>
          <a:prstGeom prst="rect">
            <a:avLst/>
          </a:prstGeom>
          <a:noFill/>
          <a:ln/>
        </p:spPr>
        <p:txBody>
          <a:bodyPr wrap="square" lIns="0" tIns="0" rIns="0" bIns="0" rtlCol="0" anchor="ctr"/>
          <a:lstStyle/>
          <a:p>
            <a:pPr algn="ctr" indent="0" marL="0">
              <a:spcAft>
                <a:spcPts val="200"/>
              </a:spcAft>
              <a:buNone/>
            </a:pPr>
            <a:r>
              <a:rPr lang="en-US" sz="1300" b="1" dirty="0">
                <a:solidFill>
                  <a:srgbClr val="FFFFFF"/>
                </a:solidFill>
              </a:rPr>
              <a:t>Now: Colab A100 + CPU</a:t>
            </a:r>
            <a:endParaRPr lang="en-US" sz="1300" dirty="0"/>
          </a:p>
        </p:txBody>
      </p:sp>
      <p:sp>
        <p:nvSpPr>
          <p:cNvPr id="51" name="Shape 48"/>
          <p:cNvSpPr/>
          <p:nvPr/>
        </p:nvSpPr>
        <p:spPr>
          <a:xfrm>
            <a:off x="3108960" y="5513832"/>
            <a:ext cx="411480" cy="228600"/>
          </a:xfrm>
          <a:prstGeom prst="rightArrow">
            <a:avLst/>
          </a:prstGeom>
          <a:solidFill>
            <a:srgbClr val="5B6B7B"/>
          </a:solidFill>
          <a:ln w="12700">
            <a:solidFill>
              <a:srgbClr val="5B6B7B"/>
            </a:solidFill>
            <a:prstDash val="solid"/>
          </a:ln>
        </p:spPr>
      </p:sp>
      <p:sp>
        <p:nvSpPr>
          <p:cNvPr id="52" name="Shape 49"/>
          <p:cNvSpPr/>
          <p:nvPr/>
        </p:nvSpPr>
        <p:spPr>
          <a:xfrm>
            <a:off x="3611880" y="5440680"/>
            <a:ext cx="5120640" cy="365760"/>
          </a:xfrm>
          <a:prstGeom prst="roundRect">
            <a:avLst>
              <a:gd name="adj" fmla="val 15000"/>
            </a:avLst>
          </a:prstGeom>
          <a:solidFill>
            <a:srgbClr val="F2F4F7"/>
          </a:solidFill>
          <a:ln w="12700">
            <a:solidFill>
              <a:srgbClr val="8C8C8C"/>
            </a:solidFill>
            <a:prstDash val="dash"/>
          </a:ln>
        </p:spPr>
      </p:sp>
      <p:sp>
        <p:nvSpPr>
          <p:cNvPr id="53" name="Text 50"/>
          <p:cNvSpPr txBox="1"/>
          <p:nvPr/>
        </p:nvSpPr>
        <p:spPr>
          <a:xfrm>
            <a:off x="3611880" y="5440680"/>
            <a:ext cx="5120640" cy="365760"/>
          </a:xfrm>
          <a:prstGeom prst="rect">
            <a:avLst/>
          </a:prstGeom>
          <a:noFill/>
          <a:ln/>
        </p:spPr>
        <p:txBody>
          <a:bodyPr wrap="square" lIns="0" tIns="0" rIns="0" bIns="0" rtlCol="0" anchor="ctr"/>
          <a:lstStyle/>
          <a:p>
            <a:pPr algn="ctr" indent="0" marL="0">
              <a:spcAft>
                <a:spcPts val="200"/>
              </a:spcAft>
              <a:buNone/>
            </a:pPr>
            <a:r>
              <a:rPr lang="en-US" sz="1300" b="1" dirty="0">
                <a:solidFill>
                  <a:srgbClr val="1B2A3A"/>
                </a:solidFill>
              </a:rPr>
              <a:t>Next: CoE HPC P100 (eval) · H100/A100 (QAD) · CPU nodes</a:t>
            </a:r>
            <a:endParaRPr lang="en-US" sz="1300" dirty="0"/>
          </a:p>
        </p:txBody>
      </p:sp>
      <p:sp>
        <p:nvSpPr>
          <p:cNvPr id="54" name="Text 51"/>
          <p:cNvSpPr txBox="1"/>
          <p:nvPr/>
        </p:nvSpPr>
        <p:spPr>
          <a:xfrm>
            <a:off x="8869680" y="5440680"/>
            <a:ext cx="2743200" cy="365760"/>
          </a:xfrm>
          <a:prstGeom prst="rect">
            <a:avLst/>
          </a:prstGeom>
          <a:noFill/>
          <a:ln/>
        </p:spPr>
        <p:txBody>
          <a:bodyPr wrap="square" lIns="0" tIns="0" rIns="0" bIns="0" rtlCol="0" anchor="ctr"/>
          <a:lstStyle/>
          <a:p>
            <a:pPr indent="0" marL="0">
              <a:spcAft>
                <a:spcPts val="200"/>
              </a:spcAft>
              <a:buNone/>
            </a:pPr>
            <a:r>
              <a:rPr lang="en-US" sz="1300" dirty="0">
                <a:solidFill>
                  <a:srgbClr val="5B6B7B"/>
                </a:solidFill>
              </a:rPr>
              <a:t>+ GCP L4 simulator VM (planned)</a:t>
            </a:r>
            <a:endParaRPr lang="en-US" sz="1300" dirty="0"/>
          </a:p>
        </p:txBody>
      </p:sp>
      <p:sp>
        <p:nvSpPr>
          <p:cNvPr id="55" name="Text 52"/>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Green border = ran in the pilot · solid grey = in progress · dashed = planned · blue = changed after the pilot. Same run spec on both hosts; only the host changes.</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Pilot results on BFCL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914400"/>
        </p:xfrm>
        <a:graphic>
          <a:graphicData uri="http://schemas.openxmlformats.org/drawingml/2006/table">
            <a:tbl>
              <a:tblPr/>
              <a:tblGrid>
                <a:gridCol w="3474720"/>
                <a:gridCol w="1097280"/>
                <a:gridCol w="1097280"/>
                <a:gridCol w="1097280"/>
              </a:tblGrid>
              <a:tr h="438912">
                <a:tc>
                  <a:txBody>
                    <a:bodyPr/>
                    <a:lstStyle/>
                    <a:p>
                      <a:pPr algn="l" indent="0" marL="0">
                        <a:buNone/>
                      </a:pPr>
                      <a:r>
                        <a:rPr lang="en-US" sz="1400" b="1" dirty="0">
                          <a:solidFill>
                            <a:srgbClr val="FFFFFF"/>
                          </a:solidFill>
                        </a:rPr>
                        <a:t>Qwen3-0.6B, BFCL (v2 protocol)</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400" b="1" dirty="0">
                          <a:solidFill>
                            <a:srgbClr val="FFFFFF"/>
                          </a:solidFill>
                        </a:rPr>
                        <a:t>BF16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400" b="1" dirty="0">
                          <a:solidFill>
                            <a:srgbClr val="FFFFFF"/>
                          </a:solidFill>
                        </a:rPr>
                        <a:t>Q4_K_M</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400" b="1" dirty="0">
                          <a:solidFill>
                            <a:srgbClr val="FFFFFF"/>
                          </a:solidFill>
                        </a:rPr>
                        <a:t>Q4_0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438912">
                <a:tc>
                  <a:txBody>
                    <a:bodyPr/>
                    <a:lstStyle/>
                    <a:p>
                      <a:pPr algn="l" indent="0" marL="0">
                        <a:buNone/>
                      </a:pPr>
                      <a:r>
                        <a:rPr lang="en-US" sz="1400" dirty="0">
                          <a:solidFill>
                            <a:srgbClr val="1B2A3A"/>
                          </a:solidFill>
                        </a:rPr>
                        <a:t>simple_python, greedy (n = 400)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83.75</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83.25</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68.50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A3A"/>
                          </a:solidFill>
                        </a:rPr>
                        <a:t>Non-live overall, greedy (1,150 call tasks)</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69.52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66.81</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56.38</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38912">
                <a:tc>
                  <a:txBody>
                    <a:bodyPr/>
                    <a:lstStyle/>
                    <a:p>
                      <a:pPr algn="l" indent="0" marL="0">
                        <a:buNone/>
                      </a:pPr>
                      <a:r>
                        <a:rPr lang="en-US" sz="1400" dirty="0">
                          <a:solidFill>
                            <a:srgbClr val="1B2A3A"/>
                          </a:solidFill>
                        </a:rPr>
                        <a:t>Non-live, 4 sampled seeds (mean ± sd)</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68.7 ± 0.6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65.3 ± 1.0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56.6 ± 1.7</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A3A"/>
                          </a:solidFill>
                        </a:rPr>
                        <a:t>Irrelevance, correct no-call (n = 240)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88.33</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86.25</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92.50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38912">
                <a:tc>
                  <a:txBody>
                    <a:bodyPr/>
                    <a:lstStyle/>
                    <a:p>
                      <a:pPr algn="l" indent="0" marL="0">
                        <a:buNone/>
                      </a:pPr>
                      <a:r>
                        <a:rPr lang="en-US" sz="1400" dirty="0">
                          <a:solidFill>
                            <a:srgbClr val="1B2A3A"/>
                          </a:solidFill>
                        </a:rPr>
                        <a:t>No tool call on simple_python (tasks)</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11</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8</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57</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A3A"/>
                          </a:solidFill>
                        </a:rPr>
                        <a:t>Bits per weight, whole file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16.06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5.15</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4.57</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Shape 1"/>
          <p:cNvSpPr/>
          <p:nvPr/>
        </p:nvSpPr>
        <p:spPr>
          <a:xfrm>
            <a:off x="7589520" y="1371600"/>
            <a:ext cx="4069080" cy="1965960"/>
          </a:xfrm>
          <a:prstGeom prst="roundRect">
            <a:avLst>
              <a:gd name="adj" fmla="val 3721"/>
            </a:avLst>
          </a:prstGeom>
          <a:solidFill>
            <a:srgbClr val="F2F4F7"/>
          </a:solidFill>
          <a:ln w="12700">
            <a:solidFill>
              <a:srgbClr val="F2F4F7"/>
            </a:solidFill>
            <a:prstDash val="solid"/>
          </a:ln>
        </p:spPr>
      </p:sp>
      <p:sp>
        <p:nvSpPr>
          <p:cNvPr id="6" name="Text 2"/>
          <p:cNvSpPr txBox="1"/>
          <p:nvPr/>
        </p:nvSpPr>
        <p:spPr>
          <a:xfrm>
            <a:off x="7754112" y="1536192"/>
            <a:ext cx="3739896" cy="365760"/>
          </a:xfrm>
          <a:prstGeom prst="rect">
            <a:avLst/>
          </a:prstGeom>
          <a:noFill/>
          <a:ln/>
        </p:spPr>
        <p:txBody>
          <a:bodyPr wrap="square" lIns="0" tIns="0" rIns="0" bIns="0" rtlCol="0" anchor="t"/>
          <a:lstStyle/>
          <a:p>
            <a:pPr indent="0" marL="0">
              <a:spcAft>
                <a:spcPts val="200"/>
              </a:spcAft>
              <a:buNone/>
            </a:pPr>
            <a:r>
              <a:rPr lang="en-US" sz="1800" b="1" dirty="0">
                <a:solidFill>
                  <a:srgbClr val="1B2A3A"/>
                </a:solidFill>
              </a:rPr>
              <a:t>Q4_K_M: −2.7 points</a:t>
            </a:r>
            <a:endParaRPr lang="en-US" sz="1800" dirty="0"/>
          </a:p>
        </p:txBody>
      </p:sp>
      <p:sp>
        <p:nvSpPr>
          <p:cNvPr id="7" name="Text 3"/>
          <p:cNvSpPr txBox="1"/>
          <p:nvPr/>
        </p:nvSpPr>
        <p:spPr>
          <a:xfrm>
            <a:off x="7754112" y="1947672"/>
            <a:ext cx="3739896" cy="122529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72 tasks went from right to wrong and 47 from wrong to right (p = 0.027, 1,150 tasks). On 400 tasks alone the drop was not significant.</a:t>
            </a:r>
            <a:endParaRPr lang="en-US" sz="1500" dirty="0"/>
          </a:p>
        </p:txBody>
      </p:sp>
      <p:sp>
        <p:nvSpPr>
          <p:cNvPr id="8" name="Shape 4"/>
          <p:cNvSpPr/>
          <p:nvPr/>
        </p:nvSpPr>
        <p:spPr>
          <a:xfrm>
            <a:off x="7589520" y="3520440"/>
            <a:ext cx="4069080" cy="1965960"/>
          </a:xfrm>
          <a:prstGeom prst="roundRect">
            <a:avLst>
              <a:gd name="adj" fmla="val 3721"/>
            </a:avLst>
          </a:prstGeom>
          <a:solidFill>
            <a:srgbClr val="FBE9EC"/>
          </a:solidFill>
          <a:ln w="12700">
            <a:solidFill>
              <a:srgbClr val="FBE9EC"/>
            </a:solidFill>
            <a:prstDash val="solid"/>
          </a:ln>
        </p:spPr>
      </p:sp>
      <p:sp>
        <p:nvSpPr>
          <p:cNvPr id="9" name="Text 5"/>
          <p:cNvSpPr txBox="1"/>
          <p:nvPr/>
        </p:nvSpPr>
        <p:spPr>
          <a:xfrm>
            <a:off x="7754112" y="3685032"/>
            <a:ext cx="3739896" cy="365760"/>
          </a:xfrm>
          <a:prstGeom prst="rect">
            <a:avLst/>
          </a:prstGeom>
          <a:noFill/>
          <a:ln/>
        </p:spPr>
        <p:txBody>
          <a:bodyPr wrap="square" lIns="0" tIns="0" rIns="0" bIns="0" rtlCol="0" anchor="t"/>
          <a:lstStyle/>
          <a:p>
            <a:pPr indent="0" marL="0">
              <a:spcAft>
                <a:spcPts val="200"/>
              </a:spcAft>
              <a:buNone/>
            </a:pPr>
            <a:r>
              <a:rPr lang="en-US" sz="1800" b="1" dirty="0">
                <a:solidFill>
                  <a:srgbClr val="A30D25"/>
                </a:solidFill>
              </a:rPr>
              <a:t>Q4_0 --pure: −13.1 points</a:t>
            </a:r>
            <a:endParaRPr lang="en-US" sz="1800" dirty="0"/>
          </a:p>
        </p:txBody>
      </p:sp>
      <p:sp>
        <p:nvSpPr>
          <p:cNvPr id="10" name="Text 6"/>
          <p:cNvSpPr txBox="1"/>
          <p:nvPr/>
        </p:nvSpPr>
        <p:spPr>
          <a:xfrm>
            <a:off x="7754112" y="4096512"/>
            <a:ext cx="3739896" cy="122529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193 tasks went from right to wrong and 33 from wrong to right. Most errors are missed tool calls.</a:t>
            </a:r>
            <a:endParaRPr lang="en-US" sz="1500" dirty="0"/>
          </a:p>
        </p:txBody>
      </p:sp>
      <p:sp>
        <p:nvSpPr>
          <p:cNvPr id="11" name="Text 7"/>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Colab A100, Oct 8 · llama.cpp v0.6.0 · bfcl-eval 2026.3.23 · non-thinking mode, prompt caching off · test data, not study results</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We did not see the published Q4_K_M drop</a:t>
            </a:r>
            <a:endParaRPr lang="en-US" sz="3200" dirty="0"/>
          </a:p>
        </p:txBody>
      </p:sp>
      <p:sp>
        <p:nvSpPr>
          <p:cNvPr id="4" name="Shape 1"/>
          <p:cNvSpPr/>
          <p:nvPr/>
        </p:nvSpPr>
        <p:spPr>
          <a:xfrm>
            <a:off x="548640" y="1371600"/>
            <a:ext cx="3383280" cy="2651760"/>
          </a:xfrm>
          <a:prstGeom prst="roundRect">
            <a:avLst>
              <a:gd name="adj" fmla="val 2759"/>
            </a:avLst>
          </a:prstGeom>
          <a:solidFill>
            <a:srgbClr val="1B2A3A"/>
          </a:solidFill>
          <a:ln w="12700">
            <a:solidFill>
              <a:srgbClr val="1B2A3A"/>
            </a:solidFill>
            <a:prstDash val="solid"/>
          </a:ln>
        </p:spPr>
      </p:sp>
      <p:sp>
        <p:nvSpPr>
          <p:cNvPr id="5" name="Text 2"/>
          <p:cNvSpPr txBox="1"/>
          <p:nvPr/>
        </p:nvSpPr>
        <p:spPr>
          <a:xfrm>
            <a:off x="777240" y="1554480"/>
            <a:ext cx="2926080" cy="731520"/>
          </a:xfrm>
          <a:prstGeom prst="rect">
            <a:avLst/>
          </a:prstGeom>
          <a:noFill/>
          <a:ln/>
        </p:spPr>
        <p:txBody>
          <a:bodyPr wrap="square" lIns="0" tIns="0" rIns="0" bIns="0" rtlCol="0" anchor="t"/>
          <a:lstStyle/>
          <a:p>
            <a:pPr indent="0" marL="0">
              <a:spcAft>
                <a:spcPts val="200"/>
              </a:spcAft>
              <a:buNone/>
            </a:pPr>
            <a:r>
              <a:rPr lang="en-US" sz="1400" dirty="0">
                <a:solidFill>
                  <a:srgbClr val="C9D3DE"/>
                </a:solidFill>
              </a:rPr>
              <a:t>Taheri et al. [19], BFCL V3 non-live, instruction-following prompt</a:t>
            </a:r>
            <a:endParaRPr lang="en-US" sz="1400" dirty="0"/>
          </a:p>
        </p:txBody>
      </p:sp>
      <p:sp>
        <p:nvSpPr>
          <p:cNvPr id="6" name="Text 3"/>
          <p:cNvSpPr txBox="1"/>
          <p:nvPr/>
        </p:nvSpPr>
        <p:spPr>
          <a:xfrm>
            <a:off x="777240" y="2331720"/>
            <a:ext cx="3017520" cy="731520"/>
          </a:xfrm>
          <a:prstGeom prst="rect">
            <a:avLst/>
          </a:prstGeom>
          <a:noFill/>
          <a:ln/>
        </p:spPr>
        <p:txBody>
          <a:bodyPr wrap="square" lIns="0" tIns="0" rIns="0" bIns="0" rtlCol="0" anchor="t"/>
          <a:lstStyle/>
          <a:p>
            <a:pPr indent="0" marL="0">
              <a:spcAft>
                <a:spcPts val="200"/>
              </a:spcAft>
              <a:buNone/>
            </a:pPr>
            <a:r>
              <a:rPr lang="en-US" sz="4000" b="1" dirty="0">
                <a:solidFill>
                  <a:srgbClr val="FF8A9A"/>
                </a:solidFill>
              </a:rPr>
              <a:t>62.3 → 16.8</a:t>
            </a:r>
            <a:endParaRPr lang="en-US" sz="4000" dirty="0"/>
          </a:p>
        </p:txBody>
      </p:sp>
      <p:sp>
        <p:nvSpPr>
          <p:cNvPr id="7" name="Text 4"/>
          <p:cNvSpPr txBox="1"/>
          <p:nvPr/>
        </p:nvSpPr>
        <p:spPr>
          <a:xfrm>
            <a:off x="777240" y="3200400"/>
            <a:ext cx="2926080" cy="457200"/>
          </a:xfrm>
          <a:prstGeom prst="rect">
            <a:avLst/>
          </a:prstGeom>
          <a:noFill/>
          <a:ln/>
        </p:spPr>
        <p:txBody>
          <a:bodyPr wrap="square" lIns="0" tIns="0" rIns="0" bIns="0" rtlCol="0" anchor="t"/>
          <a:lstStyle/>
          <a:p>
            <a:pPr indent="0" marL="0">
              <a:spcAft>
                <a:spcPts val="200"/>
              </a:spcAft>
              <a:buNone/>
            </a:pPr>
            <a:r>
              <a:rPr lang="en-US" sz="1400" dirty="0">
                <a:solidFill>
                  <a:srgbClr val="C9D3DE"/>
                </a:solidFill>
              </a:rPr>
              <a:t>Qwen3-0.6B, BF16 → Q4_K_M</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06240" y="1371600"/>
          <a:ext cx="7452360" cy="914400"/>
        </p:xfrm>
        <a:graphic>
          <a:graphicData uri="http://schemas.openxmlformats.org/drawingml/2006/table">
            <a:tbl>
              <a:tblPr/>
              <a:tblGrid>
                <a:gridCol w="4709160"/>
                <a:gridCol w="1371600"/>
                <a:gridCol w="1371600"/>
              </a:tblGrid>
              <a:tr h="438912">
                <a:tc>
                  <a:txBody>
                    <a:bodyPr/>
                    <a:lstStyle/>
                    <a:p>
                      <a:pPr algn="l" indent="0" marL="0">
                        <a:buNone/>
                      </a:pPr>
                      <a:r>
                        <a:rPr lang="en-US" sz="1400" b="1" dirty="0">
                          <a:solidFill>
                            <a:srgbClr val="FFFFFF"/>
                          </a:solidFill>
                        </a:rPr>
                        <a:t>Our variant (BFCL v4)</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400" b="1" dirty="0">
                          <a:solidFill>
                            <a:srgbClr val="FFFFFF"/>
                          </a:solidFill>
                        </a:rPr>
                        <a:t>BF16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400" b="1" dirty="0">
                          <a:solidFill>
                            <a:srgbClr val="FFFFFF"/>
                          </a:solidFill>
                        </a:rPr>
                        <a:t>Q4_K_M</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438912">
                <a:tc>
                  <a:txBody>
                    <a:bodyPr/>
                    <a:lstStyle/>
                    <a:p>
                      <a:pPr algn="l" indent="0" marL="0">
                        <a:buNone/>
                      </a:pPr>
                      <a:r>
                        <a:rPr lang="en-US" sz="1400" dirty="0">
                          <a:solidFill>
                            <a:srgbClr val="1B2A3A"/>
                          </a:solidFill>
                        </a:rPr>
                        <a:t>Non-thinking, greedy, non-live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69.52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66.81</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A3A"/>
                          </a:solidFill>
                        </a:rPr>
                        <a:t>Thinking, model-card sampling, simple_python</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86.00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85.00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38912">
                <a:tc>
                  <a:txBody>
                    <a:bodyPr/>
                    <a:lstStyle/>
                    <a:p>
                      <a:pPr algn="l" indent="0" marL="0">
                        <a:buNone/>
                      </a:pPr>
                      <a:r>
                        <a:rPr lang="en-US" sz="1400" dirty="0">
                          <a:solidFill>
                            <a:srgbClr val="1B2A3A"/>
                          </a:solidFill>
                        </a:rPr>
                        <a:t>unsloth Q4_K_M file, non-live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69.52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67.92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A3A"/>
                          </a:solidFill>
                        </a:rPr>
                        <a:t>bartowski Q4_K_M file, non-live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69.52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B2A3A"/>
                          </a:solidFill>
                        </a:rPr>
                        <a:t>69.00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38912">
                <a:tc>
                  <a:txBody>
                    <a:bodyPr/>
                    <a:lstStyle/>
                    <a:p>
                      <a:pPr algn="l" indent="0" marL="0">
                        <a:buNone/>
                      </a:pPr>
                      <a:r>
                        <a:rPr lang="en-US" sz="1400" dirty="0">
                          <a:solidFill>
                            <a:srgbClr val="1B2A3A"/>
                          </a:solidFill>
                        </a:rPr>
                        <a:t>Ollama qwen3:0.6b file, non-live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69.52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3A"/>
                          </a:solidFill>
                        </a:rPr>
                        <a:t>66.40</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4251960"/>
            <a:ext cx="5486400" cy="1554480"/>
          </a:xfrm>
          <a:prstGeom prst="roundRect">
            <a:avLst>
              <a:gd name="adj" fmla="val 4706"/>
            </a:avLst>
          </a:prstGeom>
          <a:solidFill>
            <a:srgbClr val="E7EEF6"/>
          </a:solidFill>
          <a:ln w="12700">
            <a:solidFill>
              <a:srgbClr val="E7EEF6"/>
            </a:solidFill>
            <a:prstDash val="solid"/>
          </a:ln>
        </p:spPr>
      </p:sp>
      <p:sp>
        <p:nvSpPr>
          <p:cNvPr id="10" name="Text 6"/>
          <p:cNvSpPr txBox="1"/>
          <p:nvPr/>
        </p:nvSpPr>
        <p:spPr>
          <a:xfrm>
            <a:off x="713232" y="4416552"/>
            <a:ext cx="5157216" cy="365760"/>
          </a:xfrm>
          <a:prstGeom prst="rect">
            <a:avLst/>
          </a:prstGeom>
          <a:noFill/>
          <a:ln/>
        </p:spPr>
        <p:txBody>
          <a:bodyPr wrap="square" lIns="0" tIns="0" rIns="0" bIns="0" rtlCol="0" anchor="t"/>
          <a:lstStyle/>
          <a:p>
            <a:pPr indent="0" marL="0">
              <a:spcAft>
                <a:spcPts val="200"/>
              </a:spcAft>
              <a:buNone/>
            </a:pPr>
            <a:r>
              <a:rPr lang="en-US" sz="1800" b="1" dirty="0">
                <a:solidFill>
                  <a:srgbClr val="1B2A3A"/>
                </a:solidFill>
              </a:rPr>
              <a:t>What it means for RQ1</a:t>
            </a:r>
            <a:endParaRPr lang="en-US" sz="1800" dirty="0"/>
          </a:p>
        </p:txBody>
      </p:sp>
      <p:sp>
        <p:nvSpPr>
          <p:cNvPr id="11" name="Text 7"/>
          <p:cNvSpPr txBox="1"/>
          <p:nvPr/>
        </p:nvSpPr>
        <p:spPr>
          <a:xfrm>
            <a:off x="713232" y="4828032"/>
            <a:ext cx="5157216" cy="81381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The drop may depend on the prompt format. Our study will measure where the drop happens.</a:t>
            </a:r>
            <a:endParaRPr lang="en-US" sz="1500" dirty="0"/>
          </a:p>
        </p:txBody>
      </p:sp>
      <p:sp>
        <p:nvSpPr>
          <p:cNvPr id="12" name="Shape 8"/>
          <p:cNvSpPr/>
          <p:nvPr/>
        </p:nvSpPr>
        <p:spPr>
          <a:xfrm>
            <a:off x="6217920" y="4251960"/>
            <a:ext cx="5440680" cy="1554480"/>
          </a:xfrm>
          <a:prstGeom prst="roundRect">
            <a:avLst>
              <a:gd name="adj" fmla="val 4706"/>
            </a:avLst>
          </a:prstGeom>
          <a:solidFill>
            <a:srgbClr val="F2F4F7"/>
          </a:solidFill>
          <a:ln w="12700">
            <a:solidFill>
              <a:srgbClr val="F2F4F7"/>
            </a:solidFill>
            <a:prstDash val="solid"/>
          </a:ln>
        </p:spPr>
      </p:sp>
      <p:sp>
        <p:nvSpPr>
          <p:cNvPr id="13" name="Text 9"/>
          <p:cNvSpPr txBox="1"/>
          <p:nvPr/>
        </p:nvSpPr>
        <p:spPr>
          <a:xfrm>
            <a:off x="6382512" y="4416552"/>
            <a:ext cx="5111496" cy="365760"/>
          </a:xfrm>
          <a:prstGeom prst="rect">
            <a:avLst/>
          </a:prstGeom>
          <a:noFill/>
          <a:ln/>
        </p:spPr>
        <p:txBody>
          <a:bodyPr wrap="square" lIns="0" tIns="0" rIns="0" bIns="0" rtlCol="0" anchor="t"/>
          <a:lstStyle/>
          <a:p>
            <a:pPr indent="0" marL="0">
              <a:spcAft>
                <a:spcPts val="200"/>
              </a:spcAft>
              <a:buNone/>
            </a:pPr>
            <a:r>
              <a:rPr lang="en-US" sz="1800" b="1" dirty="0">
                <a:solidFill>
                  <a:srgbClr val="1B2A3A"/>
                </a:solidFill>
              </a:rPr>
              <a:t>Not tested yet</a:t>
            </a:r>
            <a:endParaRPr lang="en-US" sz="1800" dirty="0"/>
          </a:p>
        </p:txBody>
      </p:sp>
      <p:sp>
        <p:nvSpPr>
          <p:cNvPr id="14" name="Text 10"/>
          <p:cNvSpPr txBox="1"/>
          <p:nvPr/>
        </p:nvSpPr>
        <p:spPr>
          <a:xfrm>
            <a:off x="6382512" y="4828032"/>
            <a:ext cx="5111496" cy="81381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The paper’s prompt, its test harness, and BFCL V3. Note: Qwen only publishes a Q8_0 file for the 0.6B model.</a:t>
            </a:r>
            <a:endParaRPr lang="en-US" sz="1500" dirty="0"/>
          </a:p>
        </p:txBody>
      </p:sp>
      <p:sp>
        <p:nvSpPr>
          <p:cNvPr id="15" name="Text 11"/>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Pilot data, Colab A100, Oct 8 · non-live = bfcl “non-live overall” over 1,150 call tasks · BF16 for third-party rows is our own reference</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Q4_0 often answers in text instead of calling the tool</a:t>
            </a:r>
            <a:endParaRPr lang="en-US" sz="3200" dirty="0"/>
          </a:p>
        </p:txBody>
      </p:sp>
      <p:sp>
        <p:nvSpPr>
          <p:cNvPr id="4" name="Text 1"/>
          <p:cNvSpPr txBox="1"/>
          <p:nvPr/>
        </p:nvSpPr>
        <p:spPr>
          <a:xfrm>
            <a:off x="548640" y="1280160"/>
            <a:ext cx="6583680" cy="365760"/>
          </a:xfrm>
          <a:prstGeom prst="rect">
            <a:avLst/>
          </a:prstGeom>
          <a:noFill/>
          <a:ln/>
        </p:spPr>
        <p:txBody>
          <a:bodyPr wrap="square" lIns="0" tIns="0" rIns="0" bIns="0" rtlCol="0" anchor="t"/>
          <a:lstStyle/>
          <a:p>
            <a:pPr indent="0" marL="0">
              <a:spcAft>
                <a:spcPts val="200"/>
              </a:spcAft>
              <a:buNone/>
            </a:pPr>
            <a:r>
              <a:rPr lang="en-US" sz="1600" b="1" dirty="0">
                <a:solidFill>
                  <a:srgbClr val="1B2A3A"/>
                </a:solidFill>
              </a:rPr>
              <a:t>58 Q4_0 “no call” outputs on simple_python, hand-labelled</a:t>
            </a:r>
            <a:endParaRPr lang="en-US" sz="1600" dirty="0"/>
          </a:p>
        </p:txBody>
      </p:sp>
      <p:sp>
        <p:nvSpPr>
          <p:cNvPr id="5" name="Text 2"/>
          <p:cNvSpPr txBox="1"/>
          <p:nvPr/>
        </p:nvSpPr>
        <p:spPr>
          <a:xfrm>
            <a:off x="548640" y="1783080"/>
            <a:ext cx="3017520" cy="365760"/>
          </a:xfrm>
          <a:prstGeom prst="rect">
            <a:avLst/>
          </a:prstGeom>
          <a:noFill/>
          <a:ln/>
        </p:spPr>
        <p:txBody>
          <a:bodyPr wrap="square" lIns="0" tIns="0" rIns="0" bIns="0" rtlCol="0" anchor="ctr"/>
          <a:lstStyle/>
          <a:p>
            <a:pPr indent="0" marL="0">
              <a:spcAft>
                <a:spcPts val="200"/>
              </a:spcAft>
              <a:buNone/>
            </a:pPr>
            <a:r>
              <a:rPr lang="en-US" sz="1400" dirty="0">
                <a:solidFill>
                  <a:srgbClr val="1B2A3A"/>
                </a:solidFill>
              </a:rPr>
              <a:t>Direct answer, correct</a:t>
            </a:r>
            <a:endParaRPr lang="en-US" sz="1400" dirty="0"/>
          </a:p>
        </p:txBody>
      </p:sp>
      <p:sp>
        <p:nvSpPr>
          <p:cNvPr id="6" name="Shape 3"/>
          <p:cNvSpPr/>
          <p:nvPr/>
        </p:nvSpPr>
        <p:spPr>
          <a:xfrm>
            <a:off x="3657600" y="1828800"/>
            <a:ext cx="2953512" cy="274320"/>
          </a:xfrm>
          <a:prstGeom prst="rect">
            <a:avLst/>
          </a:prstGeom>
          <a:solidFill>
            <a:srgbClr val="5B6B7B"/>
          </a:solidFill>
          <a:ln w="12700">
            <a:solidFill>
              <a:srgbClr val="5B6B7B"/>
            </a:solidFill>
            <a:prstDash val="solid"/>
          </a:ln>
        </p:spPr>
      </p:sp>
      <p:sp>
        <p:nvSpPr>
          <p:cNvPr id="7" name="Text 4"/>
          <p:cNvSpPr txBox="1"/>
          <p:nvPr/>
        </p:nvSpPr>
        <p:spPr>
          <a:xfrm>
            <a:off x="6702552" y="1783080"/>
            <a:ext cx="457200" cy="36576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19</a:t>
            </a:r>
            <a:endParaRPr lang="en-US" sz="1400" dirty="0"/>
          </a:p>
        </p:txBody>
      </p:sp>
      <p:sp>
        <p:nvSpPr>
          <p:cNvPr id="8" name="Text 5"/>
          <p:cNvSpPr txBox="1"/>
          <p:nvPr/>
        </p:nvSpPr>
        <p:spPr>
          <a:xfrm>
            <a:off x="548640" y="2331720"/>
            <a:ext cx="3017520" cy="365760"/>
          </a:xfrm>
          <a:prstGeom prst="rect">
            <a:avLst/>
          </a:prstGeom>
          <a:noFill/>
          <a:ln/>
        </p:spPr>
        <p:txBody>
          <a:bodyPr wrap="square" lIns="0" tIns="0" rIns="0" bIns="0" rtlCol="0" anchor="ctr"/>
          <a:lstStyle/>
          <a:p>
            <a:pPr indent="0" marL="0">
              <a:spcAft>
                <a:spcPts val="200"/>
              </a:spcAft>
              <a:buNone/>
            </a:pPr>
            <a:r>
              <a:rPr lang="en-US" sz="1400" dirty="0">
                <a:solidFill>
                  <a:srgbClr val="1B2A3A"/>
                </a:solidFill>
              </a:rPr>
              <a:t>Direct answer, wrong or invented</a:t>
            </a:r>
            <a:endParaRPr lang="en-US" sz="1400" dirty="0"/>
          </a:p>
        </p:txBody>
      </p:sp>
      <p:sp>
        <p:nvSpPr>
          <p:cNvPr id="9" name="Shape 6"/>
          <p:cNvSpPr/>
          <p:nvPr/>
        </p:nvSpPr>
        <p:spPr>
          <a:xfrm>
            <a:off x="3657600" y="2377440"/>
            <a:ext cx="2953512" cy="274320"/>
          </a:xfrm>
          <a:prstGeom prst="rect">
            <a:avLst/>
          </a:prstGeom>
          <a:solidFill>
            <a:srgbClr val="C8102E"/>
          </a:solidFill>
          <a:ln w="12700">
            <a:solidFill>
              <a:srgbClr val="C8102E"/>
            </a:solidFill>
            <a:prstDash val="solid"/>
          </a:ln>
        </p:spPr>
      </p:sp>
      <p:sp>
        <p:nvSpPr>
          <p:cNvPr id="10" name="Text 7"/>
          <p:cNvSpPr txBox="1"/>
          <p:nvPr/>
        </p:nvSpPr>
        <p:spPr>
          <a:xfrm>
            <a:off x="6702552" y="2331720"/>
            <a:ext cx="457200" cy="36576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19</a:t>
            </a:r>
            <a:endParaRPr lang="en-US" sz="1400" dirty="0"/>
          </a:p>
        </p:txBody>
      </p:sp>
      <p:sp>
        <p:nvSpPr>
          <p:cNvPr id="11" name="Text 8"/>
          <p:cNvSpPr txBox="1"/>
          <p:nvPr/>
        </p:nvSpPr>
        <p:spPr>
          <a:xfrm>
            <a:off x="548640" y="2880360"/>
            <a:ext cx="3017520" cy="365760"/>
          </a:xfrm>
          <a:prstGeom prst="rect">
            <a:avLst/>
          </a:prstGeom>
          <a:noFill/>
          <a:ln/>
        </p:spPr>
        <p:txBody>
          <a:bodyPr wrap="square" lIns="0" tIns="0" rIns="0" bIns="0" rtlCol="0" anchor="ctr"/>
          <a:lstStyle/>
          <a:p>
            <a:pPr indent="0" marL="0">
              <a:spcAft>
                <a:spcPts val="200"/>
              </a:spcAft>
              <a:buNone/>
            </a:pPr>
            <a:r>
              <a:rPr lang="en-US" sz="1400" dirty="0">
                <a:solidFill>
                  <a:srgbClr val="1B2A3A"/>
                </a:solidFill>
              </a:rPr>
              <a:t>Answer needing live data it lacks</a:t>
            </a:r>
            <a:endParaRPr lang="en-US" sz="1400" dirty="0"/>
          </a:p>
        </p:txBody>
      </p:sp>
      <p:sp>
        <p:nvSpPr>
          <p:cNvPr id="12" name="Shape 9"/>
          <p:cNvSpPr/>
          <p:nvPr/>
        </p:nvSpPr>
        <p:spPr>
          <a:xfrm>
            <a:off x="3657600" y="2926080"/>
            <a:ext cx="1088136" cy="274320"/>
          </a:xfrm>
          <a:prstGeom prst="rect">
            <a:avLst/>
          </a:prstGeom>
          <a:solidFill>
            <a:srgbClr val="C8102E"/>
          </a:solidFill>
          <a:ln w="12700">
            <a:solidFill>
              <a:srgbClr val="C8102E"/>
            </a:solidFill>
            <a:prstDash val="solid"/>
          </a:ln>
        </p:spPr>
      </p:sp>
      <p:sp>
        <p:nvSpPr>
          <p:cNvPr id="13" name="Text 10"/>
          <p:cNvSpPr txBox="1"/>
          <p:nvPr/>
        </p:nvSpPr>
        <p:spPr>
          <a:xfrm>
            <a:off x="4837176" y="2880360"/>
            <a:ext cx="457200" cy="36576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7</a:t>
            </a:r>
            <a:endParaRPr lang="en-US" sz="1400" dirty="0"/>
          </a:p>
        </p:txBody>
      </p:sp>
      <p:sp>
        <p:nvSpPr>
          <p:cNvPr id="14" name="Text 11"/>
          <p:cNvSpPr txBox="1"/>
          <p:nvPr/>
        </p:nvSpPr>
        <p:spPr>
          <a:xfrm>
            <a:off x="548640" y="3429000"/>
            <a:ext cx="3017520" cy="365760"/>
          </a:xfrm>
          <a:prstGeom prst="rect">
            <a:avLst/>
          </a:prstGeom>
          <a:noFill/>
          <a:ln/>
        </p:spPr>
        <p:txBody>
          <a:bodyPr wrap="square" lIns="0" tIns="0" rIns="0" bIns="0" rtlCol="0" anchor="ctr"/>
          <a:lstStyle/>
          <a:p>
            <a:pPr indent="0" marL="0">
              <a:spcAft>
                <a:spcPts val="200"/>
              </a:spcAft>
              <a:buNone/>
            </a:pPr>
            <a:r>
              <a:rPr lang="en-US" sz="1400" dirty="0">
                <a:solidFill>
                  <a:srgbClr val="1B2A3A"/>
                </a:solidFill>
              </a:rPr>
              <a:t>Direct answer, unclear</a:t>
            </a:r>
            <a:endParaRPr lang="en-US" sz="1400" dirty="0"/>
          </a:p>
        </p:txBody>
      </p:sp>
      <p:sp>
        <p:nvSpPr>
          <p:cNvPr id="15" name="Shape 12"/>
          <p:cNvSpPr/>
          <p:nvPr/>
        </p:nvSpPr>
        <p:spPr>
          <a:xfrm>
            <a:off x="3657600" y="3474720"/>
            <a:ext cx="621792" cy="274320"/>
          </a:xfrm>
          <a:prstGeom prst="rect">
            <a:avLst/>
          </a:prstGeom>
          <a:solidFill>
            <a:srgbClr val="8C8C8C"/>
          </a:solidFill>
          <a:ln w="12700">
            <a:solidFill>
              <a:srgbClr val="8C8C8C"/>
            </a:solidFill>
            <a:prstDash val="solid"/>
          </a:ln>
        </p:spPr>
      </p:sp>
      <p:sp>
        <p:nvSpPr>
          <p:cNvPr id="16" name="Text 13"/>
          <p:cNvSpPr txBox="1"/>
          <p:nvPr/>
        </p:nvSpPr>
        <p:spPr>
          <a:xfrm>
            <a:off x="4370832" y="3429000"/>
            <a:ext cx="457200" cy="36576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4</a:t>
            </a:r>
            <a:endParaRPr lang="en-US" sz="1400" dirty="0"/>
          </a:p>
        </p:txBody>
      </p:sp>
      <p:sp>
        <p:nvSpPr>
          <p:cNvPr id="17" name="Text 14"/>
          <p:cNvSpPr txBox="1"/>
          <p:nvPr/>
        </p:nvSpPr>
        <p:spPr>
          <a:xfrm>
            <a:off x="548640" y="3977640"/>
            <a:ext cx="3017520" cy="365760"/>
          </a:xfrm>
          <a:prstGeom prst="rect">
            <a:avLst/>
          </a:prstGeom>
          <a:noFill/>
          <a:ln/>
        </p:spPr>
        <p:txBody>
          <a:bodyPr wrap="square" lIns="0" tIns="0" rIns="0" bIns="0" rtlCol="0" anchor="ctr"/>
          <a:lstStyle/>
          <a:p>
            <a:pPr indent="0" marL="0">
              <a:spcAft>
                <a:spcPts val="200"/>
              </a:spcAft>
              <a:buNone/>
            </a:pPr>
            <a:r>
              <a:rPr lang="en-US" sz="1400" dirty="0">
                <a:solidFill>
                  <a:srgbClr val="1B2A3A"/>
                </a:solidFill>
              </a:rPr>
              <a:t>Asks the user for details</a:t>
            </a:r>
            <a:endParaRPr lang="en-US" sz="1400" dirty="0"/>
          </a:p>
        </p:txBody>
      </p:sp>
      <p:sp>
        <p:nvSpPr>
          <p:cNvPr id="18" name="Shape 15"/>
          <p:cNvSpPr/>
          <p:nvPr/>
        </p:nvSpPr>
        <p:spPr>
          <a:xfrm>
            <a:off x="3657600" y="4023360"/>
            <a:ext cx="777240" cy="274320"/>
          </a:xfrm>
          <a:prstGeom prst="rect">
            <a:avLst/>
          </a:prstGeom>
          <a:solidFill>
            <a:srgbClr val="1F77B4"/>
          </a:solidFill>
          <a:ln w="12700">
            <a:solidFill>
              <a:srgbClr val="1F77B4"/>
            </a:solidFill>
            <a:prstDash val="solid"/>
          </a:ln>
        </p:spPr>
      </p:sp>
      <p:sp>
        <p:nvSpPr>
          <p:cNvPr id="19" name="Text 16"/>
          <p:cNvSpPr txBox="1"/>
          <p:nvPr/>
        </p:nvSpPr>
        <p:spPr>
          <a:xfrm>
            <a:off x="4526280" y="3977640"/>
            <a:ext cx="457200" cy="36576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5</a:t>
            </a:r>
            <a:endParaRPr lang="en-US" sz="1400" dirty="0"/>
          </a:p>
        </p:txBody>
      </p:sp>
      <p:sp>
        <p:nvSpPr>
          <p:cNvPr id="20" name="Text 17"/>
          <p:cNvSpPr txBox="1"/>
          <p:nvPr/>
        </p:nvSpPr>
        <p:spPr>
          <a:xfrm>
            <a:off x="548640" y="4526280"/>
            <a:ext cx="3017520" cy="365760"/>
          </a:xfrm>
          <a:prstGeom prst="rect">
            <a:avLst/>
          </a:prstGeom>
          <a:noFill/>
          <a:ln/>
        </p:spPr>
        <p:txBody>
          <a:bodyPr wrap="square" lIns="0" tIns="0" rIns="0" bIns="0" rtlCol="0" anchor="ctr"/>
          <a:lstStyle/>
          <a:p>
            <a:pPr indent="0" marL="0">
              <a:spcAft>
                <a:spcPts val="200"/>
              </a:spcAft>
              <a:buNone/>
            </a:pPr>
            <a:r>
              <a:rPr lang="en-US" sz="1400" dirty="0">
                <a:solidFill>
                  <a:srgbClr val="1B2A3A"/>
                </a:solidFill>
              </a:rPr>
              <a:t>Says it will call, does not</a:t>
            </a:r>
            <a:endParaRPr lang="en-US" sz="1400" dirty="0"/>
          </a:p>
        </p:txBody>
      </p:sp>
      <p:sp>
        <p:nvSpPr>
          <p:cNvPr id="21" name="Shape 18"/>
          <p:cNvSpPr/>
          <p:nvPr/>
        </p:nvSpPr>
        <p:spPr>
          <a:xfrm>
            <a:off x="3657600" y="4572000"/>
            <a:ext cx="466344" cy="274320"/>
          </a:xfrm>
          <a:prstGeom prst="rect">
            <a:avLst/>
          </a:prstGeom>
          <a:solidFill>
            <a:srgbClr val="1F77B4"/>
          </a:solidFill>
          <a:ln w="12700">
            <a:solidFill>
              <a:srgbClr val="1F77B4"/>
            </a:solidFill>
            <a:prstDash val="solid"/>
          </a:ln>
        </p:spPr>
      </p:sp>
      <p:sp>
        <p:nvSpPr>
          <p:cNvPr id="22" name="Text 19"/>
          <p:cNvSpPr txBox="1"/>
          <p:nvPr/>
        </p:nvSpPr>
        <p:spPr>
          <a:xfrm>
            <a:off x="4215384" y="4526280"/>
            <a:ext cx="457200" cy="36576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3</a:t>
            </a:r>
            <a:endParaRPr lang="en-US" sz="1400" dirty="0"/>
          </a:p>
        </p:txBody>
      </p:sp>
      <p:sp>
        <p:nvSpPr>
          <p:cNvPr id="23" name="Text 20"/>
          <p:cNvSpPr txBox="1"/>
          <p:nvPr/>
        </p:nvSpPr>
        <p:spPr>
          <a:xfrm>
            <a:off x="548640" y="5074920"/>
            <a:ext cx="3017520" cy="365760"/>
          </a:xfrm>
          <a:prstGeom prst="rect">
            <a:avLst/>
          </a:prstGeom>
          <a:noFill/>
          <a:ln/>
        </p:spPr>
        <p:txBody>
          <a:bodyPr wrap="square" lIns="0" tIns="0" rIns="0" bIns="0" rtlCol="0" anchor="ctr"/>
          <a:lstStyle/>
          <a:p>
            <a:pPr indent="0" marL="0">
              <a:spcAft>
                <a:spcPts val="200"/>
              </a:spcAft>
              <a:buNone/>
            </a:pPr>
            <a:r>
              <a:rPr lang="en-US" sz="1400" dirty="0">
                <a:solidFill>
                  <a:srgbClr val="1B2A3A"/>
                </a:solidFill>
              </a:rPr>
              <a:t>Call the parser cannot read</a:t>
            </a:r>
            <a:endParaRPr lang="en-US" sz="1400" dirty="0"/>
          </a:p>
        </p:txBody>
      </p:sp>
      <p:sp>
        <p:nvSpPr>
          <p:cNvPr id="24" name="Shape 21"/>
          <p:cNvSpPr/>
          <p:nvPr/>
        </p:nvSpPr>
        <p:spPr>
          <a:xfrm>
            <a:off x="3657600" y="5120640"/>
            <a:ext cx="155448" cy="274320"/>
          </a:xfrm>
          <a:prstGeom prst="rect">
            <a:avLst/>
          </a:prstGeom>
          <a:solidFill>
            <a:srgbClr val="1F77B4"/>
          </a:solidFill>
          <a:ln w="12700">
            <a:solidFill>
              <a:srgbClr val="1F77B4"/>
            </a:solidFill>
            <a:prstDash val="solid"/>
          </a:ln>
        </p:spPr>
      </p:sp>
      <p:sp>
        <p:nvSpPr>
          <p:cNvPr id="25" name="Text 22"/>
          <p:cNvSpPr txBox="1"/>
          <p:nvPr/>
        </p:nvSpPr>
        <p:spPr>
          <a:xfrm>
            <a:off x="3904488" y="5074920"/>
            <a:ext cx="457200" cy="365760"/>
          </a:xfrm>
          <a:prstGeom prst="rect">
            <a:avLst/>
          </a:prstGeom>
          <a:noFill/>
          <a:ln/>
        </p:spPr>
        <p:txBody>
          <a:bodyPr wrap="square" lIns="0" tIns="0" rIns="0" bIns="0" rtlCol="0" anchor="ctr"/>
          <a:lstStyle/>
          <a:p>
            <a:pPr indent="0" marL="0">
              <a:spcAft>
                <a:spcPts val="200"/>
              </a:spcAft>
              <a:buNone/>
            </a:pPr>
            <a:r>
              <a:rPr lang="en-US" sz="1400" b="1" dirty="0">
                <a:solidFill>
                  <a:srgbClr val="1B2A3A"/>
                </a:solidFill>
              </a:rPr>
              <a:t>1</a:t>
            </a:r>
            <a:endParaRPr lang="en-US" sz="1400" dirty="0"/>
          </a:p>
        </p:txBody>
      </p:sp>
      <p:sp>
        <p:nvSpPr>
          <p:cNvPr id="26" name="Shape 23"/>
          <p:cNvSpPr/>
          <p:nvPr/>
        </p:nvSpPr>
        <p:spPr>
          <a:xfrm>
            <a:off x="7315200" y="1371600"/>
            <a:ext cx="4343400" cy="1920240"/>
          </a:xfrm>
          <a:prstGeom prst="roundRect">
            <a:avLst>
              <a:gd name="adj" fmla="val 3810"/>
            </a:avLst>
          </a:prstGeom>
          <a:solidFill>
            <a:srgbClr val="F2F4F7"/>
          </a:solidFill>
          <a:ln w="12700">
            <a:solidFill>
              <a:srgbClr val="F2F4F7"/>
            </a:solidFill>
            <a:prstDash val="solid"/>
          </a:ln>
        </p:spPr>
      </p:sp>
      <p:sp>
        <p:nvSpPr>
          <p:cNvPr id="27" name="Text 24"/>
          <p:cNvSpPr txBox="1"/>
          <p:nvPr/>
        </p:nvSpPr>
        <p:spPr>
          <a:xfrm>
            <a:off x="7479792" y="1536192"/>
            <a:ext cx="4014216" cy="640080"/>
          </a:xfrm>
          <a:prstGeom prst="rect">
            <a:avLst/>
          </a:prstGeom>
          <a:noFill/>
          <a:ln/>
        </p:spPr>
        <p:txBody>
          <a:bodyPr wrap="square" lIns="0" tIns="0" rIns="0" bIns="0" rtlCol="0" anchor="t"/>
          <a:lstStyle/>
          <a:p>
            <a:pPr indent="0" marL="0">
              <a:spcAft>
                <a:spcPts val="200"/>
              </a:spcAft>
              <a:buNone/>
            </a:pPr>
            <a:r>
              <a:rPr lang="en-US" sz="1500" b="1" dirty="0">
                <a:solidFill>
                  <a:srgbClr val="1B2A3A"/>
                </a:solidFill>
              </a:rPr>
              <a:t>“The King of France in 1510 was Louis XIV.”</a:t>
            </a:r>
            <a:endParaRPr lang="en-US" sz="1500" dirty="0"/>
          </a:p>
        </p:txBody>
      </p:sp>
      <p:sp>
        <p:nvSpPr>
          <p:cNvPr id="28" name="Text 25"/>
          <p:cNvSpPr txBox="1"/>
          <p:nvPr/>
        </p:nvSpPr>
        <p:spPr>
          <a:xfrm>
            <a:off x="7479792" y="2221992"/>
            <a:ext cx="4014216" cy="905256"/>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“The current time in Sydney, Australia is 20:03.”</a:t>
            </a:r>
            <a:endParaRPr lang="en-US" sz="1400" dirty="0"/>
          </a:p>
          <a:p>
            <a:pPr indent="0" marL="0">
              <a:spcAft>
                <a:spcPts val="200"/>
              </a:spcAft>
              <a:buNone/>
            </a:pPr>
            <a:r>
              <a:rPr lang="en-US" sz="1400" dirty="0">
                <a:solidFill>
                  <a:srgbClr val="1B2A3A"/>
                </a:solidFill>
              </a:rPr>
              <a:t>Q4_0 outputs where a tool call was required</a:t>
            </a:r>
            <a:endParaRPr lang="en-US" sz="1400" dirty="0"/>
          </a:p>
        </p:txBody>
      </p:sp>
      <p:sp>
        <p:nvSpPr>
          <p:cNvPr id="29" name="Shape 26"/>
          <p:cNvSpPr/>
          <p:nvPr/>
        </p:nvSpPr>
        <p:spPr>
          <a:xfrm>
            <a:off x="7315200" y="3520440"/>
            <a:ext cx="4343400" cy="1920240"/>
          </a:xfrm>
          <a:prstGeom prst="roundRect">
            <a:avLst>
              <a:gd name="adj" fmla="val 3810"/>
            </a:avLst>
          </a:prstGeom>
          <a:solidFill>
            <a:srgbClr val="E7EEF6"/>
          </a:solidFill>
          <a:ln w="12700">
            <a:solidFill>
              <a:srgbClr val="E7EEF6"/>
            </a:solidFill>
            <a:prstDash val="solid"/>
          </a:ln>
        </p:spPr>
      </p:sp>
      <p:sp>
        <p:nvSpPr>
          <p:cNvPr id="30" name="Text 27"/>
          <p:cNvSpPr txBox="1"/>
          <p:nvPr/>
        </p:nvSpPr>
        <p:spPr>
          <a:xfrm>
            <a:off x="7479792" y="3685032"/>
            <a:ext cx="4014216" cy="365760"/>
          </a:xfrm>
          <a:prstGeom prst="rect">
            <a:avLst/>
          </a:prstGeom>
          <a:noFill/>
          <a:ln/>
        </p:spPr>
        <p:txBody>
          <a:bodyPr wrap="square" lIns="0" tIns="0" rIns="0" bIns="0" rtlCol="0" anchor="t"/>
          <a:lstStyle/>
          <a:p>
            <a:pPr indent="0" marL="0">
              <a:spcAft>
                <a:spcPts val="200"/>
              </a:spcAft>
              <a:buNone/>
            </a:pPr>
            <a:r>
              <a:rPr lang="en-US" sz="1800" b="1" dirty="0">
                <a:solidFill>
                  <a:srgbClr val="1B2A3A"/>
                </a:solidFill>
              </a:rPr>
              <a:t>Proposal for codebook v0</a:t>
            </a:r>
            <a:endParaRPr lang="en-US" sz="1800" dirty="0"/>
          </a:p>
        </p:txBody>
      </p:sp>
      <p:sp>
        <p:nvSpPr>
          <p:cNvPr id="31" name="Text 28"/>
          <p:cNvSpPr txBox="1"/>
          <p:nvPr/>
        </p:nvSpPr>
        <p:spPr>
          <a:xfrm>
            <a:off x="7479792" y="4096512"/>
            <a:ext cx="4014216" cy="117957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Add a “missing call” failure type to C6. This also explains why Q4_0 scores higher than BF16 on irrelevance (92.5 vs 88.3).</a:t>
            </a:r>
            <a:endParaRPr lang="en-US" sz="1500" dirty="0"/>
          </a:p>
        </p:txBody>
      </p:sp>
      <p:sp>
        <p:nvSpPr>
          <p:cNvPr id="32" name="Text 29"/>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Single rater so far, second rater pending · cache-off greedy run, non-thinking · BF16 skips the call on 11 of 400 tasks, Q4_0 on 57</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Grammar repair (R1) results</a:t>
            </a:r>
            <a:endParaRPr lang="en-US" sz="3200" dirty="0"/>
          </a:p>
        </p:txBody>
      </p:sp>
      <p:pic>
        <p:nvPicPr>
          <p:cNvPr id="4" name="Image 0" descr="Accuracy with no grammar, R1 grammar, and forced-call grammar for BF16, Q4_K_M and Q4_0 on simple_python and irrelevance tasks; forced-call scores near 0 on irrelevance">    </p:cNvPr>
          <p:cNvPicPr>
            <a:picLocks noChangeAspect="1"/>
          </p:cNvPicPr>
          <p:nvPr/>
        </p:nvPicPr>
        <p:blipFill>
          <a:blip r:embed="rId1"/>
          <a:stretch>
            <a:fillRect/>
          </a:stretch>
        </p:blipFill>
        <p:spPr>
          <a:xfrm>
            <a:off x="548640" y="1325880"/>
            <a:ext cx="6949440" cy="3909060"/>
          </a:xfrm>
          <a:prstGeom prst="rect">
            <a:avLst/>
          </a:prstGeom>
        </p:spPr>
      </p:pic>
      <p:sp>
        <p:nvSpPr>
          <p:cNvPr id="5" name="Shape 1"/>
          <p:cNvSpPr/>
          <p:nvPr/>
        </p:nvSpPr>
        <p:spPr>
          <a:xfrm>
            <a:off x="7772400" y="1325880"/>
            <a:ext cx="3886200" cy="1280160"/>
          </a:xfrm>
          <a:prstGeom prst="roundRect">
            <a:avLst>
              <a:gd name="adj" fmla="val 5714"/>
            </a:avLst>
          </a:prstGeom>
          <a:solidFill>
            <a:srgbClr val="F2F4F7"/>
          </a:solidFill>
          <a:ln w="12700">
            <a:solidFill>
              <a:srgbClr val="F2F4F7"/>
            </a:solidFill>
            <a:prstDash val="solid"/>
          </a:ln>
        </p:spPr>
      </p:sp>
      <p:sp>
        <p:nvSpPr>
          <p:cNvPr id="6" name="Text 2"/>
          <p:cNvSpPr txBox="1"/>
          <p:nvPr/>
        </p:nvSpPr>
        <p:spPr>
          <a:xfrm>
            <a:off x="7936992" y="1490472"/>
            <a:ext cx="3557016" cy="365760"/>
          </a:xfrm>
          <a:prstGeom prst="rect">
            <a:avLst/>
          </a:prstGeom>
          <a:noFill/>
          <a:ln/>
        </p:spPr>
        <p:txBody>
          <a:bodyPr wrap="square" lIns="0" tIns="0" rIns="0" bIns="0" rtlCol="0" anchor="t"/>
          <a:lstStyle/>
          <a:p>
            <a:pPr indent="0" marL="0">
              <a:spcAft>
                <a:spcPts val="200"/>
              </a:spcAft>
              <a:buNone/>
            </a:pPr>
            <a:r>
              <a:rPr lang="en-US" sz="1800" b="1" dirty="0">
                <a:solidFill>
                  <a:srgbClr val="1B2A3A"/>
                </a:solidFill>
              </a:rPr>
              <a:t>R1 (calls or free text)</a:t>
            </a:r>
            <a:endParaRPr lang="en-US" sz="1800" dirty="0"/>
          </a:p>
        </p:txBody>
      </p:sp>
      <p:sp>
        <p:nvSpPr>
          <p:cNvPr id="7" name="Text 3"/>
          <p:cNvSpPr txBox="1"/>
          <p:nvPr/>
        </p:nvSpPr>
        <p:spPr>
          <a:xfrm>
            <a:off x="7936992" y="1901952"/>
            <a:ext cx="3557016" cy="539496"/>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Adds 0.9 / 2.5 / 2.3 points on non-live. Q4_K_M with R1 (69.29) is close to BF16 (69.52).</a:t>
            </a:r>
            <a:endParaRPr lang="en-US" sz="1400" dirty="0"/>
          </a:p>
        </p:txBody>
      </p:sp>
      <p:sp>
        <p:nvSpPr>
          <p:cNvPr id="8" name="Shape 4"/>
          <p:cNvSpPr/>
          <p:nvPr/>
        </p:nvSpPr>
        <p:spPr>
          <a:xfrm>
            <a:off x="7772400" y="2743200"/>
            <a:ext cx="3886200" cy="1188720"/>
          </a:xfrm>
          <a:prstGeom prst="roundRect">
            <a:avLst>
              <a:gd name="adj" fmla="val 6154"/>
            </a:avLst>
          </a:prstGeom>
          <a:solidFill>
            <a:srgbClr val="FBE9EC"/>
          </a:solidFill>
          <a:ln w="12700">
            <a:solidFill>
              <a:srgbClr val="FBE9EC"/>
            </a:solidFill>
            <a:prstDash val="solid"/>
          </a:ln>
        </p:spPr>
      </p:sp>
      <p:sp>
        <p:nvSpPr>
          <p:cNvPr id="9" name="Text 5"/>
          <p:cNvSpPr txBox="1"/>
          <p:nvPr/>
        </p:nvSpPr>
        <p:spPr>
          <a:xfrm>
            <a:off x="7936992" y="2907792"/>
            <a:ext cx="3557016" cy="365760"/>
          </a:xfrm>
          <a:prstGeom prst="rect">
            <a:avLst/>
          </a:prstGeom>
          <a:noFill/>
          <a:ln/>
        </p:spPr>
        <p:txBody>
          <a:bodyPr wrap="square" lIns="0" tIns="0" rIns="0" bIns="0" rtlCol="0" anchor="t"/>
          <a:lstStyle/>
          <a:p>
            <a:pPr indent="0" marL="0">
              <a:spcAft>
                <a:spcPts val="200"/>
              </a:spcAft>
              <a:buNone/>
            </a:pPr>
            <a:r>
              <a:rPr lang="en-US" sz="1800" b="1" dirty="0">
                <a:solidFill>
                  <a:srgbClr val="A30D25"/>
                </a:solidFill>
              </a:rPr>
              <a:t>Forced call: test only</a:t>
            </a:r>
            <a:endParaRPr lang="en-US" sz="1800" dirty="0"/>
          </a:p>
        </p:txBody>
      </p:sp>
      <p:sp>
        <p:nvSpPr>
          <p:cNvPr id="10" name="Text 6"/>
          <p:cNvSpPr txBox="1"/>
          <p:nvPr/>
        </p:nvSpPr>
        <p:spPr>
          <a:xfrm>
            <a:off x="7936992" y="3319272"/>
            <a:ext cx="3557016" cy="448056"/>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Raises Q4_0 from 68.5 to 82.3 on simple_python, but scores 0–0.4% on irrelevance.</a:t>
            </a:r>
            <a:endParaRPr lang="en-US" sz="1400" dirty="0"/>
          </a:p>
        </p:txBody>
      </p:sp>
      <p:sp>
        <p:nvSpPr>
          <p:cNvPr id="11" name="Shape 7"/>
          <p:cNvSpPr/>
          <p:nvPr/>
        </p:nvSpPr>
        <p:spPr>
          <a:xfrm>
            <a:off x="7772400" y="4069080"/>
            <a:ext cx="3886200" cy="1188720"/>
          </a:xfrm>
          <a:prstGeom prst="roundRect">
            <a:avLst>
              <a:gd name="adj" fmla="val 6154"/>
            </a:avLst>
          </a:prstGeom>
          <a:solidFill>
            <a:srgbClr val="E7EEF6"/>
          </a:solidFill>
          <a:ln w="12700">
            <a:solidFill>
              <a:srgbClr val="E7EEF6"/>
            </a:solidFill>
            <a:prstDash val="solid"/>
          </a:ln>
        </p:spPr>
      </p:sp>
      <p:sp>
        <p:nvSpPr>
          <p:cNvPr id="12" name="Text 8"/>
          <p:cNvSpPr txBox="1"/>
          <p:nvPr/>
        </p:nvSpPr>
        <p:spPr>
          <a:xfrm>
            <a:off x="7936992" y="4233672"/>
            <a:ext cx="3557016" cy="365760"/>
          </a:xfrm>
          <a:prstGeom prst="rect">
            <a:avLst/>
          </a:prstGeom>
          <a:noFill/>
          <a:ln/>
        </p:spPr>
        <p:txBody>
          <a:bodyPr wrap="square" lIns="0" tIns="0" rIns="0" bIns="0" rtlCol="0" anchor="t"/>
          <a:lstStyle/>
          <a:p>
            <a:pPr indent="0" marL="0">
              <a:spcAft>
                <a:spcPts val="200"/>
              </a:spcAft>
              <a:buNone/>
            </a:pPr>
            <a:r>
              <a:rPr lang="en-US" sz="1800" b="1" dirty="0">
                <a:solidFill>
                  <a:srgbClr val="1B2A3A"/>
                </a:solidFill>
              </a:rPr>
              <a:t>Matches H2</a:t>
            </a:r>
            <a:endParaRPr lang="en-US" sz="1800" dirty="0"/>
          </a:p>
        </p:txBody>
      </p:sp>
      <p:sp>
        <p:nvSpPr>
          <p:cNvPr id="13" name="Text 9"/>
          <p:cNvSpPr txBox="1"/>
          <p:nvPr/>
        </p:nvSpPr>
        <p:spPr>
          <a:xfrm>
            <a:off x="7936992" y="4645152"/>
            <a:ext cx="3557016" cy="448056"/>
          </a:xfrm>
          <a:prstGeom prst="rect">
            <a:avLst/>
          </a:prstGeom>
          <a:noFill/>
          <a:ln/>
        </p:spPr>
        <p:txBody>
          <a:bodyPr wrap="square" lIns="0" tIns="0" rIns="0" bIns="0" rtlCol="0" anchor="t"/>
          <a:lstStyle/>
          <a:p>
            <a:pPr indent="0" marL="0">
              <a:spcAft>
                <a:spcPts val="200"/>
              </a:spcAft>
              <a:buNone/>
            </a:pPr>
            <a:r>
              <a:rPr lang="en-US" sz="1400" dirty="0">
                <a:solidFill>
                  <a:srgbClr val="1B2A3A"/>
                </a:solidFill>
              </a:rPr>
              <a:t>R1 fixes badly formed calls. It does not fix text answers or wrong values.</a:t>
            </a:r>
            <a:endParaRPr lang="en-US" sz="1400" dirty="0"/>
          </a:p>
        </p:txBody>
      </p:sp>
      <p:sp>
        <p:nvSpPr>
          <p:cNvPr id="14" name="Text 10"/>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Non-live gains in order BF16 / Q4_K_M / Q4_0 · pilot data, Colab A100, Oct 8 · greedy, non-thinking, prompt cache off</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Reproducibility and cost</a:t>
            </a:r>
            <a:endParaRPr lang="en-US" sz="3200" dirty="0"/>
          </a:p>
        </p:txBody>
      </p:sp>
      <p:sp>
        <p:nvSpPr>
          <p:cNvPr id="4" name="Shape 1"/>
          <p:cNvSpPr/>
          <p:nvPr/>
        </p:nvSpPr>
        <p:spPr>
          <a:xfrm>
            <a:off x="548640" y="1325880"/>
            <a:ext cx="3611880" cy="1920240"/>
          </a:xfrm>
          <a:prstGeom prst="roundRect">
            <a:avLst>
              <a:gd name="adj" fmla="val 3810"/>
            </a:avLst>
          </a:prstGeom>
          <a:solidFill>
            <a:srgbClr val="F2F4F7"/>
          </a:solidFill>
          <a:ln w="12700">
            <a:solidFill>
              <a:srgbClr val="F2F4F7"/>
            </a:solidFill>
            <a:prstDash val="solid"/>
          </a:ln>
        </p:spPr>
      </p:sp>
      <p:sp>
        <p:nvSpPr>
          <p:cNvPr id="5" name="Text 2"/>
          <p:cNvSpPr txBox="1"/>
          <p:nvPr/>
        </p:nvSpPr>
        <p:spPr>
          <a:xfrm>
            <a:off x="731520" y="1463040"/>
            <a:ext cx="3291840" cy="640080"/>
          </a:xfrm>
          <a:prstGeom prst="rect">
            <a:avLst/>
          </a:prstGeom>
          <a:noFill/>
          <a:ln/>
        </p:spPr>
        <p:txBody>
          <a:bodyPr wrap="square" lIns="0" tIns="0" rIns="0" bIns="0" rtlCol="0" anchor="t"/>
          <a:lstStyle/>
          <a:p>
            <a:pPr indent="0" marL="0">
              <a:spcAft>
                <a:spcPts val="200"/>
              </a:spcAft>
              <a:buNone/>
            </a:pPr>
            <a:r>
              <a:rPr lang="en-US" sz="3200" b="1" dirty="0">
                <a:solidFill>
                  <a:srgbClr val="C8102E"/>
                </a:solidFill>
              </a:rPr>
              <a:t>61 / 400</a:t>
            </a:r>
            <a:endParaRPr lang="en-US" sz="3200" dirty="0"/>
          </a:p>
        </p:txBody>
      </p:sp>
      <p:sp>
        <p:nvSpPr>
          <p:cNvPr id="6" name="Text 3"/>
          <p:cNvSpPr txBox="1"/>
          <p:nvPr/>
        </p:nvSpPr>
        <p:spPr>
          <a:xfrm>
            <a:off x="731520" y="2148840"/>
            <a:ext cx="3291840" cy="1005840"/>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Q4_0 outputs changed with prompt caching on. With it off, reruns match exactly (400/400).</a:t>
            </a:r>
            <a:endParaRPr lang="en-US" sz="1500" dirty="0"/>
          </a:p>
        </p:txBody>
      </p:sp>
      <p:sp>
        <p:nvSpPr>
          <p:cNvPr id="7" name="Shape 4"/>
          <p:cNvSpPr/>
          <p:nvPr/>
        </p:nvSpPr>
        <p:spPr>
          <a:xfrm>
            <a:off x="4297680" y="1325880"/>
            <a:ext cx="3611880" cy="1920240"/>
          </a:xfrm>
          <a:prstGeom prst="roundRect">
            <a:avLst>
              <a:gd name="adj" fmla="val 3810"/>
            </a:avLst>
          </a:prstGeom>
          <a:solidFill>
            <a:srgbClr val="F2F4F7"/>
          </a:solidFill>
          <a:ln w="12700">
            <a:solidFill>
              <a:srgbClr val="F2F4F7"/>
            </a:solidFill>
            <a:prstDash val="solid"/>
          </a:ln>
        </p:spPr>
      </p:sp>
      <p:sp>
        <p:nvSpPr>
          <p:cNvPr id="8" name="Text 5"/>
          <p:cNvSpPr txBox="1"/>
          <p:nvPr/>
        </p:nvSpPr>
        <p:spPr>
          <a:xfrm>
            <a:off x="4480560" y="1463040"/>
            <a:ext cx="3291840" cy="640080"/>
          </a:xfrm>
          <a:prstGeom prst="rect">
            <a:avLst/>
          </a:prstGeom>
          <a:noFill/>
          <a:ln/>
        </p:spPr>
        <p:txBody>
          <a:bodyPr wrap="square" lIns="0" tIns="0" rIns="0" bIns="0" rtlCol="0" anchor="t"/>
          <a:lstStyle/>
          <a:p>
            <a:pPr indent="0" marL="0">
              <a:spcAft>
                <a:spcPts val="200"/>
              </a:spcAft>
              <a:buNone/>
            </a:pPr>
            <a:r>
              <a:rPr lang="en-US" sz="3200" b="1" dirty="0">
                <a:solidFill>
                  <a:srgbClr val="137A52"/>
                </a:solidFill>
              </a:rPr>
              <a:t>CPU = CUDA</a:t>
            </a:r>
            <a:endParaRPr lang="en-US" sz="3200" dirty="0"/>
          </a:p>
        </p:txBody>
      </p:sp>
      <p:sp>
        <p:nvSpPr>
          <p:cNvPr id="9" name="Text 6"/>
          <p:cNvSpPr txBox="1"/>
          <p:nvPr/>
        </p:nvSpPr>
        <p:spPr>
          <a:xfrm>
            <a:off x="4480560" y="2148840"/>
            <a:ext cx="3291840" cy="1005840"/>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Same output tokens on both backends for all three files (S2 criterion).</a:t>
            </a:r>
            <a:endParaRPr lang="en-US" sz="1500" dirty="0"/>
          </a:p>
        </p:txBody>
      </p:sp>
      <p:sp>
        <p:nvSpPr>
          <p:cNvPr id="10" name="Shape 7"/>
          <p:cNvSpPr/>
          <p:nvPr/>
        </p:nvSpPr>
        <p:spPr>
          <a:xfrm>
            <a:off x="8046720" y="1325880"/>
            <a:ext cx="3611880" cy="1920240"/>
          </a:xfrm>
          <a:prstGeom prst="roundRect">
            <a:avLst>
              <a:gd name="adj" fmla="val 3810"/>
            </a:avLst>
          </a:prstGeom>
          <a:solidFill>
            <a:srgbClr val="F2F4F7"/>
          </a:solidFill>
          <a:ln w="12700">
            <a:solidFill>
              <a:srgbClr val="F2F4F7"/>
            </a:solidFill>
            <a:prstDash val="solid"/>
          </a:ln>
        </p:spPr>
      </p:sp>
      <p:sp>
        <p:nvSpPr>
          <p:cNvPr id="11" name="Text 8"/>
          <p:cNvSpPr txBox="1"/>
          <p:nvPr/>
        </p:nvSpPr>
        <p:spPr>
          <a:xfrm>
            <a:off x="8229600" y="1463040"/>
            <a:ext cx="3291840" cy="640080"/>
          </a:xfrm>
          <a:prstGeom prst="rect">
            <a:avLst/>
          </a:prstGeom>
          <a:noFill/>
          <a:ln/>
        </p:spPr>
        <p:txBody>
          <a:bodyPr wrap="square" lIns="0" tIns="0" rIns="0" bIns="0" rtlCol="0" anchor="t"/>
          <a:lstStyle/>
          <a:p>
            <a:pPr indent="0" marL="0">
              <a:spcAft>
                <a:spcPts val="200"/>
              </a:spcAft>
              <a:buNone/>
            </a:pPr>
            <a:r>
              <a:rPr lang="en-US" sz="3200" b="1" dirty="0">
                <a:solidFill>
                  <a:srgbClr val="137A52"/>
                </a:solidFill>
              </a:rPr>
              <a:t>50 / 50</a:t>
            </a:r>
            <a:endParaRPr lang="en-US" sz="3200" dirty="0"/>
          </a:p>
        </p:txBody>
      </p:sp>
      <p:sp>
        <p:nvSpPr>
          <p:cNvPr id="12" name="Text 9"/>
          <p:cNvSpPr txBox="1"/>
          <p:nvPr/>
        </p:nvSpPr>
        <p:spPr>
          <a:xfrm>
            <a:off x="8229600" y="2148840"/>
            <a:ext cx="3291840" cy="1005840"/>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QAD steps with identical loss after a kill at step 27 and resume from step 25 (S7).</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109960" cy="914400"/>
        </p:xfrm>
        <a:graphic>
          <a:graphicData uri="http://schemas.openxmlformats.org/drawingml/2006/table">
            <a:tbl>
              <a:tblPr/>
              <a:tblGrid>
                <a:gridCol w="5074920"/>
                <a:gridCol w="2011680"/>
                <a:gridCol w="2011680"/>
                <a:gridCol w="2011680"/>
              </a:tblGrid>
              <a:tr h="457200">
                <a:tc>
                  <a:txBody>
                    <a:bodyPr/>
                    <a:lstStyle/>
                    <a:p>
                      <a:pPr algn="l" indent="0" marL="0">
                        <a:buNone/>
                      </a:pPr>
                      <a:r>
                        <a:rPr lang="en-US" sz="1500" b="1" dirty="0">
                          <a:solidFill>
                            <a:srgbClr val="FFFFFF"/>
                          </a:solidFill>
                        </a:rPr>
                        <a:t>Cost on a Colab A100 (indicative)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500" b="1" dirty="0">
                          <a:solidFill>
                            <a:srgbClr val="FFFFFF"/>
                          </a:solidFill>
                        </a:rPr>
                        <a:t>BF16</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500" b="1" dirty="0">
                          <a:solidFill>
                            <a:srgbClr val="FFFFFF"/>
                          </a:solidFill>
                        </a:rPr>
                        <a:t>Q4_K_M</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r" indent="0" marL="0">
                        <a:buNone/>
                      </a:pPr>
                      <a:r>
                        <a:rPr lang="en-US" sz="1500" b="1" dirty="0">
                          <a:solidFill>
                            <a:srgbClr val="FFFFFF"/>
                          </a:solidFill>
                        </a:rPr>
                        <a:t>Q4_0</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457200">
                <a:tc>
                  <a:txBody>
                    <a:bodyPr/>
                    <a:lstStyle/>
                    <a:p>
                      <a:pPr algn="l" indent="0" marL="0">
                        <a:buNone/>
                      </a:pPr>
                      <a:r>
                        <a:rPr lang="en-US" sz="1500" dirty="0">
                          <a:solidFill>
                            <a:srgbClr val="1B2A3A"/>
                          </a:solidFill>
                        </a:rPr>
                        <a:t>Energy per decoded token, mJ (10 runs)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A3A"/>
                          </a:solidFill>
                        </a:rPr>
                        <a:t>349 ± 14</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A3A"/>
                          </a:solidFill>
                        </a:rPr>
                        <a:t>185 ± 10</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A3A"/>
                          </a:solidFill>
                        </a:rPr>
                        <a:t>134 ± 6</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B2A3A"/>
                          </a:solidFill>
                        </a:rPr>
                        <a:t>Decode tokens/s (1,024 tokens)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B2A3A"/>
                          </a:solidFill>
                        </a:rPr>
                        <a:t>291.5</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B2A3A"/>
                          </a:solidFill>
                        </a:rPr>
                        <a:t>342.2</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500" dirty="0">
                          <a:solidFill>
                            <a:srgbClr val="1B2A3A"/>
                          </a:solidFill>
                        </a:rPr>
                        <a:t>379.3</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500" dirty="0">
                          <a:solidFill>
                            <a:srgbClr val="1B2A3A"/>
                          </a:solidFill>
                        </a:rPr>
                        <a:t>Peak GPU memory, MiB (incl. 518 baseline)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A3A"/>
                          </a:solidFill>
                        </a:rPr>
                        <a:t>3,096</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A3A"/>
                          </a:solidFill>
                        </a:rPr>
                        <a:t>2,316</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A3A"/>
                          </a:solidFill>
                        </a:rPr>
                        <a:t>2,262</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Shared Colab VM, clocks unlocked: RQ4 numbers come only from exclusive cluster cost blocks (DEP-5)</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Design changes from the pilot</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3566160"/>
                <a:gridCol w="5120640"/>
                <a:gridCol w="2423160"/>
              </a:tblGrid>
              <a:tr h="548640">
                <a:tc>
                  <a:txBody>
                    <a:bodyPr/>
                    <a:lstStyle/>
                    <a:p>
                      <a:pPr algn="l" indent="0" marL="0">
                        <a:buNone/>
                      </a:pPr>
                      <a:r>
                        <a:rPr lang="en-US" sz="1500" b="1" dirty="0">
                          <a:solidFill>
                            <a:srgbClr val="FFFFFF"/>
                          </a:solidFill>
                        </a:rPr>
                        <a:t>Finding</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l" indent="0" marL="0">
                        <a:buNone/>
                      </a:pPr>
                      <a:r>
                        <a:rPr lang="en-US" sz="1500" b="1" dirty="0">
                          <a:solidFill>
                            <a:srgbClr val="FFFFFF"/>
                          </a:solidFill>
                        </a:rPr>
                        <a:t>Change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l" indent="0" marL="0">
                        <a:buNone/>
                      </a:pPr>
                      <a:r>
                        <a:rPr lang="en-US" sz="1500" b="1" dirty="0">
                          <a:solidFill>
                            <a:srgbClr val="FFFFFF"/>
                          </a:solidFill>
                        </a:rPr>
                        <a:t>Owner · when</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548640">
                <a:tc>
                  <a:txBody>
                    <a:bodyPr/>
                    <a:lstStyle/>
                    <a:p>
                      <a:pPr algn="l" indent="0" marL="0">
                        <a:buNone/>
                      </a:pPr>
                      <a:r>
                        <a:rPr lang="en-US" sz="1500" dirty="0">
                          <a:solidFill>
                            <a:srgbClr val="1B2A3A"/>
                          </a:solidFill>
                        </a:rPr>
                        <a:t>Prompt caching changes outputs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A3A"/>
                          </a:solidFill>
                        </a:rPr>
                        <a:t>Cache off on every request; logged in the run manifest</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A3A"/>
                          </a:solidFill>
                        </a:rPr>
                        <a:t>Ekant, Yashashav · M1</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B2A3A"/>
                          </a:solidFill>
                        </a:rPr>
                        <a:t>Forced-call grammar fails on irrelevance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2A3A"/>
                          </a:solidFill>
                        </a:rPr>
                        <a:t>R1 keeps free-text branch; always report irrelevance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2A3A"/>
                          </a:solidFill>
                        </a:rPr>
                        <a:t>Ekant · M1</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500" dirty="0">
                          <a:solidFill>
                            <a:srgbClr val="1B2A3A"/>
                          </a:solidFill>
                        </a:rPr>
                        <a:t>Q4_0 answers in text instead of calling</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A3A"/>
                          </a:solidFill>
                        </a:rPr>
                        <a:t>Propose “missing call” class; separate tag-spacing check</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A3A"/>
                          </a:solidFill>
                        </a:rPr>
                        <a:t>Vritika · M2</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B2A3A"/>
                          </a:solidFill>
                        </a:rPr>
                        <a:t>BFCL’s Qwen handler uses thinking mode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2A3A"/>
                          </a:solidFill>
                        </a:rPr>
                        <a:t>Handler subclass in our repo; thinking mode per run spec</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2A3A"/>
                          </a:solidFill>
                        </a:rPr>
                        <a:t>Vritika, Yashashav · M1</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500" dirty="0">
                          <a:solidFill>
                            <a:srgbClr val="1B2A3A"/>
                          </a:solidFill>
                        </a:rPr>
                        <a:t>Q4_K_M = 5.15 bits per weight</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A3A"/>
                          </a:solidFill>
                        </a:rPr>
                        <a:t>Report measured sizes in RQ4, not nominal ones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A3A"/>
                          </a:solidFill>
                        </a:rPr>
                        <a:t>Yashashav · M2</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B2A3A"/>
                          </a:solidFill>
                        </a:rPr>
                        <a:t>Qwen ships only Q8_0 GGUF for 0.6B</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2A3A"/>
                          </a:solidFill>
                        </a:rPr>
                        <a:t>Q4_K_M described as the third-party format</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500" dirty="0">
                          <a:solidFill>
                            <a:srgbClr val="1B2A3A"/>
                          </a:solidFill>
                        </a:rPr>
                        <a:t>Done in Workbook v2</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Full list: Workbook v3, Table 35b · nothing here changes the research questions or the grid</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Spike status</a:t>
            </a:r>
            <a:endParaRPr lang="en-US" sz="3200" dirty="0"/>
          </a:p>
        </p:txBody>
      </p:sp>
      <p:sp>
        <p:nvSpPr>
          <p:cNvPr id="4" name="Shape 1"/>
          <p:cNvSpPr/>
          <p:nvPr/>
        </p:nvSpPr>
        <p:spPr>
          <a:xfrm>
            <a:off x="548640" y="1325880"/>
            <a:ext cx="2103120" cy="1463040"/>
          </a:xfrm>
          <a:prstGeom prst="roundRect">
            <a:avLst>
              <a:gd name="adj" fmla="val 5000"/>
            </a:avLst>
          </a:prstGeom>
          <a:solidFill>
            <a:srgbClr val="E6F2EC"/>
          </a:solidFill>
          <a:ln w="19050">
            <a:solidFill>
              <a:srgbClr val="137A52"/>
            </a:solidFill>
            <a:prstDash val="solid"/>
          </a:ln>
        </p:spPr>
      </p:sp>
      <p:sp>
        <p:nvSpPr>
          <p:cNvPr id="5" name="Text 2"/>
          <p:cNvSpPr txBox="1"/>
          <p:nvPr/>
        </p:nvSpPr>
        <p:spPr>
          <a:xfrm>
            <a:off x="685800" y="14356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S1</a:t>
            </a:r>
            <a:endParaRPr lang="en-US" sz="2000" dirty="0"/>
          </a:p>
        </p:txBody>
      </p:sp>
      <p:sp>
        <p:nvSpPr>
          <p:cNvPr id="6" name="Text 3"/>
          <p:cNvSpPr txBox="1"/>
          <p:nvPr/>
        </p:nvSpPr>
        <p:spPr>
          <a:xfrm>
            <a:off x="685800" y="18288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Build + tool call</a:t>
            </a:r>
            <a:endParaRPr lang="en-US" sz="1300" dirty="0"/>
          </a:p>
        </p:txBody>
      </p:sp>
      <p:sp>
        <p:nvSpPr>
          <p:cNvPr id="7" name="Text 4"/>
          <p:cNvSpPr txBox="1"/>
          <p:nvPr/>
        </p:nvSpPr>
        <p:spPr>
          <a:xfrm>
            <a:off x="685800" y="21488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137A52"/>
                </a:solidFill>
              </a:rPr>
              <a:t>Ran on Colab</a:t>
            </a:r>
            <a:endParaRPr lang="en-US" sz="1300" dirty="0"/>
          </a:p>
        </p:txBody>
      </p:sp>
      <p:sp>
        <p:nvSpPr>
          <p:cNvPr id="8" name="Shape 5"/>
          <p:cNvSpPr/>
          <p:nvPr/>
        </p:nvSpPr>
        <p:spPr>
          <a:xfrm>
            <a:off x="2788920" y="1325880"/>
            <a:ext cx="2103120" cy="1463040"/>
          </a:xfrm>
          <a:prstGeom prst="roundRect">
            <a:avLst>
              <a:gd name="adj" fmla="val 5000"/>
            </a:avLst>
          </a:prstGeom>
          <a:solidFill>
            <a:srgbClr val="E6F2EC"/>
          </a:solidFill>
          <a:ln w="19050">
            <a:solidFill>
              <a:srgbClr val="137A52"/>
            </a:solidFill>
            <a:prstDash val="solid"/>
          </a:ln>
        </p:spPr>
      </p:sp>
      <p:sp>
        <p:nvSpPr>
          <p:cNvPr id="9" name="Text 6"/>
          <p:cNvSpPr txBox="1"/>
          <p:nvPr/>
        </p:nvSpPr>
        <p:spPr>
          <a:xfrm>
            <a:off x="2926080" y="14356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S2</a:t>
            </a:r>
            <a:endParaRPr lang="en-US" sz="2000" dirty="0"/>
          </a:p>
        </p:txBody>
      </p:sp>
      <p:sp>
        <p:nvSpPr>
          <p:cNvPr id="10" name="Text 7"/>
          <p:cNvSpPr txBox="1"/>
          <p:nvPr/>
        </p:nvSpPr>
        <p:spPr>
          <a:xfrm>
            <a:off x="2926080" y="18288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CPU = CUDA tokens</a:t>
            </a:r>
            <a:endParaRPr lang="en-US" sz="1300" dirty="0"/>
          </a:p>
        </p:txBody>
      </p:sp>
      <p:sp>
        <p:nvSpPr>
          <p:cNvPr id="11" name="Text 8"/>
          <p:cNvSpPr txBox="1"/>
          <p:nvPr/>
        </p:nvSpPr>
        <p:spPr>
          <a:xfrm>
            <a:off x="2926080" y="21488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137A52"/>
                </a:solidFill>
              </a:rPr>
              <a:t>Criterion met</a:t>
            </a:r>
            <a:endParaRPr lang="en-US" sz="1300" dirty="0"/>
          </a:p>
        </p:txBody>
      </p:sp>
      <p:sp>
        <p:nvSpPr>
          <p:cNvPr id="12" name="Shape 9"/>
          <p:cNvSpPr/>
          <p:nvPr/>
        </p:nvSpPr>
        <p:spPr>
          <a:xfrm>
            <a:off x="5029200" y="1325880"/>
            <a:ext cx="2103120" cy="1463040"/>
          </a:xfrm>
          <a:prstGeom prst="roundRect">
            <a:avLst>
              <a:gd name="adj" fmla="val 5000"/>
            </a:avLst>
          </a:prstGeom>
          <a:solidFill>
            <a:srgbClr val="E6F2EC"/>
          </a:solidFill>
          <a:ln w="19050">
            <a:solidFill>
              <a:srgbClr val="137A52"/>
            </a:solidFill>
            <a:prstDash val="solid"/>
          </a:ln>
        </p:spPr>
      </p:sp>
      <p:sp>
        <p:nvSpPr>
          <p:cNvPr id="13" name="Text 10"/>
          <p:cNvSpPr txBox="1"/>
          <p:nvPr/>
        </p:nvSpPr>
        <p:spPr>
          <a:xfrm>
            <a:off x="5166360" y="14356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S3</a:t>
            </a:r>
            <a:endParaRPr lang="en-US" sz="2000" dirty="0"/>
          </a:p>
        </p:txBody>
      </p:sp>
      <p:sp>
        <p:nvSpPr>
          <p:cNvPr id="14" name="Text 11"/>
          <p:cNvSpPr txBox="1"/>
          <p:nvPr/>
        </p:nvSpPr>
        <p:spPr>
          <a:xfrm>
            <a:off x="5166360" y="18288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Grammar, lazy check</a:t>
            </a:r>
            <a:endParaRPr lang="en-US" sz="1300" dirty="0"/>
          </a:p>
        </p:txBody>
      </p:sp>
      <p:sp>
        <p:nvSpPr>
          <p:cNvPr id="15" name="Text 12"/>
          <p:cNvSpPr txBox="1"/>
          <p:nvPr/>
        </p:nvSpPr>
        <p:spPr>
          <a:xfrm>
            <a:off x="5166360" y="21488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137A52"/>
                </a:solidFill>
              </a:rPr>
              <a:t>Ran on Colab</a:t>
            </a:r>
            <a:endParaRPr lang="en-US" sz="1300" dirty="0"/>
          </a:p>
        </p:txBody>
      </p:sp>
      <p:sp>
        <p:nvSpPr>
          <p:cNvPr id="16" name="Shape 13"/>
          <p:cNvSpPr/>
          <p:nvPr/>
        </p:nvSpPr>
        <p:spPr>
          <a:xfrm>
            <a:off x="7269480" y="1325880"/>
            <a:ext cx="2103120" cy="1463040"/>
          </a:xfrm>
          <a:prstGeom prst="roundRect">
            <a:avLst>
              <a:gd name="adj" fmla="val 5000"/>
            </a:avLst>
          </a:prstGeom>
          <a:solidFill>
            <a:srgbClr val="FDF0E9"/>
          </a:solidFill>
          <a:ln w="19050">
            <a:solidFill>
              <a:srgbClr val="B84A1A"/>
            </a:solidFill>
            <a:prstDash val="solid"/>
          </a:ln>
        </p:spPr>
      </p:sp>
      <p:sp>
        <p:nvSpPr>
          <p:cNvPr id="17" name="Text 14"/>
          <p:cNvSpPr txBox="1"/>
          <p:nvPr/>
        </p:nvSpPr>
        <p:spPr>
          <a:xfrm>
            <a:off x="7406640" y="14356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S4</a:t>
            </a:r>
            <a:endParaRPr lang="en-US" sz="2000" dirty="0"/>
          </a:p>
        </p:txBody>
      </p:sp>
      <p:sp>
        <p:nvSpPr>
          <p:cNvPr id="18" name="Text 15"/>
          <p:cNvSpPr txBox="1"/>
          <p:nvPr/>
        </p:nvSpPr>
        <p:spPr>
          <a:xfrm>
            <a:off x="7406640" y="18288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BFCL evaluator</a:t>
            </a:r>
            <a:endParaRPr lang="en-US" sz="1300" dirty="0"/>
          </a:p>
        </p:txBody>
      </p:sp>
      <p:sp>
        <p:nvSpPr>
          <p:cNvPr id="19" name="Text 16"/>
          <p:cNvSpPr txBox="1"/>
          <p:nvPr/>
        </p:nvSpPr>
        <p:spPr>
          <a:xfrm>
            <a:off x="7406640" y="21488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B84A1A"/>
                </a:solidFill>
              </a:rPr>
              <a:t>Single-turn ran; multi-turn in progress</a:t>
            </a:r>
            <a:endParaRPr lang="en-US" sz="1300" dirty="0"/>
          </a:p>
        </p:txBody>
      </p:sp>
      <p:sp>
        <p:nvSpPr>
          <p:cNvPr id="20" name="Shape 17"/>
          <p:cNvSpPr/>
          <p:nvPr/>
        </p:nvSpPr>
        <p:spPr>
          <a:xfrm>
            <a:off x="9509760" y="1325880"/>
            <a:ext cx="2103120" cy="1463040"/>
          </a:xfrm>
          <a:prstGeom prst="roundRect">
            <a:avLst>
              <a:gd name="adj" fmla="val 5000"/>
            </a:avLst>
          </a:prstGeom>
          <a:solidFill>
            <a:srgbClr val="FDF0E9"/>
          </a:solidFill>
          <a:ln w="19050">
            <a:solidFill>
              <a:srgbClr val="B84A1A"/>
            </a:solidFill>
            <a:prstDash val="solid"/>
          </a:ln>
        </p:spPr>
      </p:sp>
      <p:sp>
        <p:nvSpPr>
          <p:cNvPr id="21" name="Text 18"/>
          <p:cNvSpPr txBox="1"/>
          <p:nvPr/>
        </p:nvSpPr>
        <p:spPr>
          <a:xfrm>
            <a:off x="9646920" y="14356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S5</a:t>
            </a:r>
            <a:endParaRPr lang="en-US" sz="2000" dirty="0"/>
          </a:p>
        </p:txBody>
      </p:sp>
      <p:sp>
        <p:nvSpPr>
          <p:cNvPr id="22" name="Text 19"/>
          <p:cNvSpPr txBox="1"/>
          <p:nvPr/>
        </p:nvSpPr>
        <p:spPr>
          <a:xfrm>
            <a:off x="9646920" y="18288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Simulator on L4</a:t>
            </a:r>
            <a:endParaRPr lang="en-US" sz="1300" dirty="0"/>
          </a:p>
        </p:txBody>
      </p:sp>
      <p:sp>
        <p:nvSpPr>
          <p:cNvPr id="23" name="Text 20"/>
          <p:cNvSpPr txBox="1"/>
          <p:nvPr/>
        </p:nvSpPr>
        <p:spPr>
          <a:xfrm>
            <a:off x="9646920" y="21488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B84A1A"/>
                </a:solidFill>
              </a:rPr>
              <a:t>In progress</a:t>
            </a:r>
            <a:endParaRPr lang="en-US" sz="1300" dirty="0"/>
          </a:p>
        </p:txBody>
      </p:sp>
      <p:sp>
        <p:nvSpPr>
          <p:cNvPr id="24" name="Shape 21"/>
          <p:cNvSpPr/>
          <p:nvPr/>
        </p:nvSpPr>
        <p:spPr>
          <a:xfrm>
            <a:off x="548640" y="2926080"/>
            <a:ext cx="2103120" cy="1463040"/>
          </a:xfrm>
          <a:prstGeom prst="roundRect">
            <a:avLst>
              <a:gd name="adj" fmla="val 5000"/>
            </a:avLst>
          </a:prstGeom>
          <a:solidFill>
            <a:srgbClr val="E6F2EC"/>
          </a:solidFill>
          <a:ln w="19050">
            <a:solidFill>
              <a:srgbClr val="137A52"/>
            </a:solidFill>
            <a:prstDash val="solid"/>
          </a:ln>
        </p:spPr>
      </p:sp>
      <p:sp>
        <p:nvSpPr>
          <p:cNvPr id="25" name="Text 22"/>
          <p:cNvSpPr txBox="1"/>
          <p:nvPr/>
        </p:nvSpPr>
        <p:spPr>
          <a:xfrm>
            <a:off x="685800" y="30358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S6</a:t>
            </a:r>
            <a:endParaRPr lang="en-US" sz="2000" dirty="0"/>
          </a:p>
        </p:txBody>
      </p:sp>
      <p:sp>
        <p:nvSpPr>
          <p:cNvPr id="26" name="Text 23"/>
          <p:cNvSpPr txBox="1"/>
          <p:nvPr/>
        </p:nvSpPr>
        <p:spPr>
          <a:xfrm>
            <a:off x="685800" y="34290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NVML energy</a:t>
            </a:r>
            <a:endParaRPr lang="en-US" sz="1300" dirty="0"/>
          </a:p>
        </p:txBody>
      </p:sp>
      <p:sp>
        <p:nvSpPr>
          <p:cNvPr id="27" name="Text 24"/>
          <p:cNvSpPr txBox="1"/>
          <p:nvPr/>
        </p:nvSpPr>
        <p:spPr>
          <a:xfrm>
            <a:off x="685800" y="37490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137A52"/>
                </a:solidFill>
              </a:rPr>
              <a:t>Ran on Colab</a:t>
            </a:r>
            <a:endParaRPr lang="en-US" sz="1300" dirty="0"/>
          </a:p>
        </p:txBody>
      </p:sp>
      <p:sp>
        <p:nvSpPr>
          <p:cNvPr id="28" name="Shape 25"/>
          <p:cNvSpPr/>
          <p:nvPr/>
        </p:nvSpPr>
        <p:spPr>
          <a:xfrm>
            <a:off x="2788920" y="2926080"/>
            <a:ext cx="2103120" cy="1463040"/>
          </a:xfrm>
          <a:prstGeom prst="roundRect">
            <a:avLst>
              <a:gd name="adj" fmla="val 5000"/>
            </a:avLst>
          </a:prstGeom>
          <a:solidFill>
            <a:srgbClr val="E6F2EC"/>
          </a:solidFill>
          <a:ln w="19050">
            <a:solidFill>
              <a:srgbClr val="137A52"/>
            </a:solidFill>
            <a:prstDash val="solid"/>
          </a:ln>
        </p:spPr>
      </p:sp>
      <p:sp>
        <p:nvSpPr>
          <p:cNvPr id="29" name="Text 26"/>
          <p:cNvSpPr txBox="1"/>
          <p:nvPr/>
        </p:nvSpPr>
        <p:spPr>
          <a:xfrm>
            <a:off x="2926080" y="30358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S7</a:t>
            </a:r>
            <a:endParaRPr lang="en-US" sz="2000" dirty="0"/>
          </a:p>
        </p:txBody>
      </p:sp>
      <p:sp>
        <p:nvSpPr>
          <p:cNvPr id="30" name="Text 27"/>
          <p:cNvSpPr txBox="1"/>
          <p:nvPr/>
        </p:nvSpPr>
        <p:spPr>
          <a:xfrm>
            <a:off x="2926080" y="34290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QAD kill + resume</a:t>
            </a:r>
            <a:endParaRPr lang="en-US" sz="1300" dirty="0"/>
          </a:p>
        </p:txBody>
      </p:sp>
      <p:sp>
        <p:nvSpPr>
          <p:cNvPr id="31" name="Text 28"/>
          <p:cNvSpPr txBox="1"/>
          <p:nvPr/>
        </p:nvSpPr>
        <p:spPr>
          <a:xfrm>
            <a:off x="2926080" y="37490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137A52"/>
                </a:solidFill>
              </a:rPr>
              <a:t>Ran on Colab</a:t>
            </a:r>
            <a:endParaRPr lang="en-US" sz="1300" dirty="0"/>
          </a:p>
        </p:txBody>
      </p:sp>
      <p:sp>
        <p:nvSpPr>
          <p:cNvPr id="32" name="Shape 29"/>
          <p:cNvSpPr/>
          <p:nvPr/>
        </p:nvSpPr>
        <p:spPr>
          <a:xfrm>
            <a:off x="5029200" y="2926080"/>
            <a:ext cx="2103120" cy="1463040"/>
          </a:xfrm>
          <a:prstGeom prst="roundRect">
            <a:avLst>
              <a:gd name="adj" fmla="val 5000"/>
            </a:avLst>
          </a:prstGeom>
          <a:solidFill>
            <a:srgbClr val="FDF0E9"/>
          </a:solidFill>
          <a:ln w="19050">
            <a:solidFill>
              <a:srgbClr val="B84A1A"/>
            </a:solidFill>
            <a:prstDash val="solid"/>
          </a:ln>
        </p:spPr>
      </p:sp>
      <p:sp>
        <p:nvSpPr>
          <p:cNvPr id="33" name="Text 30"/>
          <p:cNvSpPr txBox="1"/>
          <p:nvPr/>
        </p:nvSpPr>
        <p:spPr>
          <a:xfrm>
            <a:off x="5166360" y="30358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S8</a:t>
            </a:r>
            <a:endParaRPr lang="en-US" sz="2000" dirty="0"/>
          </a:p>
        </p:txBody>
      </p:sp>
      <p:sp>
        <p:nvSpPr>
          <p:cNvPr id="34" name="Text 31"/>
          <p:cNvSpPr txBox="1"/>
          <p:nvPr/>
        </p:nvSpPr>
        <p:spPr>
          <a:xfrm>
            <a:off x="5166360" y="34290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Q4_0 GGUF export</a:t>
            </a:r>
            <a:endParaRPr lang="en-US" sz="1300" dirty="0"/>
          </a:p>
        </p:txBody>
      </p:sp>
      <p:sp>
        <p:nvSpPr>
          <p:cNvPr id="35" name="Text 32"/>
          <p:cNvSpPr txBox="1"/>
          <p:nvPr/>
        </p:nvSpPr>
        <p:spPr>
          <a:xfrm>
            <a:off x="5166360" y="37490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B84A1A"/>
                </a:solidFill>
              </a:rPr>
              <a:t>In progress</a:t>
            </a:r>
            <a:endParaRPr lang="en-US" sz="1300" dirty="0"/>
          </a:p>
        </p:txBody>
      </p:sp>
      <p:sp>
        <p:nvSpPr>
          <p:cNvPr id="36" name="Shape 33"/>
          <p:cNvSpPr/>
          <p:nvPr/>
        </p:nvSpPr>
        <p:spPr>
          <a:xfrm>
            <a:off x="7269480" y="2926080"/>
            <a:ext cx="2103120" cy="1463040"/>
          </a:xfrm>
          <a:prstGeom prst="roundRect">
            <a:avLst>
              <a:gd name="adj" fmla="val 5000"/>
            </a:avLst>
          </a:prstGeom>
          <a:solidFill>
            <a:srgbClr val="F2F4F7"/>
          </a:solidFill>
          <a:ln w="19050">
            <a:solidFill>
              <a:srgbClr val="8C8C8C"/>
            </a:solidFill>
            <a:prstDash val="dash"/>
          </a:ln>
        </p:spPr>
      </p:sp>
      <p:sp>
        <p:nvSpPr>
          <p:cNvPr id="37" name="Text 34"/>
          <p:cNvSpPr txBox="1"/>
          <p:nvPr/>
        </p:nvSpPr>
        <p:spPr>
          <a:xfrm>
            <a:off x="7406640" y="30358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S9</a:t>
            </a:r>
            <a:endParaRPr lang="en-US" sz="2000" dirty="0"/>
          </a:p>
        </p:txBody>
      </p:sp>
      <p:sp>
        <p:nvSpPr>
          <p:cNvPr id="38" name="Text 35"/>
          <p:cNvSpPr txBox="1"/>
          <p:nvPr/>
        </p:nvSpPr>
        <p:spPr>
          <a:xfrm>
            <a:off x="7406640" y="34290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Two-copy switch</a:t>
            </a:r>
            <a:endParaRPr lang="en-US" sz="1300" dirty="0"/>
          </a:p>
        </p:txBody>
      </p:sp>
      <p:sp>
        <p:nvSpPr>
          <p:cNvPr id="39" name="Text 36"/>
          <p:cNvSpPr txBox="1"/>
          <p:nvPr/>
        </p:nvSpPr>
        <p:spPr>
          <a:xfrm>
            <a:off x="7406640" y="37490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5B6B7B"/>
                </a:solidFill>
              </a:rPr>
              <a:t>Planned, Sprint 4</a:t>
            </a:r>
            <a:endParaRPr lang="en-US" sz="1300" dirty="0"/>
          </a:p>
        </p:txBody>
      </p:sp>
      <p:sp>
        <p:nvSpPr>
          <p:cNvPr id="40" name="Shape 37"/>
          <p:cNvSpPr/>
          <p:nvPr/>
        </p:nvSpPr>
        <p:spPr>
          <a:xfrm>
            <a:off x="9509760" y="2926080"/>
            <a:ext cx="2103120" cy="1463040"/>
          </a:xfrm>
          <a:prstGeom prst="roundRect">
            <a:avLst>
              <a:gd name="adj" fmla="val 5000"/>
            </a:avLst>
          </a:prstGeom>
          <a:solidFill>
            <a:srgbClr val="F2F4F7"/>
          </a:solidFill>
          <a:ln w="19050">
            <a:solidFill>
              <a:srgbClr val="8C8C8C"/>
            </a:solidFill>
            <a:prstDash val="dash"/>
          </a:ln>
        </p:spPr>
      </p:sp>
      <p:sp>
        <p:nvSpPr>
          <p:cNvPr id="41" name="Text 38"/>
          <p:cNvSpPr txBox="1"/>
          <p:nvPr/>
        </p:nvSpPr>
        <p:spPr>
          <a:xfrm>
            <a:off x="9646920" y="3035808"/>
            <a:ext cx="1828800" cy="365760"/>
          </a:xfrm>
          <a:prstGeom prst="rect">
            <a:avLst/>
          </a:prstGeom>
          <a:noFill/>
          <a:ln/>
        </p:spPr>
        <p:txBody>
          <a:bodyPr wrap="square" lIns="0" tIns="0" rIns="0" bIns="0" rtlCol="0" anchor="t"/>
          <a:lstStyle/>
          <a:p>
            <a:pPr indent="0" marL="0">
              <a:spcAft>
                <a:spcPts val="200"/>
              </a:spcAft>
              <a:buNone/>
            </a:pPr>
            <a:r>
              <a:rPr lang="en-US" sz="2000" b="1" dirty="0">
                <a:solidFill>
                  <a:srgbClr val="1B2A3A"/>
                </a:solidFill>
              </a:rPr>
              <a:t>S10</a:t>
            </a:r>
            <a:endParaRPr lang="en-US" sz="2000" dirty="0"/>
          </a:p>
        </p:txBody>
      </p:sp>
      <p:sp>
        <p:nvSpPr>
          <p:cNvPr id="42" name="Text 39"/>
          <p:cNvSpPr txBox="1"/>
          <p:nvPr/>
        </p:nvSpPr>
        <p:spPr>
          <a:xfrm>
            <a:off x="9646920" y="3429000"/>
            <a:ext cx="1828800" cy="320040"/>
          </a:xfrm>
          <a:prstGeom prst="rect">
            <a:avLst/>
          </a:prstGeom>
          <a:noFill/>
          <a:ln/>
        </p:spPr>
        <p:txBody>
          <a:bodyPr wrap="square" lIns="0" tIns="0" rIns="0" bIns="0" rtlCol="0" anchor="t"/>
          <a:lstStyle/>
          <a:p>
            <a:pPr indent="0" marL="0">
              <a:spcAft>
                <a:spcPts val="200"/>
              </a:spcAft>
              <a:buNone/>
            </a:pPr>
            <a:r>
              <a:rPr lang="en-US" sz="1300" dirty="0">
                <a:solidFill>
                  <a:srgbClr val="1B2A3A"/>
                </a:solidFill>
              </a:rPr>
              <a:t>Slurm limits</a:t>
            </a:r>
            <a:endParaRPr lang="en-US" sz="1300" dirty="0"/>
          </a:p>
        </p:txBody>
      </p:sp>
      <p:sp>
        <p:nvSpPr>
          <p:cNvPr id="43" name="Text 40"/>
          <p:cNvSpPr txBox="1"/>
          <p:nvPr/>
        </p:nvSpPr>
        <p:spPr>
          <a:xfrm>
            <a:off x="9646920" y="3749040"/>
            <a:ext cx="1828800" cy="548640"/>
          </a:xfrm>
          <a:prstGeom prst="rect">
            <a:avLst/>
          </a:prstGeom>
          <a:noFill/>
          <a:ln/>
        </p:spPr>
        <p:txBody>
          <a:bodyPr wrap="square" lIns="0" tIns="0" rIns="0" bIns="0" rtlCol="0" anchor="t"/>
          <a:lstStyle/>
          <a:p>
            <a:pPr indent="0" marL="0">
              <a:spcAft>
                <a:spcPts val="200"/>
              </a:spcAft>
              <a:buNone/>
            </a:pPr>
            <a:r>
              <a:rPr lang="en-US" sz="1300" b="1" dirty="0">
                <a:solidFill>
                  <a:srgbClr val="5B6B7B"/>
                </a:solidFill>
              </a:rPr>
              <a:t>Waiting for accounts</a:t>
            </a:r>
            <a:endParaRPr lang="en-US" sz="1300" dirty="0"/>
          </a:p>
        </p:txBody>
      </p:sp>
      <p:sp>
        <p:nvSpPr>
          <p:cNvPr id="44" name="Shape 41"/>
          <p:cNvSpPr/>
          <p:nvPr/>
        </p:nvSpPr>
        <p:spPr>
          <a:xfrm>
            <a:off x="548640" y="4663440"/>
            <a:ext cx="11109960" cy="1143000"/>
          </a:xfrm>
          <a:prstGeom prst="roundRect">
            <a:avLst>
              <a:gd name="adj" fmla="val 6400"/>
            </a:avLst>
          </a:prstGeom>
          <a:solidFill>
            <a:srgbClr val="E7EEF6"/>
          </a:solidFill>
          <a:ln w="12700">
            <a:solidFill>
              <a:srgbClr val="E7EEF6"/>
            </a:solidFill>
            <a:prstDash val="solid"/>
          </a:ln>
        </p:spPr>
      </p:sp>
      <p:sp>
        <p:nvSpPr>
          <p:cNvPr id="45" name="Text 42"/>
          <p:cNvSpPr txBox="1"/>
          <p:nvPr/>
        </p:nvSpPr>
        <p:spPr>
          <a:xfrm>
            <a:off x="713232" y="4828032"/>
            <a:ext cx="10780776" cy="365760"/>
          </a:xfrm>
          <a:prstGeom prst="rect">
            <a:avLst/>
          </a:prstGeom>
          <a:noFill/>
          <a:ln/>
        </p:spPr>
        <p:txBody>
          <a:bodyPr wrap="square" lIns="0" tIns="0" rIns="0" bIns="0" rtlCol="0" anchor="t"/>
          <a:lstStyle/>
          <a:p>
            <a:pPr indent="0" marL="0">
              <a:spcAft>
                <a:spcPts val="200"/>
              </a:spcAft>
              <a:buNone/>
            </a:pPr>
            <a:r>
              <a:rPr lang="en-US" sz="1800" b="1" dirty="0">
                <a:solidFill>
                  <a:srgbClr val="1B2A3A"/>
                </a:solidFill>
              </a:rPr>
              <a:t>When a spike counts as done</a:t>
            </a:r>
            <a:endParaRPr lang="en-US" sz="1800" dirty="0"/>
          </a:p>
        </p:txBody>
      </p:sp>
      <p:sp>
        <p:nvSpPr>
          <p:cNvPr id="46" name="Text 43"/>
          <p:cNvSpPr txBox="1"/>
          <p:nvPr/>
        </p:nvSpPr>
        <p:spPr>
          <a:xfrm>
            <a:off x="713232" y="5239512"/>
            <a:ext cx="10780776" cy="402336"/>
          </a:xfrm>
          <a:prstGeom prst="rect">
            <a:avLst/>
          </a:prstGeom>
          <a:noFill/>
          <a:ln/>
        </p:spPr>
        <p:txBody>
          <a:bodyPr wrap="square" lIns="0" tIns="0" rIns="0" bIns="0" rtlCol="0" anchor="t"/>
          <a:lstStyle/>
          <a:p>
            <a:pPr indent="0" marL="0">
              <a:spcAft>
                <a:spcPts val="200"/>
              </a:spcAft>
              <a:buNone/>
            </a:pPr>
            <a:r>
              <a:rPr lang="en-US" sz="1500" dirty="0">
                <a:solidFill>
                  <a:srgbClr val="1B2A3A"/>
                </a:solidFill>
              </a:rPr>
              <a:t>Only after its owner or backup reruns it on the cluster. Ekant is rerunning S1, S3 and S6 now.</a:t>
            </a:r>
            <a:endParaRPr lang="en-US" sz="1500" dirty="0"/>
          </a:p>
        </p:txBody>
      </p:sp>
      <p:sp>
        <p:nvSpPr>
          <p:cNvPr id="47" name="Text 44"/>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Status as of Oct 16 · pilot spikes run Oct 8 by the backup owner (Yashashav) · code attribution in the repository’s CONTRIBUTORS.md</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Plan to M1 (Oct 23) and M2 (Nov 6)</a:t>
            </a:r>
            <a:endParaRPr lang="en-US" sz="3200" dirty="0"/>
          </a:p>
        </p:txBody>
      </p:sp>
      <p:sp>
        <p:nvSpPr>
          <p:cNvPr id="4" name="Shape 1"/>
          <p:cNvSpPr/>
          <p:nvPr/>
        </p:nvSpPr>
        <p:spPr>
          <a:xfrm>
            <a:off x="548640" y="1325880"/>
            <a:ext cx="3611880" cy="3246120"/>
          </a:xfrm>
          <a:prstGeom prst="roundRect">
            <a:avLst>
              <a:gd name="adj" fmla="val 2254"/>
            </a:avLst>
          </a:prstGeom>
          <a:solidFill>
            <a:srgbClr val="F2F4F7"/>
          </a:solidFill>
          <a:ln w="12700">
            <a:solidFill>
              <a:srgbClr val="F2F4F7"/>
            </a:solidFill>
            <a:prstDash val="solid"/>
          </a:ln>
        </p:spPr>
      </p:sp>
      <p:sp>
        <p:nvSpPr>
          <p:cNvPr id="5" name="Shape 2"/>
          <p:cNvSpPr/>
          <p:nvPr/>
        </p:nvSpPr>
        <p:spPr>
          <a:xfrm>
            <a:off x="685800" y="1463040"/>
            <a:ext cx="3337560" cy="384048"/>
          </a:xfrm>
          <a:prstGeom prst="roundRect">
            <a:avLst>
              <a:gd name="adj" fmla="val 50000"/>
            </a:avLst>
          </a:prstGeom>
          <a:solidFill>
            <a:srgbClr val="1F77B4"/>
          </a:solidFill>
          <a:ln w="12700">
            <a:solidFill>
              <a:srgbClr val="1F77B4"/>
            </a:solidFill>
            <a:prstDash val="solid"/>
          </a:ln>
        </p:spPr>
      </p:sp>
      <p:sp>
        <p:nvSpPr>
          <p:cNvPr id="6" name="Text 3"/>
          <p:cNvSpPr txBox="1"/>
          <p:nvPr/>
        </p:nvSpPr>
        <p:spPr>
          <a:xfrm>
            <a:off x="685800" y="1463040"/>
            <a:ext cx="3337560" cy="384048"/>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Ekant · testbed &amp; runtime</a:t>
            </a:r>
            <a:endParaRPr lang="en-US" sz="1400" dirty="0"/>
          </a:p>
        </p:txBody>
      </p:sp>
      <p:sp>
        <p:nvSpPr>
          <p:cNvPr id="7" name="Text 4"/>
          <p:cNvSpPr txBox="1"/>
          <p:nvPr/>
        </p:nvSpPr>
        <p:spPr>
          <a:xfrm>
            <a:off x="731520" y="2011680"/>
            <a:ext cx="3246120" cy="1234440"/>
          </a:xfrm>
          <a:prstGeom prst="rect">
            <a:avLst/>
          </a:prstGeom>
          <a:noFill/>
          <a:ln/>
        </p:spPr>
        <p:txBody>
          <a:bodyPr wrap="square" lIns="0" tIns="0" rIns="0" bIns="0" rtlCol="0" anchor="t"/>
          <a:lstStyle/>
          <a:p>
            <a:pPr indent="0" marL="0">
              <a:spcAft>
                <a:spcPts val="200"/>
              </a:spcAft>
              <a:buNone/>
            </a:pPr>
            <a:r>
              <a:rPr lang="en-US" sz="1400" b="1" dirty="0">
                <a:solidFill>
                  <a:srgbClr val="1B2A3A"/>
                </a:solidFill>
              </a:rPr>
              <a:t>To M1: </a:t>
            </a:r>
            <a:pPr indent="0" marL="0">
              <a:spcAft>
                <a:spcPts val="200"/>
              </a:spcAft>
              <a:buNone/>
            </a:pPr>
            <a:r>
              <a:rPr lang="en-US" sz="1400" dirty="0">
                <a:solidFill>
                  <a:srgbClr val="1B2A3A"/>
                </a:solidFill>
              </a:rPr>
              <a:t>rerun S1, S3, S6; C2 runner; C3 generate() with cache off; C5 logger; R1 default grammar; CI</a:t>
            </a:r>
            <a:endParaRPr lang="en-US" sz="1400" dirty="0"/>
          </a:p>
        </p:txBody>
      </p:sp>
      <p:sp>
        <p:nvSpPr>
          <p:cNvPr id="8" name="Text 5"/>
          <p:cNvSpPr txBox="1"/>
          <p:nvPr/>
        </p:nvSpPr>
        <p:spPr>
          <a:xfrm>
            <a:off x="731520" y="3291840"/>
            <a:ext cx="3246120" cy="1188720"/>
          </a:xfrm>
          <a:prstGeom prst="rect">
            <a:avLst/>
          </a:prstGeom>
          <a:noFill/>
          <a:ln/>
        </p:spPr>
        <p:txBody>
          <a:bodyPr wrap="square" lIns="0" tIns="0" rIns="0" bIns="0" rtlCol="0" anchor="t"/>
          <a:lstStyle/>
          <a:p>
            <a:pPr indent="0" marL="0">
              <a:spcAft>
                <a:spcPts val="200"/>
              </a:spcAft>
              <a:buNone/>
            </a:pPr>
            <a:r>
              <a:rPr lang="en-US" sz="1400" b="1" dirty="0">
                <a:solidFill>
                  <a:srgbClr val="1B2A3A"/>
                </a:solidFill>
              </a:rPr>
              <a:t>To M2: </a:t>
            </a:r>
            <a:pPr indent="0" marL="0">
              <a:spcAft>
                <a:spcPts val="200"/>
              </a:spcAft>
              <a:buNone/>
            </a:pPr>
            <a:r>
              <a:rPr lang="en-US" sz="1400" dirty="0">
                <a:solidFill>
                  <a:srgbClr val="1B2A3A"/>
                </a:solidFill>
              </a:rPr>
              <a:t>S1 + S10 on cluster; Slurm array runner; CUDA–CPU parity; throughput pilot</a:t>
            </a:r>
            <a:endParaRPr lang="en-US" sz="1400" dirty="0"/>
          </a:p>
        </p:txBody>
      </p:sp>
      <p:sp>
        <p:nvSpPr>
          <p:cNvPr id="9" name="Shape 6"/>
          <p:cNvSpPr/>
          <p:nvPr/>
        </p:nvSpPr>
        <p:spPr>
          <a:xfrm>
            <a:off x="4297680" y="1325880"/>
            <a:ext cx="3611880" cy="3246120"/>
          </a:xfrm>
          <a:prstGeom prst="roundRect">
            <a:avLst>
              <a:gd name="adj" fmla="val 2254"/>
            </a:avLst>
          </a:prstGeom>
          <a:solidFill>
            <a:srgbClr val="F2F4F7"/>
          </a:solidFill>
          <a:ln w="12700">
            <a:solidFill>
              <a:srgbClr val="F2F4F7"/>
            </a:solidFill>
            <a:prstDash val="solid"/>
          </a:ln>
        </p:spPr>
      </p:sp>
      <p:sp>
        <p:nvSpPr>
          <p:cNvPr id="10" name="Shape 7"/>
          <p:cNvSpPr/>
          <p:nvPr/>
        </p:nvSpPr>
        <p:spPr>
          <a:xfrm>
            <a:off x="4434840" y="1463040"/>
            <a:ext cx="3337560" cy="384048"/>
          </a:xfrm>
          <a:prstGeom prst="roundRect">
            <a:avLst>
              <a:gd name="adj" fmla="val 50000"/>
            </a:avLst>
          </a:prstGeom>
          <a:solidFill>
            <a:srgbClr val="B84A1A"/>
          </a:solidFill>
          <a:ln w="12700">
            <a:solidFill>
              <a:srgbClr val="B84A1A"/>
            </a:solidFill>
            <a:prstDash val="solid"/>
          </a:ln>
        </p:spPr>
      </p:sp>
      <p:sp>
        <p:nvSpPr>
          <p:cNvPr id="11" name="Text 8"/>
          <p:cNvSpPr txBox="1"/>
          <p:nvPr/>
        </p:nvSpPr>
        <p:spPr>
          <a:xfrm>
            <a:off x="4434840" y="1463040"/>
            <a:ext cx="3337560" cy="384048"/>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Vritika · benchmarks &amp; analysis</a:t>
            </a:r>
            <a:endParaRPr lang="en-US" sz="1400" dirty="0"/>
          </a:p>
        </p:txBody>
      </p:sp>
      <p:sp>
        <p:nvSpPr>
          <p:cNvPr id="12" name="Text 9"/>
          <p:cNvSpPr txBox="1"/>
          <p:nvPr/>
        </p:nvSpPr>
        <p:spPr>
          <a:xfrm>
            <a:off x="4480560" y="2011680"/>
            <a:ext cx="3246120" cy="1234440"/>
          </a:xfrm>
          <a:prstGeom prst="rect">
            <a:avLst/>
          </a:prstGeom>
          <a:noFill/>
          <a:ln/>
        </p:spPr>
        <p:txBody>
          <a:bodyPr wrap="square" lIns="0" tIns="0" rIns="0" bIns="0" rtlCol="0" anchor="t"/>
          <a:lstStyle/>
          <a:p>
            <a:pPr indent="0" marL="0">
              <a:spcAft>
                <a:spcPts val="200"/>
              </a:spcAft>
              <a:buNone/>
            </a:pPr>
            <a:r>
              <a:rPr lang="en-US" sz="1400" b="1" dirty="0">
                <a:solidFill>
                  <a:srgbClr val="1B2A3A"/>
                </a:solidFill>
              </a:rPr>
              <a:t>To M1: </a:t>
            </a:r>
            <a:pPr indent="0" marL="0">
              <a:spcAft>
                <a:spcPts val="200"/>
              </a:spcAft>
              <a:buNone/>
            </a:pPr>
            <a:r>
              <a:rPr lang="en-US" sz="1400" dirty="0">
                <a:solidFill>
                  <a:srgbClr val="1B2A3A"/>
                </a:solidFill>
              </a:rPr>
              <a:t>S4 multi-turn; C1 loaders (20 BFCL + 3 τ²); handler subclass; C6 rules v0; second rater</a:t>
            </a:r>
            <a:endParaRPr lang="en-US" sz="1400" dirty="0"/>
          </a:p>
        </p:txBody>
      </p:sp>
      <p:sp>
        <p:nvSpPr>
          <p:cNvPr id="13" name="Text 10"/>
          <p:cNvSpPr txBox="1"/>
          <p:nvPr/>
        </p:nvSpPr>
        <p:spPr>
          <a:xfrm>
            <a:off x="4480560" y="3291840"/>
            <a:ext cx="3246120" cy="1188720"/>
          </a:xfrm>
          <a:prstGeom prst="rect">
            <a:avLst/>
          </a:prstGeom>
          <a:noFill/>
          <a:ln/>
        </p:spPr>
        <p:txBody>
          <a:bodyPr wrap="square" lIns="0" tIns="0" rIns="0" bIns="0" rtlCol="0" anchor="t"/>
          <a:lstStyle/>
          <a:p>
            <a:pPr indent="0" marL="0">
              <a:spcAft>
                <a:spcPts val="200"/>
              </a:spcAft>
              <a:buNone/>
            </a:pPr>
            <a:r>
              <a:rPr lang="en-US" sz="1400" b="1" dirty="0">
                <a:solidFill>
                  <a:srgbClr val="1B2A3A"/>
                </a:solidFill>
              </a:rPr>
              <a:t>To M2: </a:t>
            </a:r>
            <a:pPr indent="0" marL="0">
              <a:spcAft>
                <a:spcPts val="200"/>
              </a:spcAft>
              <a:buNone/>
            </a:pPr>
            <a:r>
              <a:rPr lang="en-US" sz="1400" dirty="0">
                <a:solidFill>
                  <a:srgbClr val="1B2A3A"/>
                </a:solidFill>
              </a:rPr>
              <a:t>full C1; inclusion filter; S5 + C4 cache; codebook v0; OSF draft for your review</a:t>
            </a:r>
            <a:endParaRPr lang="en-US" sz="1400" dirty="0"/>
          </a:p>
        </p:txBody>
      </p:sp>
      <p:sp>
        <p:nvSpPr>
          <p:cNvPr id="14" name="Shape 11"/>
          <p:cNvSpPr/>
          <p:nvPr/>
        </p:nvSpPr>
        <p:spPr>
          <a:xfrm>
            <a:off x="8046720" y="1325880"/>
            <a:ext cx="3611880" cy="3246120"/>
          </a:xfrm>
          <a:prstGeom prst="roundRect">
            <a:avLst>
              <a:gd name="adj" fmla="val 2254"/>
            </a:avLst>
          </a:prstGeom>
          <a:solidFill>
            <a:srgbClr val="F2F4F7"/>
          </a:solidFill>
          <a:ln w="12700">
            <a:solidFill>
              <a:srgbClr val="F2F4F7"/>
            </a:solidFill>
            <a:prstDash val="solid"/>
          </a:ln>
        </p:spPr>
      </p:sp>
      <p:sp>
        <p:nvSpPr>
          <p:cNvPr id="15" name="Shape 12"/>
          <p:cNvSpPr/>
          <p:nvPr/>
        </p:nvSpPr>
        <p:spPr>
          <a:xfrm>
            <a:off x="8183880" y="1463040"/>
            <a:ext cx="3337560" cy="384048"/>
          </a:xfrm>
          <a:prstGeom prst="roundRect">
            <a:avLst>
              <a:gd name="adj" fmla="val 50000"/>
            </a:avLst>
          </a:prstGeom>
          <a:solidFill>
            <a:srgbClr val="137A52"/>
          </a:solidFill>
          <a:ln w="12700">
            <a:solidFill>
              <a:srgbClr val="137A52"/>
            </a:solidFill>
            <a:prstDash val="solid"/>
          </a:ln>
        </p:spPr>
      </p:sp>
      <p:sp>
        <p:nvSpPr>
          <p:cNvPr id="16" name="Text 13"/>
          <p:cNvSpPr txBox="1"/>
          <p:nvPr/>
        </p:nvSpPr>
        <p:spPr>
          <a:xfrm>
            <a:off x="8183880" y="1463040"/>
            <a:ext cx="3337560" cy="384048"/>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Yashashav · models &amp; repairs</a:t>
            </a:r>
            <a:endParaRPr lang="en-US" sz="1400" dirty="0"/>
          </a:p>
        </p:txBody>
      </p:sp>
      <p:sp>
        <p:nvSpPr>
          <p:cNvPr id="17" name="Text 14"/>
          <p:cNvSpPr txBox="1"/>
          <p:nvPr/>
        </p:nvSpPr>
        <p:spPr>
          <a:xfrm>
            <a:off x="8229600" y="2011680"/>
            <a:ext cx="3246120" cy="1234440"/>
          </a:xfrm>
          <a:prstGeom prst="rect">
            <a:avLst/>
          </a:prstGeom>
          <a:noFill/>
          <a:ln/>
        </p:spPr>
        <p:txBody>
          <a:bodyPr wrap="square" lIns="0" tIns="0" rIns="0" bIns="0" rtlCol="0" anchor="t"/>
          <a:lstStyle/>
          <a:p>
            <a:pPr indent="0" marL="0">
              <a:spcAft>
                <a:spcPts val="200"/>
              </a:spcAft>
              <a:buNone/>
            </a:pPr>
            <a:r>
              <a:rPr lang="en-US" sz="1400" b="1" dirty="0">
                <a:solidFill>
                  <a:srgbClr val="1B2A3A"/>
                </a:solidFill>
              </a:rPr>
              <a:t>To M1: </a:t>
            </a:r>
            <a:pPr indent="0" marL="0">
              <a:spcAft>
                <a:spcPts val="200"/>
              </a:spcAft>
              <a:buNone/>
            </a:pPr>
            <a:r>
              <a:rPr lang="en-US" sz="1400" dirty="0">
                <a:solidFill>
                  <a:srgbClr val="1B2A3A"/>
                </a:solidFill>
              </a:rPr>
              <a:t>C11 registry + run manifest; S8 export; R2 Q8_0 + S9; lockfile, Dockerfile; cluster scripts</a:t>
            </a:r>
            <a:endParaRPr lang="en-US" sz="1400" dirty="0"/>
          </a:p>
        </p:txBody>
      </p:sp>
      <p:sp>
        <p:nvSpPr>
          <p:cNvPr id="18" name="Text 15"/>
          <p:cNvSpPr txBox="1"/>
          <p:nvPr/>
        </p:nvSpPr>
        <p:spPr>
          <a:xfrm>
            <a:off x="8229600" y="3291840"/>
            <a:ext cx="3246120" cy="1188720"/>
          </a:xfrm>
          <a:prstGeom prst="rect">
            <a:avLst/>
          </a:prstGeom>
          <a:noFill/>
          <a:ln/>
        </p:spPr>
        <p:txBody>
          <a:bodyPr wrap="square" lIns="0" tIns="0" rIns="0" bIns="0" rtlCol="0" anchor="t"/>
          <a:lstStyle/>
          <a:p>
            <a:pPr indent="0" marL="0">
              <a:spcAft>
                <a:spcPts val="200"/>
              </a:spcAft>
              <a:buNone/>
            </a:pPr>
            <a:r>
              <a:rPr lang="en-US" sz="1400" b="1" dirty="0">
                <a:solidFill>
                  <a:srgbClr val="1B2A3A"/>
                </a:solidFill>
              </a:rPr>
              <a:t>To M2: </a:t>
            </a:r>
            <a:pPr indent="0" marL="0">
              <a:spcAft>
                <a:spcPts val="200"/>
              </a:spcAft>
              <a:buNone/>
            </a:pPr>
            <a:r>
              <a:rPr lang="en-US" sz="1400" dirty="0">
                <a:solidFill>
                  <a:srgbClr val="1B2A3A"/>
                </a:solidFill>
              </a:rPr>
              <a:t>BF16 GGUF of all 6 models + KL checks; Singularity; L4 VM; QAD data; S7 under Slurm</a:t>
            </a:r>
            <a:endParaRPr lang="en-US" sz="1400" dirty="0"/>
          </a:p>
        </p:txBody>
      </p:sp>
      <p:sp>
        <p:nvSpPr>
          <p:cNvPr id="19" name="Shape 16"/>
          <p:cNvSpPr/>
          <p:nvPr/>
        </p:nvSpPr>
        <p:spPr>
          <a:xfrm>
            <a:off x="548640" y="4754880"/>
            <a:ext cx="11109960" cy="1051560"/>
          </a:xfrm>
          <a:prstGeom prst="roundRect">
            <a:avLst>
              <a:gd name="adj" fmla="val 6957"/>
            </a:avLst>
          </a:prstGeom>
          <a:solidFill>
            <a:srgbClr val="1B2A3A"/>
          </a:solidFill>
          <a:ln w="12700">
            <a:solidFill>
              <a:srgbClr val="1B2A3A"/>
            </a:solidFill>
            <a:prstDash val="solid"/>
          </a:ln>
        </p:spPr>
      </p:sp>
      <p:sp>
        <p:nvSpPr>
          <p:cNvPr id="20" name="Text 17"/>
          <p:cNvSpPr txBox="1"/>
          <p:nvPr/>
        </p:nvSpPr>
        <p:spPr>
          <a:xfrm>
            <a:off x="777240" y="4846320"/>
            <a:ext cx="10698480" cy="868680"/>
          </a:xfrm>
          <a:prstGeom prst="rect">
            <a:avLst/>
          </a:prstGeom>
          <a:noFill/>
          <a:ln/>
        </p:spPr>
        <p:txBody>
          <a:bodyPr wrap="square" lIns="0" tIns="0" rIns="0" bIns="0" rtlCol="0" anchor="ctr"/>
          <a:lstStyle/>
          <a:p>
            <a:pPr indent="0" marL="0">
              <a:spcAft>
                <a:spcPts val="200"/>
              </a:spcAft>
              <a:buNone/>
            </a:pPr>
            <a:r>
              <a:rPr lang="en-US" sz="1500" b="1" dirty="0">
                <a:solidFill>
                  <a:srgbClr val="FFFFFF"/>
                </a:solidFill>
              </a:rPr>
              <a:t>M1 on Oct 23:  </a:t>
            </a:r>
            <a:pPr indent="0" marL="0">
              <a:spcAft>
                <a:spcPts val="200"/>
              </a:spcAft>
              <a:buNone/>
            </a:pPr>
            <a:r>
              <a:rPr lang="en-US" sz="1500" dirty="0">
                <a:solidFill>
                  <a:srgbClr val="C9D3DE"/>
                </a:solidFill>
              </a:rPr>
              <a:t>one command runs Qwen3-0.6B BF16 / Q4_K_M / Q4_0 on 20 BFCL + 3 τ² tasks, 2 seeds, plus one minimal R1, R2, R3 run; every step logged and classified; reproduced by two members.</a:t>
            </a:r>
            <a:endParaRPr lang="en-US" sz="1500" dirty="0"/>
          </a:p>
        </p:txBody>
      </p:sp>
      <p:sp>
        <p:nvSpPr>
          <p:cNvPr id="21" name="Text 18"/>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Full per-member plan: Workbook v3, Table 37a · Colab and laptops until the cluster is active; the same run spec moves over unchanged</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HPC access</a:t>
            </a:r>
            <a:endParaRPr lang="en-US" sz="3200" dirty="0"/>
          </a:p>
        </p:txBody>
      </p:sp>
      <p:sp>
        <p:nvSpPr>
          <p:cNvPr id="4" name="Shape 1"/>
          <p:cNvSpPr/>
          <p:nvPr/>
        </p:nvSpPr>
        <p:spPr>
          <a:xfrm>
            <a:off x="548640" y="1325880"/>
            <a:ext cx="11109960" cy="1097280"/>
          </a:xfrm>
          <a:prstGeom prst="roundRect">
            <a:avLst>
              <a:gd name="adj" fmla="val 6667"/>
            </a:avLst>
          </a:prstGeom>
          <a:solidFill>
            <a:srgbClr val="FDF0E9"/>
          </a:solidFill>
          <a:ln w="19050">
            <a:solidFill>
              <a:srgbClr val="B84A1A"/>
            </a:solidFill>
            <a:prstDash val="solid"/>
          </a:ln>
        </p:spPr>
      </p:sp>
      <p:sp>
        <p:nvSpPr>
          <p:cNvPr id="5" name="Text 2"/>
          <p:cNvSpPr txBox="1"/>
          <p:nvPr/>
        </p:nvSpPr>
        <p:spPr>
          <a:xfrm>
            <a:off x="713232" y="1490472"/>
            <a:ext cx="10780776" cy="365760"/>
          </a:xfrm>
          <a:prstGeom prst="rect">
            <a:avLst/>
          </a:prstGeom>
          <a:noFill/>
          <a:ln/>
        </p:spPr>
        <p:txBody>
          <a:bodyPr wrap="square" lIns="0" tIns="0" rIns="0" bIns="0" rtlCol="0" anchor="t"/>
          <a:lstStyle/>
          <a:p>
            <a:pPr indent="0" marL="0">
              <a:spcAft>
                <a:spcPts val="200"/>
              </a:spcAft>
              <a:buNone/>
            </a:pPr>
            <a:r>
              <a:rPr lang="en-US" sz="2000" b="1" dirty="0">
                <a:solidFill>
                  <a:srgbClr val="B84A1A"/>
                </a:solidFill>
              </a:rPr>
              <a:t>Status: in the pipeline from Prof. Gao</a:t>
            </a:r>
            <a:endParaRPr lang="en-US" sz="2000" dirty="0"/>
          </a:p>
        </p:txBody>
      </p:sp>
      <p:sp>
        <p:nvSpPr>
          <p:cNvPr id="6" name="Text 3"/>
          <p:cNvSpPr txBox="1"/>
          <p:nvPr/>
        </p:nvSpPr>
        <p:spPr>
          <a:xfrm>
            <a:off x="713232" y="1901952"/>
            <a:ext cx="10780776" cy="356616"/>
          </a:xfrm>
          <a:prstGeom prst="rect">
            <a:avLst/>
          </a:prstGeom>
          <a:noFill/>
          <a:ln/>
        </p:spPr>
        <p:txBody>
          <a:bodyPr wrap="square" lIns="0" tIns="0" rIns="0" bIns="0" rtlCol="0" anchor="t"/>
          <a:lstStyle/>
          <a:p>
            <a:pPr indent="0" marL="0">
              <a:spcAft>
                <a:spcPts val="200"/>
              </a:spcAft>
              <a:buNone/>
            </a:pPr>
            <a:r>
              <a:rPr lang="en-US" sz="1600" dirty="0">
                <a:solidFill>
                  <a:srgbClr val="1B2A3A"/>
                </a:solidFill>
              </a:rPr>
              <a:t>Until the accounts are active, we keep working on Colab and laptops.</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11109960" cy="914400"/>
        </p:xfrm>
        <a:graphic>
          <a:graphicData uri="http://schemas.openxmlformats.org/drawingml/2006/table">
            <a:tbl>
              <a:tblPr/>
              <a:tblGrid>
                <a:gridCol w="548640"/>
                <a:gridCol w="8001000"/>
                <a:gridCol w="2560320"/>
              </a:tblGrid>
              <a:tr h="429768">
                <a:tc>
                  <a:txBody>
                    <a:bodyPr/>
                    <a:lstStyle/>
                    <a:p>
                      <a:pPr algn="l" indent="0" marL="0">
                        <a:buNone/>
                      </a:pPr>
                      <a:r>
                        <a:rPr lang="en-US" sz="1400" b="1" dirty="0">
                          <a:solidFill>
                            <a:srgbClr val="FFFFFF"/>
                          </a:solidFill>
                        </a:rPr>
                        <a:t>#</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l" indent="0" marL="0">
                        <a:buNone/>
                      </a:pPr>
                      <a:r>
                        <a:rPr lang="en-US" sz="1400" b="1" dirty="0">
                          <a:solidFill>
                            <a:srgbClr val="FFFFFF"/>
                          </a:solidFill>
                        </a:rPr>
                        <a:t>First steps once we have access (on the VPN, never on the login node)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algn="l" indent="0" marL="0">
                        <a:buNone/>
                      </a:pPr>
                      <a:r>
                        <a:rPr lang="en-US" sz="1400" b="1" dirty="0">
                          <a:solidFill>
                            <a:srgbClr val="FFFFFF"/>
                          </a:solidFill>
                        </a:rPr>
                        <a:t>Owner</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429768">
                <a:tc>
                  <a:txBody>
                    <a:bodyPr/>
                    <a:lstStyle/>
                    <a:p>
                      <a:pPr algn="l" indent="0" marL="0">
                        <a:buNone/>
                      </a:pPr>
                      <a:r>
                        <a:rPr lang="en-US" sz="1400" dirty="0">
                          <a:solidFill>
                            <a:srgbClr val="1B2A3A"/>
                          </a:solidFill>
                        </a:rPr>
                        <a:t>1</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A"/>
                          </a:solidFill>
                        </a:rPr>
                        <a:t>Record partitions, GPU types and limits (sinfo, scontrol)</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A"/>
                          </a:solidFill>
                        </a:rPr>
                        <a:t>Ekant</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B2A3A"/>
                          </a:solidFill>
                        </a:rPr>
                        <a:t>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2A3A"/>
                          </a:solidFill>
                        </a:rPr>
                        <a:t>Build llama.cpp v0.6.0 for the P100 GPUs and for CPU</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2A3A"/>
                          </a:solidFill>
                        </a:rPr>
                        <a:t>Ekant</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29768">
                <a:tc>
                  <a:txBody>
                    <a:bodyPr/>
                    <a:lstStyle/>
                    <a:p>
                      <a:pPr algn="l" indent="0" marL="0">
                        <a:buNone/>
                      </a:pPr>
                      <a:r>
                        <a:rPr lang="en-US" sz="1400" dirty="0">
                          <a:solidFill>
                            <a:srgbClr val="1B2A3A"/>
                          </a:solidFill>
                        </a:rPr>
                        <a:t>3</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A"/>
                          </a:solidFill>
                        </a:rPr>
                        <a:t>Set up Python environments for the testbed and bfcl-eval</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A"/>
                          </a:solidFill>
                        </a:rPr>
                        <a:t>Vritika</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B2A3A"/>
                          </a:solidFill>
                        </a:rPr>
                        <a:t>4</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2A3A"/>
                          </a:solidFill>
                        </a:rPr>
                        <a:t>GPU test: one tool call on a P100 through sbatch</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2A3A"/>
                          </a:solidFill>
                        </a:rPr>
                        <a:t>Ekant</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29768">
                <a:tc>
                  <a:txBody>
                    <a:bodyPr/>
                    <a:lstStyle/>
                    <a:p>
                      <a:pPr algn="l" indent="0" marL="0">
                        <a:buNone/>
                      </a:pPr>
                      <a:r>
                        <a:rPr lang="en-US" sz="1400" dirty="0">
                          <a:solidFill>
                            <a:srgbClr val="1B2A3A"/>
                          </a:solidFill>
                        </a:rPr>
                        <a:t>5</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A"/>
                          </a:solidFill>
                        </a:rPr>
                        <a:t>S10: run 8 jobs, kill one and resume it; check internet access</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A3A"/>
                          </a:solidFill>
                        </a:rPr>
                        <a:t>Ekant, Vritika</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B2A3A"/>
                          </a:solidFill>
                        </a:rPr>
                        <a:t>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2A3A"/>
                          </a:solidFill>
                        </a:rPr>
                        <a:t>S7 again on an A100 or H100 with a 10-minute time limit</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2A3A"/>
                          </a:solidFill>
                        </a:rPr>
                        <a:t>Yashashav</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bl>
          </a:graphicData>
        </a:graphic>
      </p:graphicFrame>
      <p:sp>
        <p:nvSpPr>
          <p:cNvPr id="8" name="Text 4"/>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We are writing setup scripts this week so each step is one command</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731520" y="1188720"/>
            <a:ext cx="10698480" cy="1828800"/>
          </a:xfrm>
          <a:prstGeom prst="rect">
            <a:avLst/>
          </a:prstGeom>
          <a:noFill/>
          <a:ln/>
        </p:spPr>
        <p:txBody>
          <a:bodyPr wrap="square" lIns="0" tIns="0" rIns="0" bIns="0" rtlCol="0" anchor="b"/>
          <a:lstStyle/>
          <a:p>
            <a:pPr algn="l" indent="0" marL="0">
              <a:buNone/>
            </a:pPr>
            <a:r>
              <a:rPr lang="en-US" sz="3800" b="1" dirty="0">
                <a:solidFill>
                  <a:srgbClr val="FFFFFF"/>
                </a:solidFill>
              </a:rPr>
              <a:t>Decisions we need from you</a:t>
            </a:r>
            <a:endParaRPr lang="en-US" sz="3800" dirty="0"/>
          </a:p>
        </p:txBody>
      </p:sp>
      <p:sp>
        <p:nvSpPr>
          <p:cNvPr id="4" name="Shape 1"/>
          <p:cNvSpPr/>
          <p:nvPr/>
        </p:nvSpPr>
        <p:spPr>
          <a:xfrm>
            <a:off x="731520" y="3291840"/>
            <a:ext cx="411480" cy="411480"/>
          </a:xfrm>
          <a:prstGeom prst="ellipse">
            <a:avLst/>
          </a:prstGeom>
          <a:solidFill>
            <a:srgbClr val="9FC6E8"/>
          </a:solidFill>
          <a:ln w="12700">
            <a:solidFill>
              <a:srgbClr val="9FC6E8"/>
            </a:solidFill>
            <a:prstDash val="solid"/>
          </a:ln>
        </p:spPr>
      </p:sp>
      <p:sp>
        <p:nvSpPr>
          <p:cNvPr id="5" name="Text 2"/>
          <p:cNvSpPr txBox="1"/>
          <p:nvPr/>
        </p:nvSpPr>
        <p:spPr>
          <a:xfrm>
            <a:off x="731520" y="3291840"/>
            <a:ext cx="411480" cy="411480"/>
          </a:xfrm>
          <a:prstGeom prst="rect">
            <a:avLst/>
          </a:prstGeom>
          <a:noFill/>
          <a:ln/>
        </p:spPr>
        <p:txBody>
          <a:bodyPr wrap="square" lIns="0" tIns="0" rIns="0" bIns="0" rtlCol="0" anchor="ctr"/>
          <a:lstStyle/>
          <a:p>
            <a:pPr algn="ctr" indent="0" marL="0">
              <a:spcAft>
                <a:spcPts val="200"/>
              </a:spcAft>
              <a:buNone/>
            </a:pPr>
            <a:r>
              <a:rPr lang="en-US" sz="1600" b="1" dirty="0">
                <a:solidFill>
                  <a:srgbClr val="1B2A3A"/>
                </a:solidFill>
              </a:rPr>
              <a:t>1</a:t>
            </a:r>
            <a:endParaRPr lang="en-US" sz="1600" dirty="0"/>
          </a:p>
        </p:txBody>
      </p:sp>
      <p:sp>
        <p:nvSpPr>
          <p:cNvPr id="6" name="Text 3"/>
          <p:cNvSpPr txBox="1"/>
          <p:nvPr/>
        </p:nvSpPr>
        <p:spPr>
          <a:xfrm>
            <a:off x="1325880" y="3291840"/>
            <a:ext cx="10058400" cy="411480"/>
          </a:xfrm>
          <a:prstGeom prst="rect">
            <a:avLst/>
          </a:prstGeom>
          <a:noFill/>
          <a:ln/>
        </p:spPr>
        <p:txBody>
          <a:bodyPr wrap="square" lIns="0" tIns="0" rIns="0" bIns="0" rtlCol="0" anchor="ctr"/>
          <a:lstStyle/>
          <a:p>
            <a:pPr indent="0" marL="0">
              <a:spcAft>
                <a:spcPts val="200"/>
              </a:spcAft>
              <a:buNone/>
            </a:pPr>
            <a:r>
              <a:rPr lang="en-US" sz="1800" dirty="0">
                <a:solidFill>
                  <a:srgbClr val="FFFFFF"/>
                </a:solidFill>
              </a:rPr>
              <a:t>Treat the October pilot as test data. R1 allows text answers; the forced-call grammar is only a test</a:t>
            </a:r>
            <a:endParaRPr lang="en-US" sz="1800" dirty="0"/>
          </a:p>
        </p:txBody>
      </p:sp>
      <p:sp>
        <p:nvSpPr>
          <p:cNvPr id="7" name="Shape 4"/>
          <p:cNvSpPr/>
          <p:nvPr/>
        </p:nvSpPr>
        <p:spPr>
          <a:xfrm>
            <a:off x="731520" y="3913632"/>
            <a:ext cx="411480" cy="411480"/>
          </a:xfrm>
          <a:prstGeom prst="ellipse">
            <a:avLst/>
          </a:prstGeom>
          <a:solidFill>
            <a:srgbClr val="9FC6E8"/>
          </a:solidFill>
          <a:ln w="12700">
            <a:solidFill>
              <a:srgbClr val="9FC6E8"/>
            </a:solidFill>
            <a:prstDash val="solid"/>
          </a:ln>
        </p:spPr>
      </p:sp>
      <p:sp>
        <p:nvSpPr>
          <p:cNvPr id="8" name="Text 5"/>
          <p:cNvSpPr txBox="1"/>
          <p:nvPr/>
        </p:nvSpPr>
        <p:spPr>
          <a:xfrm>
            <a:off x="731520" y="3913632"/>
            <a:ext cx="411480" cy="411480"/>
          </a:xfrm>
          <a:prstGeom prst="rect">
            <a:avLst/>
          </a:prstGeom>
          <a:noFill/>
          <a:ln/>
        </p:spPr>
        <p:txBody>
          <a:bodyPr wrap="square" lIns="0" tIns="0" rIns="0" bIns="0" rtlCol="0" anchor="ctr"/>
          <a:lstStyle/>
          <a:p>
            <a:pPr algn="ctr" indent="0" marL="0">
              <a:spcAft>
                <a:spcPts val="200"/>
              </a:spcAft>
              <a:buNone/>
            </a:pPr>
            <a:r>
              <a:rPr lang="en-US" sz="1600" b="1" dirty="0">
                <a:solidFill>
                  <a:srgbClr val="1B2A3A"/>
                </a:solidFill>
              </a:rPr>
              <a:t>2</a:t>
            </a:r>
            <a:endParaRPr lang="en-US" sz="1600" dirty="0"/>
          </a:p>
        </p:txBody>
      </p:sp>
      <p:sp>
        <p:nvSpPr>
          <p:cNvPr id="9" name="Text 6"/>
          <p:cNvSpPr txBox="1"/>
          <p:nvPr/>
        </p:nvSpPr>
        <p:spPr>
          <a:xfrm>
            <a:off x="1325880" y="3913632"/>
            <a:ext cx="10058400" cy="411480"/>
          </a:xfrm>
          <a:prstGeom prst="rect">
            <a:avLst/>
          </a:prstGeom>
          <a:noFill/>
          <a:ln/>
        </p:spPr>
        <p:txBody>
          <a:bodyPr wrap="square" lIns="0" tIns="0" rIns="0" bIns="0" rtlCol="0" anchor="ctr"/>
          <a:lstStyle/>
          <a:p>
            <a:pPr indent="0" marL="0">
              <a:spcAft>
                <a:spcPts val="200"/>
              </a:spcAft>
              <a:buNone/>
            </a:pPr>
            <a:r>
              <a:rPr lang="en-US" sz="1800" dirty="0">
                <a:solidFill>
                  <a:srgbClr val="FFFFFF"/>
                </a:solidFill>
              </a:rPr>
              <a:t>If HPC is not active by Oct 19, run M1 on Colab and move the cluster checks to M2</a:t>
            </a:r>
            <a:endParaRPr lang="en-US" sz="1800" dirty="0"/>
          </a:p>
        </p:txBody>
      </p:sp>
      <p:sp>
        <p:nvSpPr>
          <p:cNvPr id="10" name="Shape 7"/>
          <p:cNvSpPr/>
          <p:nvPr/>
        </p:nvSpPr>
        <p:spPr>
          <a:xfrm>
            <a:off x="731520" y="4535424"/>
            <a:ext cx="411480" cy="411480"/>
          </a:xfrm>
          <a:prstGeom prst="ellipse">
            <a:avLst/>
          </a:prstGeom>
          <a:solidFill>
            <a:srgbClr val="9FC6E8"/>
          </a:solidFill>
          <a:ln w="12700">
            <a:solidFill>
              <a:srgbClr val="9FC6E8"/>
            </a:solidFill>
            <a:prstDash val="solid"/>
          </a:ln>
        </p:spPr>
      </p:sp>
      <p:sp>
        <p:nvSpPr>
          <p:cNvPr id="11" name="Text 8"/>
          <p:cNvSpPr txBox="1"/>
          <p:nvPr/>
        </p:nvSpPr>
        <p:spPr>
          <a:xfrm>
            <a:off x="731520" y="4535424"/>
            <a:ext cx="411480" cy="411480"/>
          </a:xfrm>
          <a:prstGeom prst="rect">
            <a:avLst/>
          </a:prstGeom>
          <a:noFill/>
          <a:ln/>
        </p:spPr>
        <p:txBody>
          <a:bodyPr wrap="square" lIns="0" tIns="0" rIns="0" bIns="0" rtlCol="0" anchor="ctr"/>
          <a:lstStyle/>
          <a:p>
            <a:pPr algn="ctr" indent="0" marL="0">
              <a:spcAft>
                <a:spcPts val="200"/>
              </a:spcAft>
              <a:buNone/>
            </a:pPr>
            <a:r>
              <a:rPr lang="en-US" sz="1600" b="1" dirty="0">
                <a:solidFill>
                  <a:srgbClr val="1B2A3A"/>
                </a:solidFill>
              </a:rPr>
              <a:t>3</a:t>
            </a:r>
            <a:endParaRPr lang="en-US" sz="1600" dirty="0"/>
          </a:p>
        </p:txBody>
      </p:sp>
      <p:sp>
        <p:nvSpPr>
          <p:cNvPr id="12" name="Text 9"/>
          <p:cNvSpPr txBox="1"/>
          <p:nvPr/>
        </p:nvSpPr>
        <p:spPr>
          <a:xfrm>
            <a:off x="1325880" y="4535424"/>
            <a:ext cx="10058400" cy="411480"/>
          </a:xfrm>
          <a:prstGeom prst="rect">
            <a:avLst/>
          </a:prstGeom>
          <a:noFill/>
          <a:ln/>
        </p:spPr>
        <p:txBody>
          <a:bodyPr wrap="square" lIns="0" tIns="0" rIns="0" bIns="0" rtlCol="0" anchor="ctr"/>
          <a:lstStyle/>
          <a:p>
            <a:pPr indent="0" marL="0">
              <a:spcAft>
                <a:spcPts val="200"/>
              </a:spcAft>
              <a:buNone/>
            </a:pPr>
            <a:r>
              <a:rPr lang="en-US" sz="1800" dirty="0">
                <a:solidFill>
                  <a:srgbClr val="FFFFFF"/>
                </a:solidFill>
              </a:rPr>
              <a:t>Add a “missing call” failure type to codebook v0 (decide before M2)</a:t>
            </a:r>
            <a:endParaRPr lang="en-US" sz="1800" dirty="0"/>
          </a:p>
        </p:txBody>
      </p:sp>
      <p:sp>
        <p:nvSpPr>
          <p:cNvPr id="13" name="Shape 10"/>
          <p:cNvSpPr/>
          <p:nvPr/>
        </p:nvSpPr>
        <p:spPr>
          <a:xfrm>
            <a:off x="731520" y="5157216"/>
            <a:ext cx="411480" cy="411480"/>
          </a:xfrm>
          <a:prstGeom prst="ellipse">
            <a:avLst/>
          </a:prstGeom>
          <a:solidFill>
            <a:srgbClr val="9FC6E8"/>
          </a:solidFill>
          <a:ln w="12700">
            <a:solidFill>
              <a:srgbClr val="9FC6E8"/>
            </a:solidFill>
            <a:prstDash val="solid"/>
          </a:ln>
        </p:spPr>
      </p:sp>
      <p:sp>
        <p:nvSpPr>
          <p:cNvPr id="14" name="Text 11"/>
          <p:cNvSpPr txBox="1"/>
          <p:nvPr/>
        </p:nvSpPr>
        <p:spPr>
          <a:xfrm>
            <a:off x="731520" y="5157216"/>
            <a:ext cx="411480" cy="411480"/>
          </a:xfrm>
          <a:prstGeom prst="rect">
            <a:avLst/>
          </a:prstGeom>
          <a:noFill/>
          <a:ln/>
        </p:spPr>
        <p:txBody>
          <a:bodyPr wrap="square" lIns="0" tIns="0" rIns="0" bIns="0" rtlCol="0" anchor="ctr"/>
          <a:lstStyle/>
          <a:p>
            <a:pPr algn="ctr" indent="0" marL="0">
              <a:spcAft>
                <a:spcPts val="200"/>
              </a:spcAft>
              <a:buNone/>
            </a:pPr>
            <a:r>
              <a:rPr lang="en-US" sz="1600" b="1" dirty="0">
                <a:solidFill>
                  <a:srgbClr val="1B2A3A"/>
                </a:solidFill>
              </a:rPr>
              <a:t>4</a:t>
            </a:r>
            <a:endParaRPr lang="en-US" sz="1600" dirty="0"/>
          </a:p>
        </p:txBody>
      </p:sp>
      <p:sp>
        <p:nvSpPr>
          <p:cNvPr id="15" name="Text 12"/>
          <p:cNvSpPr txBox="1"/>
          <p:nvPr/>
        </p:nvSpPr>
        <p:spPr>
          <a:xfrm>
            <a:off x="1325880" y="5157216"/>
            <a:ext cx="10058400" cy="411480"/>
          </a:xfrm>
          <a:prstGeom prst="rect">
            <a:avLst/>
          </a:prstGeom>
          <a:noFill/>
          <a:ln/>
        </p:spPr>
        <p:txBody>
          <a:bodyPr wrap="square" lIns="0" tIns="0" rIns="0" bIns="0" rtlCol="0" anchor="ctr"/>
          <a:lstStyle/>
          <a:p>
            <a:pPr indent="0" marL="0">
              <a:spcAft>
                <a:spcPts val="200"/>
              </a:spcAft>
              <a:buNone/>
            </a:pPr>
            <a:r>
              <a:rPr lang="en-US" sz="1800" dirty="0">
                <a:solidFill>
                  <a:srgbClr val="FFFFFF"/>
                </a:solidFill>
              </a:rPr>
              <a:t>Change RQ1’s motivation: measure where 4-bit damage happens, since we did not see the published drop</a:t>
            </a:r>
            <a:endParaRPr lang="en-US" sz="1800" dirty="0"/>
          </a:p>
        </p:txBody>
      </p:sp>
      <p:sp>
        <p:nvSpPr>
          <p:cNvPr id="16" name="Shape 13"/>
          <p:cNvSpPr/>
          <p:nvPr/>
        </p:nvSpPr>
        <p:spPr>
          <a:xfrm>
            <a:off x="731520" y="5779008"/>
            <a:ext cx="411480" cy="411480"/>
          </a:xfrm>
          <a:prstGeom prst="ellipse">
            <a:avLst/>
          </a:prstGeom>
          <a:solidFill>
            <a:srgbClr val="9FC6E8"/>
          </a:solidFill>
          <a:ln w="12700">
            <a:solidFill>
              <a:srgbClr val="9FC6E8"/>
            </a:solidFill>
            <a:prstDash val="solid"/>
          </a:ln>
        </p:spPr>
      </p:sp>
      <p:sp>
        <p:nvSpPr>
          <p:cNvPr id="17" name="Text 14"/>
          <p:cNvSpPr txBox="1"/>
          <p:nvPr/>
        </p:nvSpPr>
        <p:spPr>
          <a:xfrm>
            <a:off x="731520" y="5779008"/>
            <a:ext cx="411480" cy="411480"/>
          </a:xfrm>
          <a:prstGeom prst="rect">
            <a:avLst/>
          </a:prstGeom>
          <a:noFill/>
          <a:ln/>
        </p:spPr>
        <p:txBody>
          <a:bodyPr wrap="square" lIns="0" tIns="0" rIns="0" bIns="0" rtlCol="0" anchor="ctr"/>
          <a:lstStyle/>
          <a:p>
            <a:pPr algn="ctr" indent="0" marL="0">
              <a:spcAft>
                <a:spcPts val="200"/>
              </a:spcAft>
              <a:buNone/>
            </a:pPr>
            <a:r>
              <a:rPr lang="en-US" sz="1600" b="1" dirty="0">
                <a:solidFill>
                  <a:srgbClr val="1B2A3A"/>
                </a:solidFill>
              </a:rPr>
              <a:t>5</a:t>
            </a:r>
            <a:endParaRPr lang="en-US" sz="1600" dirty="0"/>
          </a:p>
        </p:txBody>
      </p:sp>
      <p:sp>
        <p:nvSpPr>
          <p:cNvPr id="18" name="Text 15"/>
          <p:cNvSpPr txBox="1"/>
          <p:nvPr/>
        </p:nvSpPr>
        <p:spPr>
          <a:xfrm>
            <a:off x="1325880" y="5779008"/>
            <a:ext cx="10058400" cy="411480"/>
          </a:xfrm>
          <a:prstGeom prst="rect">
            <a:avLst/>
          </a:prstGeom>
          <a:noFill/>
          <a:ln/>
        </p:spPr>
        <p:txBody>
          <a:bodyPr wrap="square" lIns="0" tIns="0" rIns="0" bIns="0" rtlCol="0" anchor="ctr"/>
          <a:lstStyle/>
          <a:p>
            <a:pPr indent="0" marL="0">
              <a:spcAft>
                <a:spcPts val="200"/>
              </a:spcAft>
              <a:buNone/>
            </a:pPr>
            <a:r>
              <a:rPr lang="en-US" sz="1800" dirty="0">
                <a:solidFill>
                  <a:srgbClr val="FFFFFF"/>
                </a:solidFill>
              </a:rPr>
              <a:t>Help us follow up on HPC access if it is still not active on Oct 19</a:t>
            </a:r>
            <a:endParaRPr lang="en-US" sz="1800" dirty="0"/>
          </a:p>
        </p:txBody>
      </p:sp>
      <p:sp>
        <p:nvSpPr>
          <p:cNvPr id="19" name="Text 0"/>
          <p:cNvSpPr/>
          <p:nvPr>
            <p:ph idx="101" type="body" hasCustomPrompt="1"/>
          </p:nvPr>
        </p:nvSpPr>
        <p:spPr>
          <a:xfrm>
            <a:off x="731520" y="3246120"/>
            <a:ext cx="10698480" cy="45720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3"/>
          <p:cNvSpPr/>
          <p:nvPr>
            <p:ph idx="103"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Architecture as submitted in Workbook 1</a:t>
            </a:r>
            <a:endParaRPr lang="en-US" sz="3200" dirty="0"/>
          </a:p>
        </p:txBody>
      </p:sp>
      <p:pic>
        <p:nvPicPr>
          <p:cNvPr id="4" name="Image 0" descr="Workbook 1 Figure 1: testbed architecture">    </p:cNvPr>
          <p:cNvPicPr>
            <a:picLocks noChangeAspect="1"/>
          </p:cNvPicPr>
          <p:nvPr/>
        </p:nvPicPr>
        <p:blipFill>
          <a:blip r:embed="rId1"/>
          <a:srcRect l="0" r="0" t="0" b="0"/>
          <a:stretch/>
        </p:blipFill>
        <p:spPr>
          <a:xfrm>
            <a:off x="3566160" y="1188720"/>
            <a:ext cx="5074920" cy="4709160"/>
          </a:xfrm>
          <a:prstGeom prst="rect">
            <a:avLst/>
          </a:prstGeom>
        </p:spPr>
      </p:pic>
      <p:sp>
        <p:nvSpPr>
          <p:cNvPr id="5" name="Text 1"/>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Workbook 1, Figure 1 · the updated view is slide 3</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3"/>
          <p:cNvSpPr/>
          <p:nvPr>
            <p:ph idx="103"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Full schedule, Fall 2026 to Spring 2027</a:t>
            </a:r>
            <a:endParaRPr lang="en-US" sz="3200" dirty="0"/>
          </a:p>
        </p:txBody>
      </p:sp>
      <p:pic>
        <p:nvPicPr>
          <p:cNvPr id="4" name="Image 0" descr="Workbook 1 Gantt chart with milestones M1 to M8">    </p:cNvPr>
          <p:cNvPicPr>
            <a:picLocks noChangeAspect="1"/>
          </p:cNvPicPr>
          <p:nvPr/>
        </p:nvPicPr>
        <p:blipFill>
          <a:blip r:embed="rId1"/>
          <a:srcRect l="0" r="0" t="0" b="0"/>
          <a:stretch/>
        </p:blipFill>
        <p:spPr>
          <a:xfrm>
            <a:off x="1371600" y="1188720"/>
            <a:ext cx="9418320" cy="4709160"/>
          </a:xfrm>
          <a:prstGeom prst="rect">
            <a:avLst/>
          </a:prstGeom>
        </p:spPr>
      </p:pic>
      <p:sp>
        <p:nvSpPr>
          <p:cNvPr id="5" name="Text 1"/>
          <p:cNvSpPr txBox="1"/>
          <p:nvPr/>
        </p:nvSpPr>
        <p:spPr>
          <a:xfrm>
            <a:off x="548640" y="5989320"/>
            <a:ext cx="11064240" cy="320040"/>
          </a:xfrm>
          <a:prstGeom prst="rect">
            <a:avLst/>
          </a:prstGeom>
          <a:noFill/>
          <a:ln/>
        </p:spPr>
        <p:txBody>
          <a:bodyPr wrap="square" lIns="0" tIns="0" rIns="0" bIns="0" rtlCol="0" anchor="t"/>
          <a:lstStyle/>
          <a:p>
            <a:pPr indent="0" marL="0">
              <a:spcAft>
                <a:spcPts val="200"/>
              </a:spcAft>
              <a:buNone/>
            </a:pPr>
            <a:r>
              <a:rPr lang="en-US" sz="1100" dirty="0">
                <a:solidFill>
                  <a:srgbClr val="5B6B7B"/>
                </a:solidFill>
              </a:rPr>
              <a:t>Workbook 1, Figure 6 · milestone dates unchanged in Workbook v3</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WB1">
  <a:themeElements>
    <a:clrScheme name="WB1">
      <a:dk1>
        <a:srgbClr val="1B2A3A"/>
      </a:dk1>
      <a:lt1>
        <a:srgbClr val="FFFFFF"/>
      </a:lt1>
      <a:dk2>
        <a:srgbClr val="3A4A5C"/>
      </a:dk2>
      <a:lt2>
        <a:srgbClr val="F2F4F7"/>
      </a:lt2>
      <a:accent1>
        <a:srgbClr val="1F77B4"/>
      </a:accent1>
      <a:accent2>
        <a:srgbClr val="E8622C"/>
      </a:accent2>
      <a:accent3>
        <a:srgbClr val="1A9E6A"/>
      </a:accent3>
      <a:accent4>
        <a:srgbClr val="C8102E"/>
      </a:accent4>
      <a:accent5>
        <a:srgbClr val="8C8C8C"/>
      </a:accent5>
      <a:accent6>
        <a:srgbClr val="5B6B7B"/>
      </a:accent6>
      <a:hlink>
        <a:srgbClr val="1F77B4"/>
      </a:hlink>
      <a:folHlink>
        <a:srgbClr val="5B6B7B"/>
      </a:folHlink>
    </a:clrScheme>
    <a:fontScheme name="WB1">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CMPE 295A Advisor Review, Oct 16, 2026</dc:title>
  <dc:subject>PptxGenJS Presentation</dc:subject>
  <dc:creator>Ekant Kapgate, Vritika Malhotra, Yashashav Devalapalli Kamalraj</dc:creator>
  <cp:lastModifiedBy>Ekant Kapgate, Vritika Malhotra, Yashashav Devalapalli Kamalraj</cp:lastModifiedBy>
  <cp:revision>1</cp:revision>
  <dcterms:created xsi:type="dcterms:W3CDTF">2026-10-16T06:11:14Z</dcterms:created>
  <dcterms:modified xsi:type="dcterms:W3CDTF">2026-10-16T06:11:14Z</dcterms:modified>
</cp:coreProperties>
</file>